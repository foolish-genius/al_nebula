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This is AutoAnalog-RL: a reinforcement-learning agent that sizes a PCIe Gen 2 receiver equalizer by driving ngspice directly, with zero human intervention, on the IHP sg13g2 130 nm open PDK. In the next few minutes I will show the problem, the system, a live demo, the evidence, and what we found along the 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asks for a fully automated framework that sizes an equalizer for a PCIe PHY from target specifications, reaching near-optimal designs in far less time than sweeping every MOS, R, C and L value. The specs are coupled: the same transistor width sets gain, bandwidth, power, linearity and noise, and the one that matters most, the eye after the channel, only shows up in a transient simulation. Manual sweeps do not scale and generic optimisers burn their budget in infeasible regions.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loop. The SAC agent proposes a normalised design vector. The environment maps it to device values and the evaluator runs the ngspice gates in fail-fast order: DC operating point first, then AC for peaking and power, then a PRBS7 transient through a lossy channel for the eye, then HD3 once everything else passes. Anything that fails early costs nothing more. The reward is transparent, and an LLM frontend can re-weight it from plain-language feedback. Eight ngspice processes run in parallel on a laptop: about 0.6 seconds per RL step on the real PSP103 models.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CTLE is a differential NMOS pair with resistive loads and RC source degeneration. The agent sizes five values inside these bounds. The transient gate sends a PRBS7 at 5 gigabits through a two-section RC channel with about 10 dB of loss at Nyquist, and the eye is measured after it. We use tighter eye targets than the brief, 250 millivolts and 0.7 UI, so the policy delivers margin rather than a marginal 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rollout. The policy starts from a random design at a random PVT corner, here slow-slow silicon at 62 degrees. Each line is one ngspice evaluation. Watch the spec checklist: peaking and power pass immediately, the eye is closed, and within three simulations, seven seconds of wall time, every spec is green including HD3, and the sized netlist is written. I will run this live in the video with a fresh random start.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learning curves for all seven runs on the IHP models: three seeds, HD3 enforced, the PVT curriculum, the whole equalizer, and the 1.25 gigahertz retune. Reward per step, fraction of steps meeting every spec, and eye height against the 0.25 volt target. Every run reaches 92 to 97 percent feasible steps within about two thousand steps; the curriculum and retune stages start converged because they resume a trained policy. Each run is one to two hours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Deterministic rollouts from 20 random starting designs per run. Every run: all rollouts reach a fully feasible design, in a median of two to three simulations, worst case five. The best designs sit at 0.32 to 0.37 volts of eye after the channel, around one milliwatt, HD3 near minus 60 dB, and 45 out of 45 PVT corners. Three seeds agree to within a few percent: 2.53 plus or minus 0.06 steps to feasibility.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baselines on the same models and reward. Random search satisfies every spec 7.9 percent of the time, first hit at design 27. CMA-ES is a strong optimiser here: given 400 simulations per design it reaches the same quality the policy reaches in training, and from a random start it needs a median of nine evaluations to get feasible. The policy needs two to three. So the honest claim is amortisation: train once, then size any new instance, a new start, a new corner, a re-weighted reward, in a couple of simulations with no per-instance search.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design chosen by the pre-ML bounded search, which only looks at the AC response. Its eye after the channel is 160 millivolts and 0.58 UI, below our target. Right: the policy design, rewarded on the post-channel eye, 327 millivolts and 0.88 UI. Same circuit, same channel; the difference is that the agent sees the eye.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one trains at the nominal corner. Stage two resumes the same policy and simulates every episode at a random one of the 45 corners, five process, three supply, three temperature, without telling the policy which. It transfers immediately, 95 percent feasible from the first window, and in evaluation 24 out of 24 rollouts at random corners reach feasibility in a median of two steps. The best design passes all 45 corners with peaking well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asks for peaking tunable from 1.25 to 2.5 gigahertz. The Nyquist frequency is a specification input: it sets the measurement frequency, the data rate, and the channel pole. The 2.5 gigahertz design only peaks 2.87 dB at 1.25, so it fails there; resuming the policy with the spec set to 1.25 gigahertz gives 20 out of 20 rollouts and 5.23 dB, and the agent moves the degeneration zero down in frequency exactly as a designer would. Second, the whole equalizer: with the DFE tap in the action, the policy learns to spend the tap on margin, holding a half-volt post-DFE eye during training.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bonus item. An engineer types what they care about; the script turns it into the reward's per-spec weights, the power charge and the margin bonus. Claude produces them as structured JSON when credentials exist; a context-aware keyword parser is the offline fallback so the loop never blocks. The JSON is passed to training with --reward-settings and applies from the start of that run or resumed stage.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worth being candid about. First, HD3 had been reported as failing at minus 25 dB in every earlier version of this project. That was spectral leakage: the FFT analysed two and a half cycles with a rectangular window. With an integer-cycle Hann window the same designs measure minus 58 dB, 28 dB of margin. The agent exposed it by being unable to move the number. Second, the DFE eye was labelled by the DFE's own decisions, so a large tap could fake a wide eye; the equalizer agent found that in two thousand steps and pushed the tap to its bound while the receiver got 54 of 127 bits wrong. The eye is now measured against the transmitted bits. Reward hacking as a bug detector.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Mapping the brief line by line. Nyquist, peaking with tunability, the CTLE with variable degeneration, the one-tap DFE, HD3, noise, power, area, eye, PVT, zero human intervention and faster than sweeping, the Python framework with specs in and schematic out, and the LLM bonus: all delivered. The one change from our own synopsis is the PDK: IHP instead of sky130, which the brief allows; we switched because the sky130 flow was too slow for an RL loop.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deliverables: the repository with 59 tests, the 12-page report, every run's artifacts including the sized netlist, and the live demo. Limitations we state openly: the DFE in the loop is behavioural, area is a first-order estimate, and the curriculum policy is corner-blind. Next steps in order of value: the analog slicer inside the transient gate, corner-aware observations, a closed LLM loop, and a sky130 backend if a future round needs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737360"/>
            <a:ext cx="10515600" cy="1097280"/>
          </a:xfrm>
          <a:prstGeom prst="rect">
            <a:avLst/>
          </a:prstGeom>
          <a:noFill/>
        </p:spPr>
        <p:txBody>
          <a:bodyPr wrap="square">
            <a:spAutoFit/>
          </a:bodyPr>
          <a:lstStyle/>
          <a:p>
            <a:pPr>
              <a:defRPr sz="5400" b="1">
                <a:solidFill>
                  <a:srgbClr val="FFFFFF"/>
                </a:solidFill>
              </a:defRPr>
            </a:pPr>
            <a:r>
              <a:t>AutoAnalog-RL</a:t>
            </a:r>
          </a:p>
        </p:txBody>
      </p:sp>
      <p:sp>
        <p:nvSpPr>
          <p:cNvPr id="4" name="TextBox 3"/>
          <p:cNvSpPr txBox="1"/>
          <p:nvPr/>
        </p:nvSpPr>
        <p:spPr>
          <a:xfrm>
            <a:off x="731520" y="2743200"/>
            <a:ext cx="10515600" cy="731520"/>
          </a:xfrm>
          <a:prstGeom prst="rect">
            <a:avLst/>
          </a:prstGeom>
          <a:noFill/>
        </p:spPr>
        <p:txBody>
          <a:bodyPr wrap="square">
            <a:spAutoFit/>
          </a:bodyPr>
          <a:lstStyle/>
          <a:p>
            <a:pPr>
              <a:defRPr sz="2400" b="0">
                <a:solidFill>
                  <a:srgbClr val="FFFFFF"/>
                </a:solidFill>
              </a:defRPr>
            </a:pPr>
            <a:r>
              <a:t>Automated Sizing of High-Speed Interface Circuits via Reinforcement Learning</a:t>
            </a:r>
          </a:p>
        </p:txBody>
      </p:sp>
      <p:sp>
        <p:nvSpPr>
          <p:cNvPr id="5" name="TextBox 4"/>
          <p:cNvSpPr txBox="1"/>
          <p:nvPr/>
        </p:nvSpPr>
        <p:spPr>
          <a:xfrm>
            <a:off x="731520" y="3566160"/>
            <a:ext cx="10515600" cy="548640"/>
          </a:xfrm>
          <a:prstGeom prst="rect">
            <a:avLst/>
          </a:prstGeom>
          <a:noFill/>
        </p:spPr>
        <p:txBody>
          <a:bodyPr wrap="square">
            <a:spAutoFit/>
          </a:bodyPr>
          <a:lstStyle/>
          <a:p>
            <a:pPr>
              <a:defRPr sz="1600" b="0">
                <a:solidFill>
                  <a:srgbClr val="C8D4E8"/>
                </a:solidFill>
              </a:defRPr>
            </a:pPr>
            <a:r>
              <a:t>PCIe Gen 2 (5 Gbps) CTLE + one-tap DFE  ·  IHP sg13g2 130 nm open PDK  ·  ngspice in the loop</a:t>
            </a:r>
          </a:p>
        </p:txBody>
      </p:sp>
      <p:sp>
        <p:nvSpPr>
          <p:cNvPr id="6" name="TextBox 5"/>
          <p:cNvSpPr txBox="1"/>
          <p:nvPr/>
        </p:nvSpPr>
        <p:spPr>
          <a:xfrm>
            <a:off x="731520" y="5120640"/>
            <a:ext cx="10515600" cy="914400"/>
          </a:xfrm>
          <a:prstGeom prst="rect">
            <a:avLst/>
          </a:prstGeom>
          <a:noFill/>
        </p:spPr>
        <p:txBody>
          <a:bodyPr wrap="square">
            <a:spAutoFit/>
          </a:bodyPr>
          <a:lstStyle/>
          <a:p>
            <a:pPr>
              <a:defRPr sz="1600" b="0">
                <a:solidFill>
                  <a:srgbClr val="FFFFFF"/>
                </a:solidFill>
              </a:defRPr>
            </a:pPr>
            <a:r>
              <a:t>Team: TBD</a:t>
            </a:r>
          </a:p>
          <a:p>
            <a:pPr>
              <a:defRPr sz="1600" b="0">
                <a:solidFill>
                  <a:srgbClr val="FFFFFF"/>
                </a:solidFill>
              </a:defRPr>
            </a:pPr>
            <a:r>
              <a:t>Nebula — AI/ML for Analog Circuit Design  ·  Round 0  ·  15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The problem</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2</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sp>
        <p:nvSpPr>
          <p:cNvPr id="6" name="TextBox 5"/>
          <p:cNvSpPr txBox="1"/>
          <p:nvPr/>
        </p:nvSpPr>
        <p:spPr>
          <a:xfrm>
            <a:off x="548640" y="1280160"/>
            <a:ext cx="6583680" cy="4114800"/>
          </a:xfrm>
          <a:prstGeom prst="rect">
            <a:avLst/>
          </a:prstGeom>
          <a:noFill/>
        </p:spPr>
        <p:txBody>
          <a:bodyPr wrap="square">
            <a:spAutoFit/>
          </a:bodyPr>
          <a:lstStyle/>
          <a:p>
            <a:pPr>
              <a:spcAft>
                <a:spcPts val="600"/>
              </a:spcAft>
              <a:defRPr sz="1800">
                <a:solidFill>
                  <a:srgbClr val="1A1A1A"/>
                </a:solidFill>
              </a:defRPr>
            </a:pPr>
            <a:r>
              <a:t>•  Size an analog equalizer (CTLE + 1-tap DFE) for a PCIe Gen 2 PHY from target specs — zero human intervention</a:t>
            </a:r>
          </a:p>
          <a:p>
            <a:pPr>
              <a:spcAft>
                <a:spcPts val="600"/>
              </a:spcAft>
              <a:defRPr sz="1800">
                <a:solidFill>
                  <a:srgbClr val="1A1A1A"/>
                </a:solidFill>
              </a:defRPr>
            </a:pPr>
            <a:r>
              <a:t>•  Coupled specs: one width sets gain, bandwidth, power, linearity, noise; the eye is only visible in a transient</a:t>
            </a:r>
          </a:p>
          <a:p>
            <a:pPr>
              <a:spcAft>
                <a:spcPts val="600"/>
              </a:spcAft>
              <a:defRPr sz="1800">
                <a:solidFill>
                  <a:srgbClr val="1A1A1A"/>
                </a:solidFill>
              </a:defRPr>
            </a:pPr>
            <a:r>
              <a:t>•  Must beat sweeping the MOS / R / C / L space; must hold across 45 PVT corners</a:t>
            </a:r>
          </a:p>
          <a:p>
            <a:pPr>
              <a:spcAft>
                <a:spcPts val="600"/>
              </a:spcAft>
              <a:defRPr sz="1800">
                <a:solidFill>
                  <a:srgbClr val="1A1A1A"/>
                </a:solidFill>
              </a:defRPr>
            </a:pPr>
            <a:r>
              <a:t>•  Simulator-bound: every candidate costs several ngspice runs</a:t>
            </a:r>
          </a:p>
        </p:txBody>
      </p:sp>
      <p:graphicFrame>
        <p:nvGraphicFramePr>
          <p:cNvPr id="7" name="Table 6"/>
          <p:cNvGraphicFramePr>
            <a:graphicFrameLocks noGrp="1"/>
          </p:cNvGraphicFramePr>
          <p:nvPr/>
        </p:nvGraphicFramePr>
        <p:xfrm>
          <a:off x="7406640" y="1371600"/>
          <a:ext cx="4389120" cy="2926080"/>
        </p:xfrm>
        <a:graphic>
          <a:graphicData uri="http://schemas.openxmlformats.org/drawingml/2006/table">
            <a:tbl>
              <a:tblPr firstRow="1" bandRow="1">
                <a:tableStyleId>{5C22544A-7EE6-4342-B048-85BDC9FD1C3A}</a:tableStyleId>
              </a:tblPr>
              <a:tblGrid>
                <a:gridCol w="1737360"/>
                <a:gridCol w="2651760"/>
              </a:tblGrid>
              <a:tr h="365760">
                <a:tc>
                  <a:txBody>
                    <a:bodyPr/>
                    <a:lstStyle/>
                    <a:p>
                      <a:pPr>
                        <a:defRPr sz="1200" b="1">
                          <a:solidFill>
                            <a:srgbClr val="FFFFFF"/>
                          </a:solidFill>
                        </a:defRPr>
                      </a:pPr>
                      <a:r>
                        <a:t>Spec (brief)</a:t>
                      </a:r>
                    </a:p>
                  </a:txBody>
                  <a:tcPr marL="54864" marR="54864" marT="27432" marB="27432">
                    <a:solidFill>
                      <a:srgbClr val="2B5797"/>
                    </a:solidFill>
                  </a:tcPr>
                </a:tc>
                <a:tc>
                  <a:txBody>
                    <a:bodyPr/>
                    <a:lstStyle/>
                    <a:p>
                      <a:pPr>
                        <a:defRPr sz="1200" b="1">
                          <a:solidFill>
                            <a:srgbClr val="FFFFFF"/>
                          </a:solidFill>
                        </a:defRPr>
                      </a:pPr>
                      <a:r>
                        <a:t>Target</a:t>
                      </a:r>
                    </a:p>
                  </a:txBody>
                  <a:tcPr marL="54864" marR="54864" marT="27432" marB="27432">
                    <a:solidFill>
                      <a:srgbClr val="2B5797"/>
                    </a:solidFill>
                  </a:tcPr>
                </a:tc>
              </a:tr>
              <a:tr h="365760">
                <a:tc>
                  <a:txBody>
                    <a:bodyPr/>
                    <a:lstStyle/>
                    <a:p>
                      <a:pPr>
                        <a:defRPr sz="1200" b="0">
                          <a:solidFill>
                            <a:srgbClr val="1A1A1A"/>
                          </a:solidFill>
                        </a:defRPr>
                      </a:pPr>
                      <a:r>
                        <a:t>Nyquist</a:t>
                      </a:r>
                    </a:p>
                  </a:txBody>
                  <a:tcPr marL="54864" marR="54864" marT="27432" marB="27432">
                    <a:solidFill>
                      <a:srgbClr val="FFFFFF"/>
                    </a:solidFill>
                  </a:tcPr>
                </a:tc>
                <a:tc>
                  <a:txBody>
                    <a:bodyPr/>
                    <a:lstStyle/>
                    <a:p>
                      <a:pPr>
                        <a:defRPr sz="1200" b="0">
                          <a:solidFill>
                            <a:srgbClr val="1A1A1A"/>
                          </a:solidFill>
                        </a:defRPr>
                      </a:pPr>
                      <a:r>
                        <a:t>2.5 GHz (5 Gbps), peaking tunable 1.25–2.5 GHz</a:t>
                      </a:r>
                    </a:p>
                  </a:txBody>
                  <a:tcPr marL="54864" marR="54864" marT="27432" marB="27432">
                    <a:solidFill>
                      <a:srgbClr val="FFFFFF"/>
                    </a:solidFill>
                  </a:tcPr>
                </a:tc>
              </a:tr>
              <a:tr h="365760">
                <a:tc>
                  <a:txBody>
                    <a:bodyPr/>
                    <a:lstStyle/>
                    <a:p>
                      <a:pPr>
                        <a:defRPr sz="1200" b="0">
                          <a:solidFill>
                            <a:srgbClr val="1A1A1A"/>
                          </a:solidFill>
                        </a:defRPr>
                      </a:pPr>
                      <a:r>
                        <a:t>HF peaking</a:t>
                      </a:r>
                    </a:p>
                  </a:txBody>
                  <a:tcPr marL="54864" marR="54864" marT="27432" marB="27432">
                    <a:solidFill>
                      <a:srgbClr val="F2F4F7"/>
                    </a:solidFill>
                  </a:tcPr>
                </a:tc>
                <a:tc>
                  <a:txBody>
                    <a:bodyPr/>
                    <a:lstStyle/>
                    <a:p>
                      <a:pPr>
                        <a:defRPr sz="1200" b="0">
                          <a:solidFill>
                            <a:srgbClr val="1A1A1A"/>
                          </a:solidFill>
                        </a:defRPr>
                      </a:pPr>
                      <a:r>
                        <a:t>3–12 dB</a:t>
                      </a:r>
                    </a:p>
                  </a:txBody>
                  <a:tcPr marL="54864" marR="54864" marT="27432" marB="27432">
                    <a:solidFill>
                      <a:srgbClr val="F2F4F7"/>
                    </a:solidFill>
                  </a:tcPr>
                </a:tc>
              </a:tr>
              <a:tr h="365760">
                <a:tc>
                  <a:txBody>
                    <a:bodyPr/>
                    <a:lstStyle/>
                    <a:p>
                      <a:pPr>
                        <a:defRPr sz="1200" b="0">
                          <a:solidFill>
                            <a:srgbClr val="1A1A1A"/>
                          </a:solidFill>
                        </a:defRPr>
                      </a:pPr>
                      <a:r>
                        <a:t>Eye after channel</a:t>
                      </a:r>
                    </a:p>
                  </a:txBody>
                  <a:tcPr marL="54864" marR="54864" marT="27432" marB="27432">
                    <a:solidFill>
                      <a:srgbClr val="FFFFFF"/>
                    </a:solidFill>
                  </a:tcPr>
                </a:tc>
                <a:tc>
                  <a:txBody>
                    <a:bodyPr/>
                    <a:lstStyle/>
                    <a:p>
                      <a:pPr>
                        <a:defRPr sz="1200" b="0">
                          <a:solidFill>
                            <a:srgbClr val="1A1A1A"/>
                          </a:solidFill>
                        </a:defRPr>
                      </a:pPr>
                      <a:r>
                        <a:t>&gt; 100 mV, &gt; 0.4 UI</a:t>
                      </a:r>
                    </a:p>
                  </a:txBody>
                  <a:tcPr marL="54864" marR="54864" marT="27432" marB="27432">
                    <a:solidFill>
                      <a:srgbClr val="FFFFFF"/>
                    </a:solidFill>
                  </a:tcPr>
                </a:tc>
              </a:tr>
              <a:tr h="365760">
                <a:tc>
                  <a:txBody>
                    <a:bodyPr/>
                    <a:lstStyle/>
                    <a:p>
                      <a:pPr>
                        <a:defRPr sz="1200" b="0">
                          <a:solidFill>
                            <a:srgbClr val="1A1A1A"/>
                          </a:solidFill>
                        </a:defRPr>
                      </a:pPr>
                      <a:r>
                        <a:t>HD3 (100 MHz)</a:t>
                      </a:r>
                    </a:p>
                  </a:txBody>
                  <a:tcPr marL="54864" marR="54864" marT="27432" marB="27432">
                    <a:solidFill>
                      <a:srgbClr val="F2F4F7"/>
                    </a:solidFill>
                  </a:tcPr>
                </a:tc>
                <a:tc>
                  <a:txBody>
                    <a:bodyPr/>
                    <a:lstStyle/>
                    <a:p>
                      <a:pPr>
                        <a:defRPr sz="1200" b="0">
                          <a:solidFill>
                            <a:srgbClr val="1A1A1A"/>
                          </a:solidFill>
                        </a:defRPr>
                      </a:pPr>
                      <a:r>
                        <a:t>&lt; −30 dB</a:t>
                      </a:r>
                    </a:p>
                  </a:txBody>
                  <a:tcPr marL="54864" marR="54864" marT="27432" marB="27432">
                    <a:solidFill>
                      <a:srgbClr val="F2F4F7"/>
                    </a:solidFill>
                  </a:tcPr>
                </a:tc>
              </a:tr>
              <a:tr h="365760">
                <a:tc>
                  <a:txBody>
                    <a:bodyPr/>
                    <a:lstStyle/>
                    <a:p>
                      <a:pPr>
                        <a:defRPr sz="1200" b="0">
                          <a:solidFill>
                            <a:srgbClr val="1A1A1A"/>
                          </a:solidFill>
                        </a:defRPr>
                      </a:pPr>
                      <a:r>
                        <a:t>Noise 10 MHz–5 GHz</a:t>
                      </a:r>
                    </a:p>
                  </a:txBody>
                  <a:tcPr marL="54864" marR="54864" marT="27432" marB="27432">
                    <a:solidFill>
                      <a:srgbClr val="FFFFFF"/>
                    </a:solidFill>
                  </a:tcPr>
                </a:tc>
                <a:tc>
                  <a:txBody>
                    <a:bodyPr/>
                    <a:lstStyle/>
                    <a:p>
                      <a:pPr>
                        <a:defRPr sz="1200" b="0">
                          <a:solidFill>
                            <a:srgbClr val="1A1A1A"/>
                          </a:solidFill>
                        </a:defRPr>
                      </a:pPr>
                      <a:r>
                        <a:t>&lt; 1.5 mV rms</a:t>
                      </a:r>
                    </a:p>
                  </a:txBody>
                  <a:tcPr marL="54864" marR="54864" marT="27432" marB="27432">
                    <a:solidFill>
                      <a:srgbClr val="FFFFFF"/>
                    </a:solidFill>
                  </a:tcPr>
                </a:tc>
              </a:tr>
              <a:tr h="365760">
                <a:tc>
                  <a:txBody>
                    <a:bodyPr/>
                    <a:lstStyle/>
                    <a:p>
                      <a:pPr>
                        <a:defRPr sz="1200" b="0">
                          <a:solidFill>
                            <a:srgbClr val="1A1A1A"/>
                          </a:solidFill>
                        </a:defRPr>
                      </a:pPr>
                      <a:r>
                        <a:t>Power / Area</a:t>
                      </a:r>
                    </a:p>
                  </a:txBody>
                  <a:tcPr marL="54864" marR="54864" marT="27432" marB="27432">
                    <a:solidFill>
                      <a:srgbClr val="F2F4F7"/>
                    </a:solidFill>
                  </a:tcPr>
                </a:tc>
                <a:tc>
                  <a:txBody>
                    <a:bodyPr/>
                    <a:lstStyle/>
                    <a:p>
                      <a:pPr>
                        <a:defRPr sz="1200" b="0">
                          <a:solidFill>
                            <a:srgbClr val="1A1A1A"/>
                          </a:solidFill>
                        </a:defRPr>
                      </a:pPr>
                      <a:r>
                        <a:t>&lt; 15 mW / &lt; 0.05 mm²</a:t>
                      </a:r>
                    </a:p>
                  </a:txBody>
                  <a:tcPr marL="54864" marR="54864" marT="27432" marB="27432">
                    <a:solidFill>
                      <a:srgbClr val="F2F4F7"/>
                    </a:solidFill>
                  </a:tcPr>
                </a:tc>
              </a:tr>
              <a:tr h="365760">
                <a:tc>
                  <a:txBody>
                    <a:bodyPr/>
                    <a:lstStyle/>
                    <a:p>
                      <a:pPr>
                        <a:defRPr sz="1200" b="0">
                          <a:solidFill>
                            <a:srgbClr val="1A1A1A"/>
                          </a:solidFill>
                        </a:defRPr>
                      </a:pPr>
                      <a:r>
                        <a:t>PVT</a:t>
                      </a:r>
                    </a:p>
                  </a:txBody>
                  <a:tcPr marL="54864" marR="54864" marT="27432" marB="27432">
                    <a:solidFill>
                      <a:srgbClr val="FFFFFF"/>
                    </a:solidFill>
                  </a:tcPr>
                </a:tc>
                <a:tc>
                  <a:txBody>
                    <a:bodyPr/>
                    <a:lstStyle/>
                    <a:p>
                      <a:pPr>
                        <a:defRPr sz="1200" b="0">
                          <a:solidFill>
                            <a:srgbClr val="1A1A1A"/>
                          </a:solidFill>
                        </a:defRPr>
                      </a:pPr>
                      <a:r>
                        <a:t>TT SS FF SF FS · VDD ±5% · 0–125 °C</a:t>
                      </a:r>
                    </a:p>
                  </a:txBody>
                  <a:tcPr marL="54864" marR="54864" marT="27432" marB="27432">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The system: RL agent → fail-fast SPICE gates → sized netlist</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3</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sp>
        <p:nvSpPr>
          <p:cNvPr id="6" name="Rounded Rectangle 5"/>
          <p:cNvSpPr/>
          <p:nvPr/>
        </p:nvSpPr>
        <p:spPr>
          <a:xfrm>
            <a:off x="365760" y="1371600"/>
            <a:ext cx="1737360" cy="2011680"/>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SAC agent</a:t>
            </a:r>
          </a:p>
          <a:p>
            <a:pPr algn="ctr">
              <a:defRPr sz="1200" b="0">
                <a:solidFill>
                  <a:srgbClr val="FFFFFF"/>
                </a:solidFill>
              </a:defRPr>
            </a:pPr>
            <a:r>
              <a:t>stable-baselines3</a:t>
            </a:r>
          </a:p>
        </p:txBody>
      </p:sp>
      <p:sp>
        <p:nvSpPr>
          <p:cNvPr id="7" name="Right Arrow 6"/>
          <p:cNvSpPr/>
          <p:nvPr/>
        </p:nvSpPr>
        <p:spPr>
          <a:xfrm>
            <a:off x="2130552" y="2240280"/>
            <a:ext cx="219456" cy="274320"/>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377440" y="1371600"/>
            <a:ext cx="2011680" cy="2011680"/>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Environment</a:t>
            </a:r>
          </a:p>
          <a:p>
            <a:pPr algn="ctr">
              <a:defRPr sz="1200" b="0">
                <a:solidFill>
                  <a:srgbClr val="FFFFFF"/>
                </a:solidFill>
              </a:defRPr>
            </a:pPr>
            <a:r>
              <a:t>Δ actions, reward,</a:t>
            </a:r>
          </a:p>
          <a:p>
            <a:pPr algn="ctr">
              <a:defRPr sz="1200" b="0">
                <a:solidFill>
                  <a:srgbClr val="FFFFFF"/>
                </a:solidFill>
              </a:defRPr>
            </a:pPr>
            <a:r>
              <a:t>corner curriculum</a:t>
            </a:r>
          </a:p>
        </p:txBody>
      </p:sp>
      <p:sp>
        <p:nvSpPr>
          <p:cNvPr id="9" name="Right Arrow 8"/>
          <p:cNvSpPr/>
          <p:nvPr/>
        </p:nvSpPr>
        <p:spPr>
          <a:xfrm>
            <a:off x="4416552" y="2240280"/>
            <a:ext cx="219456" cy="274320"/>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371600"/>
            <a:ext cx="3108960" cy="2011680"/>
          </a:xfrm>
          <a:prstGeom prst="roundRect">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SpiceEvaluator</a:t>
            </a:r>
          </a:p>
          <a:p>
            <a:pPr algn="ctr">
              <a:defRPr sz="1200" b="0">
                <a:solidFill>
                  <a:srgbClr val="FFFFFF"/>
                </a:solidFill>
              </a:defRPr>
            </a:pPr>
            <a:r>
              <a:t>1 .op (fail fast)</a:t>
            </a:r>
          </a:p>
          <a:p>
            <a:pPr algn="ctr">
              <a:defRPr sz="1200" b="0">
                <a:solidFill>
                  <a:srgbClr val="FFFFFF"/>
                </a:solidFill>
              </a:defRPr>
            </a:pPr>
            <a:r>
              <a:t>2 .ac peaking, power</a:t>
            </a:r>
          </a:p>
          <a:p>
            <a:pPr algn="ctr">
              <a:defRPr sz="1200" b="0">
                <a:solidFill>
                  <a:srgbClr val="FFFFFF"/>
                </a:solidFill>
              </a:defRPr>
            </a:pPr>
            <a:r>
              <a:t>3 PRBS7 .tran + channel → eye, DFE</a:t>
            </a:r>
          </a:p>
          <a:p>
            <a:pPr algn="ctr">
              <a:defRPr sz="1200" b="0">
                <a:solidFill>
                  <a:srgbClr val="FFFFFF"/>
                </a:solidFill>
              </a:defRPr>
            </a:pPr>
            <a:r>
              <a:t>4 HD3 once others pass</a:t>
            </a:r>
          </a:p>
        </p:txBody>
      </p:sp>
      <p:sp>
        <p:nvSpPr>
          <p:cNvPr id="11" name="Right Arrow 10"/>
          <p:cNvSpPr/>
          <p:nvPr/>
        </p:nvSpPr>
        <p:spPr>
          <a:xfrm>
            <a:off x="7799832" y="2240280"/>
            <a:ext cx="219456" cy="274320"/>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0" y="1371600"/>
            <a:ext cx="2011680" cy="2011680"/>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ngspice 47 ×8</a:t>
            </a:r>
          </a:p>
          <a:p>
            <a:pPr algn="ctr">
              <a:defRPr sz="1200" b="0">
                <a:solidFill>
                  <a:srgbClr val="FFFFFF"/>
                </a:solidFill>
              </a:defRPr>
            </a:pPr>
            <a:r>
              <a:t>IHP sg13g2 PSP103</a:t>
            </a:r>
          </a:p>
          <a:p>
            <a:pPr algn="ctr">
              <a:defRPr sz="1200" b="0">
                <a:solidFill>
                  <a:srgbClr val="FFFFFF"/>
                </a:solidFill>
              </a:defRPr>
            </a:pPr>
            <a:r>
              <a:t>via OpenVAF / OSDI</a:t>
            </a:r>
          </a:p>
        </p:txBody>
      </p:sp>
      <p:sp>
        <p:nvSpPr>
          <p:cNvPr id="13" name="Right Arrow 12"/>
          <p:cNvSpPr/>
          <p:nvPr/>
        </p:nvSpPr>
        <p:spPr>
          <a:xfrm>
            <a:off x="10085832" y="2240280"/>
            <a:ext cx="219456" cy="274320"/>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32720" y="1371600"/>
            <a:ext cx="1737360" cy="201168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Outputs</a:t>
            </a:r>
          </a:p>
          <a:p>
            <a:pPr algn="ctr">
              <a:defRPr sz="1200" b="0">
                <a:solidFill>
                  <a:srgbClr val="FFFFFF"/>
                </a:solidFill>
              </a:defRPr>
            </a:pPr>
            <a:r>
              <a:t>sized netlist</a:t>
            </a:r>
          </a:p>
          <a:p>
            <a:pPr algn="ctr">
              <a:defRPr sz="1200" b="0">
                <a:solidFill>
                  <a:srgbClr val="FFFFFF"/>
                </a:solidFill>
              </a:defRPr>
            </a:pPr>
            <a:r>
              <a:t>JSON / CSV / PNG</a:t>
            </a:r>
          </a:p>
        </p:txBody>
      </p:sp>
      <p:sp>
        <p:nvSpPr>
          <p:cNvPr id="15" name="Rounded Rectangle 14"/>
          <p:cNvSpPr/>
          <p:nvPr/>
        </p:nvSpPr>
        <p:spPr>
          <a:xfrm>
            <a:off x="2468880" y="3886200"/>
            <a:ext cx="2103120" cy="731520"/>
          </a:xfrm>
          <a:prstGeom prst="round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a:solidFill>
                  <a:srgbClr val="FFFFFF"/>
                </a:solidFill>
              </a:defRPr>
            </a:pPr>
            <a:r>
              <a:t>LLM frontend</a:t>
            </a:r>
            <a:br/>
            <a:r>
              <a:t>feedback → reward weights</a:t>
            </a:r>
          </a:p>
        </p:txBody>
      </p:sp>
      <p:sp>
        <p:nvSpPr>
          <p:cNvPr id="16" name="Up Arrow 15"/>
          <p:cNvSpPr/>
          <p:nvPr/>
        </p:nvSpPr>
        <p:spPr>
          <a:xfrm>
            <a:off x="3383280" y="3456432"/>
            <a:ext cx="274320" cy="384048"/>
          </a:xfrm>
          <a:prstGeom prst="upArrow">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46320"/>
            <a:ext cx="11155680" cy="1554480"/>
          </a:xfrm>
          <a:prstGeom prst="rect">
            <a:avLst/>
          </a:prstGeom>
          <a:noFill/>
        </p:spPr>
        <p:txBody>
          <a:bodyPr wrap="square">
            <a:spAutoFit/>
          </a:bodyPr>
          <a:lstStyle/>
          <a:p>
            <a:pPr>
              <a:spcAft>
                <a:spcPts val="600"/>
              </a:spcAft>
              <a:defRPr sz="1400">
                <a:solidFill>
                  <a:srgbClr val="1A1A1A"/>
                </a:solidFill>
              </a:defRPr>
            </a:pPr>
            <a:r>
              <a:t>•  Bounded 5-parameter action: W_in, R_load, I_bias, R_s, C_s (6 with the DFE tap)</a:t>
            </a:r>
          </a:p>
          <a:p>
            <a:pPr>
              <a:spcAft>
                <a:spcPts val="600"/>
              </a:spcAft>
              <a:defRPr sz="1400">
                <a:solidFill>
                  <a:srgbClr val="1A1A1A"/>
                </a:solidFill>
              </a:defRPr>
            </a:pPr>
            <a:r>
              <a:t>•  Reward = −Σ wᵢ·violationᵢ − power charge + success bonus + margin bonus; DC failure −10</a:t>
            </a:r>
          </a:p>
          <a:p>
            <a:pPr>
              <a:spcAft>
                <a:spcPts val="600"/>
              </a:spcAft>
              <a:defRPr sz="1400">
                <a:solidFill>
                  <a:srgbClr val="1A1A1A"/>
                </a:solidFill>
              </a:defRPr>
            </a:pPr>
            <a:r>
              <a:t>•  Real IHP PSP103 models (OpenVAF → OSDI), 8 simulators wide, 0.6 s per environment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The circuit and the specs the reward sees</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4</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pic>
        <p:nvPicPr>
          <p:cNvPr id="6" name="Picture 5" descr="ac_response.png"/>
          <p:cNvPicPr>
            <a:picLocks noChangeAspect="1"/>
          </p:cNvPicPr>
          <p:nvPr/>
        </p:nvPicPr>
        <p:blipFill>
          <a:blip r:embed="rId3"/>
          <a:stretch>
            <a:fillRect/>
          </a:stretch>
        </p:blipFill>
        <p:spPr>
          <a:xfrm>
            <a:off x="457200" y="1280160"/>
            <a:ext cx="5486400" cy="3086100"/>
          </a:xfrm>
          <a:prstGeom prst="rect">
            <a:avLst/>
          </a:prstGeom>
        </p:spPr>
      </p:pic>
      <p:graphicFrame>
        <p:nvGraphicFramePr>
          <p:cNvPr id="7" name="Table 6"/>
          <p:cNvGraphicFramePr>
            <a:graphicFrameLocks noGrp="1"/>
          </p:cNvGraphicFramePr>
          <p:nvPr/>
        </p:nvGraphicFramePr>
        <p:xfrm>
          <a:off x="6309360" y="1280160"/>
          <a:ext cx="2560320" cy="2560320"/>
        </p:xfrm>
        <a:graphic>
          <a:graphicData uri="http://schemas.openxmlformats.org/drawingml/2006/table">
            <a:tbl>
              <a:tblPr firstRow="1" bandRow="1">
                <a:tableStyleId>{5C22544A-7EE6-4342-B048-85BDC9FD1C3A}</a:tableStyleId>
              </a:tblPr>
              <a:tblGrid>
                <a:gridCol w="1005840"/>
                <a:gridCol w="1554480"/>
              </a:tblGrid>
              <a:tr h="365760">
                <a:tc>
                  <a:txBody>
                    <a:bodyPr/>
                    <a:lstStyle/>
                    <a:p>
                      <a:pPr>
                        <a:defRPr sz="1200" b="1">
                          <a:solidFill>
                            <a:srgbClr val="FFFFFF"/>
                          </a:solidFill>
                        </a:defRPr>
                      </a:pPr>
                      <a:r>
                        <a:t>Knob</a:t>
                      </a:r>
                    </a:p>
                  </a:txBody>
                  <a:tcPr marL="54864" marR="54864" marT="27432" marB="27432">
                    <a:solidFill>
                      <a:srgbClr val="2B5797"/>
                    </a:solidFill>
                  </a:tcPr>
                </a:tc>
                <a:tc>
                  <a:txBody>
                    <a:bodyPr/>
                    <a:lstStyle/>
                    <a:p>
                      <a:pPr>
                        <a:defRPr sz="1200" b="1">
                          <a:solidFill>
                            <a:srgbClr val="FFFFFF"/>
                          </a:solidFill>
                        </a:defRPr>
                      </a:pPr>
                      <a:r>
                        <a:t>Range</a:t>
                      </a:r>
                    </a:p>
                  </a:txBody>
                  <a:tcPr marL="54864" marR="54864" marT="27432" marB="27432">
                    <a:solidFill>
                      <a:srgbClr val="2B5797"/>
                    </a:solidFill>
                  </a:tcPr>
                </a:tc>
              </a:tr>
              <a:tr h="365760">
                <a:tc>
                  <a:txBody>
                    <a:bodyPr/>
                    <a:lstStyle/>
                    <a:p>
                      <a:pPr>
                        <a:defRPr sz="1200" b="0">
                          <a:solidFill>
                            <a:srgbClr val="1A1A1A"/>
                          </a:solidFill>
                        </a:defRPr>
                      </a:pPr>
                      <a:r>
                        <a:t>W_in</a:t>
                      </a:r>
                    </a:p>
                  </a:txBody>
                  <a:tcPr marL="54864" marR="54864" marT="27432" marB="27432">
                    <a:solidFill>
                      <a:srgbClr val="FFFFFF"/>
                    </a:solidFill>
                  </a:tcPr>
                </a:tc>
                <a:tc>
                  <a:txBody>
                    <a:bodyPr/>
                    <a:lstStyle/>
                    <a:p>
                      <a:pPr>
                        <a:defRPr sz="1200" b="0">
                          <a:solidFill>
                            <a:srgbClr val="1A1A1A"/>
                          </a:solidFill>
                        </a:defRPr>
                      </a:pPr>
                      <a:r>
                        <a:t>0.5–50 µm</a:t>
                      </a:r>
                    </a:p>
                  </a:txBody>
                  <a:tcPr marL="54864" marR="54864" marT="27432" marB="27432">
                    <a:solidFill>
                      <a:srgbClr val="FFFFFF"/>
                    </a:solidFill>
                  </a:tcPr>
                </a:tc>
              </a:tr>
              <a:tr h="365760">
                <a:tc>
                  <a:txBody>
                    <a:bodyPr/>
                    <a:lstStyle/>
                    <a:p>
                      <a:pPr>
                        <a:defRPr sz="1200" b="0">
                          <a:solidFill>
                            <a:srgbClr val="1A1A1A"/>
                          </a:solidFill>
                        </a:defRPr>
                      </a:pPr>
                      <a:r>
                        <a:t>R_load</a:t>
                      </a:r>
                    </a:p>
                  </a:txBody>
                  <a:tcPr marL="54864" marR="54864" marT="27432" marB="27432">
                    <a:solidFill>
                      <a:srgbClr val="F2F4F7"/>
                    </a:solidFill>
                  </a:tcPr>
                </a:tc>
                <a:tc>
                  <a:txBody>
                    <a:bodyPr/>
                    <a:lstStyle/>
                    <a:p>
                      <a:pPr>
                        <a:defRPr sz="1200" b="0">
                          <a:solidFill>
                            <a:srgbClr val="1A1A1A"/>
                          </a:solidFill>
                        </a:defRPr>
                      </a:pPr>
                      <a:r>
                        <a:t>100–1000 Ω</a:t>
                      </a:r>
                    </a:p>
                  </a:txBody>
                  <a:tcPr marL="54864" marR="54864" marT="27432" marB="27432">
                    <a:solidFill>
                      <a:srgbClr val="F2F4F7"/>
                    </a:solidFill>
                  </a:tcPr>
                </a:tc>
              </a:tr>
              <a:tr h="365760">
                <a:tc>
                  <a:txBody>
                    <a:bodyPr/>
                    <a:lstStyle/>
                    <a:p>
                      <a:pPr>
                        <a:defRPr sz="1200" b="0">
                          <a:solidFill>
                            <a:srgbClr val="1A1A1A"/>
                          </a:solidFill>
                        </a:defRPr>
                      </a:pPr>
                      <a:r>
                        <a:t>I_bias</a:t>
                      </a:r>
                    </a:p>
                  </a:txBody>
                  <a:tcPr marL="54864" marR="54864" marT="27432" marB="27432">
                    <a:solidFill>
                      <a:srgbClr val="FFFFFF"/>
                    </a:solidFill>
                  </a:tcPr>
                </a:tc>
                <a:tc>
                  <a:txBody>
                    <a:bodyPr/>
                    <a:lstStyle/>
                    <a:p>
                      <a:pPr>
                        <a:defRPr sz="1200" b="0">
                          <a:solidFill>
                            <a:srgbClr val="1A1A1A"/>
                          </a:solidFill>
                        </a:defRPr>
                      </a:pPr>
                      <a:r>
                        <a:t>0.1–2 mA</a:t>
                      </a:r>
                    </a:p>
                  </a:txBody>
                  <a:tcPr marL="54864" marR="54864" marT="27432" marB="27432">
                    <a:solidFill>
                      <a:srgbClr val="FFFFFF"/>
                    </a:solidFill>
                  </a:tcPr>
                </a:tc>
              </a:tr>
              <a:tr h="365760">
                <a:tc>
                  <a:txBody>
                    <a:bodyPr/>
                    <a:lstStyle/>
                    <a:p>
                      <a:pPr>
                        <a:defRPr sz="1200" b="0">
                          <a:solidFill>
                            <a:srgbClr val="1A1A1A"/>
                          </a:solidFill>
                        </a:defRPr>
                      </a:pPr>
                      <a:r>
                        <a:t>R_s</a:t>
                      </a:r>
                    </a:p>
                  </a:txBody>
                  <a:tcPr marL="54864" marR="54864" marT="27432" marB="27432">
                    <a:solidFill>
                      <a:srgbClr val="F2F4F7"/>
                    </a:solidFill>
                  </a:tcPr>
                </a:tc>
                <a:tc>
                  <a:txBody>
                    <a:bodyPr/>
                    <a:lstStyle/>
                    <a:p>
                      <a:pPr>
                        <a:defRPr sz="1200" b="0">
                          <a:solidFill>
                            <a:srgbClr val="1A1A1A"/>
                          </a:solidFill>
                        </a:defRPr>
                      </a:pPr>
                      <a:r>
                        <a:t>10–500 Ω</a:t>
                      </a:r>
                    </a:p>
                  </a:txBody>
                  <a:tcPr marL="54864" marR="54864" marT="27432" marB="27432">
                    <a:solidFill>
                      <a:srgbClr val="F2F4F7"/>
                    </a:solidFill>
                  </a:tcPr>
                </a:tc>
              </a:tr>
              <a:tr h="365760">
                <a:tc>
                  <a:txBody>
                    <a:bodyPr/>
                    <a:lstStyle/>
                    <a:p>
                      <a:pPr>
                        <a:defRPr sz="1200" b="0">
                          <a:solidFill>
                            <a:srgbClr val="1A1A1A"/>
                          </a:solidFill>
                        </a:defRPr>
                      </a:pPr>
                      <a:r>
                        <a:t>C_s</a:t>
                      </a:r>
                    </a:p>
                  </a:txBody>
                  <a:tcPr marL="54864" marR="54864" marT="27432" marB="27432">
                    <a:solidFill>
                      <a:srgbClr val="FFFFFF"/>
                    </a:solidFill>
                  </a:tcPr>
                </a:tc>
                <a:tc>
                  <a:txBody>
                    <a:bodyPr/>
                    <a:lstStyle/>
                    <a:p>
                      <a:pPr>
                        <a:defRPr sz="1200" b="0">
                          <a:solidFill>
                            <a:srgbClr val="1A1A1A"/>
                          </a:solidFill>
                        </a:defRPr>
                      </a:pPr>
                      <a:r>
                        <a:t>1 fF–1 pF</a:t>
                      </a:r>
                    </a:p>
                  </a:txBody>
                  <a:tcPr marL="54864" marR="54864" marT="27432" marB="27432">
                    <a:solidFill>
                      <a:srgbClr val="FFFFFF"/>
                    </a:solidFill>
                  </a:tcPr>
                </a:tc>
              </a:tr>
              <a:tr h="365760">
                <a:tc>
                  <a:txBody>
                    <a:bodyPr/>
                    <a:lstStyle/>
                    <a:p>
                      <a:pPr>
                        <a:defRPr sz="1200" b="0">
                          <a:solidFill>
                            <a:srgbClr val="1A1A1A"/>
                          </a:solidFill>
                        </a:defRPr>
                      </a:pPr>
                      <a:r>
                        <a:t>DFE tap</a:t>
                      </a:r>
                    </a:p>
                  </a:txBody>
                  <a:tcPr marL="54864" marR="54864" marT="27432" marB="27432">
                    <a:solidFill>
                      <a:srgbClr val="F2F4F7"/>
                    </a:solidFill>
                  </a:tcPr>
                </a:tc>
                <a:tc>
                  <a:txBody>
                    <a:bodyPr/>
                    <a:lstStyle/>
                    <a:p>
                      <a:pPr>
                        <a:defRPr sz="1200" b="0">
                          <a:solidFill>
                            <a:srgbClr val="1A1A1A"/>
                          </a:solidFill>
                        </a:defRPr>
                      </a:pPr>
                      <a:r>
                        <a:t>−0.5…+0.5 (optional)</a:t>
                      </a:r>
                    </a:p>
                  </a:txBody>
                  <a:tcPr marL="54864" marR="54864" marT="27432" marB="27432">
                    <a:solidFill>
                      <a:srgbClr val="F2F4F7"/>
                    </a:solidFill>
                  </a:tcPr>
                </a:tc>
              </a:tr>
            </a:tbl>
          </a:graphicData>
        </a:graphic>
      </p:graphicFrame>
      <p:graphicFrame>
        <p:nvGraphicFramePr>
          <p:cNvPr id="8" name="Table 7"/>
          <p:cNvGraphicFramePr>
            <a:graphicFrameLocks noGrp="1"/>
          </p:cNvGraphicFramePr>
          <p:nvPr/>
        </p:nvGraphicFramePr>
        <p:xfrm>
          <a:off x="9052560" y="1280160"/>
          <a:ext cx="2834640" cy="2926080"/>
        </p:xfrm>
        <a:graphic>
          <a:graphicData uri="http://schemas.openxmlformats.org/drawingml/2006/table">
            <a:tbl>
              <a:tblPr firstRow="1" bandRow="1">
                <a:tableStyleId>{5C22544A-7EE6-4342-B048-85BDC9FD1C3A}</a:tableStyleId>
              </a:tblPr>
              <a:tblGrid>
                <a:gridCol w="1143000"/>
                <a:gridCol w="822960"/>
                <a:gridCol w="868680"/>
              </a:tblGrid>
              <a:tr h="365760">
                <a:tc>
                  <a:txBody>
                    <a:bodyPr/>
                    <a:lstStyle/>
                    <a:p>
                      <a:pPr>
                        <a:defRPr sz="1100" b="1">
                          <a:solidFill>
                            <a:srgbClr val="FFFFFF"/>
                          </a:solidFill>
                        </a:defRPr>
                      </a:pPr>
                      <a:r>
                        <a:t>Spec (ours)</a:t>
                      </a:r>
                    </a:p>
                  </a:txBody>
                  <a:tcPr marL="54864" marR="54864" marT="27432" marB="27432">
                    <a:solidFill>
                      <a:srgbClr val="2B5797"/>
                    </a:solidFill>
                  </a:tcPr>
                </a:tc>
                <a:tc>
                  <a:txBody>
                    <a:bodyPr/>
                    <a:lstStyle/>
                    <a:p>
                      <a:pPr>
                        <a:defRPr sz="1100" b="1">
                          <a:solidFill>
                            <a:srgbClr val="FFFFFF"/>
                          </a:solidFill>
                        </a:defRPr>
                      </a:pPr>
                      <a:r>
                        <a:t>Target</a:t>
                      </a:r>
                    </a:p>
                  </a:txBody>
                  <a:tcPr marL="54864" marR="54864" marT="27432" marB="27432">
                    <a:solidFill>
                      <a:srgbClr val="2B5797"/>
                    </a:solidFill>
                  </a:tcPr>
                </a:tc>
                <a:tc>
                  <a:txBody>
                    <a:bodyPr/>
                    <a:lstStyle/>
                    <a:p>
                      <a:pPr>
                        <a:defRPr sz="1100" b="1">
                          <a:solidFill>
                            <a:srgbClr val="FFFFFF"/>
                          </a:solidFill>
                        </a:defRPr>
                      </a:pPr>
                      <a:r>
                        <a:t>Gate</a:t>
                      </a:r>
                    </a:p>
                  </a:txBody>
                  <a:tcPr marL="54864" marR="54864" marT="27432" marB="27432">
                    <a:solidFill>
                      <a:srgbClr val="2B5797"/>
                    </a:solidFill>
                  </a:tcPr>
                </a:tc>
              </a:tr>
              <a:tr h="365760">
                <a:tc>
                  <a:txBody>
                    <a:bodyPr/>
                    <a:lstStyle/>
                    <a:p>
                      <a:pPr>
                        <a:defRPr sz="1100" b="0">
                          <a:solidFill>
                            <a:srgbClr val="1A1A1A"/>
                          </a:solidFill>
                        </a:defRPr>
                      </a:pPr>
                      <a:r>
                        <a:t>Peaking @ Nyquist</a:t>
                      </a:r>
                    </a:p>
                  </a:txBody>
                  <a:tcPr marL="54864" marR="54864" marT="27432" marB="27432">
                    <a:solidFill>
                      <a:srgbClr val="FFFFFF"/>
                    </a:solidFill>
                  </a:tcPr>
                </a:tc>
                <a:tc>
                  <a:txBody>
                    <a:bodyPr/>
                    <a:lstStyle/>
                    <a:p>
                      <a:pPr>
                        <a:defRPr sz="1100" b="0">
                          <a:solidFill>
                            <a:srgbClr val="1A1A1A"/>
                          </a:solidFill>
                        </a:defRPr>
                      </a:pPr>
                      <a:r>
                        <a:t>3–12 dB</a:t>
                      </a:r>
                    </a:p>
                  </a:txBody>
                  <a:tcPr marL="54864" marR="54864" marT="27432" marB="27432">
                    <a:solidFill>
                      <a:srgbClr val="FFFFFF"/>
                    </a:solidFill>
                  </a:tcPr>
                </a:tc>
                <a:tc>
                  <a:txBody>
                    <a:bodyPr/>
                    <a:lstStyle/>
                    <a:p>
                      <a:pPr>
                        <a:defRPr sz="1100" b="0">
                          <a:solidFill>
                            <a:srgbClr val="1A1A1A"/>
                          </a:solidFill>
                        </a:defRPr>
                      </a:pPr>
                      <a:r>
                        <a:t>.ac</a:t>
                      </a:r>
                    </a:p>
                  </a:txBody>
                  <a:tcPr marL="54864" marR="54864" marT="27432" marB="27432">
                    <a:solidFill>
                      <a:srgbClr val="FFFFFF"/>
                    </a:solidFill>
                  </a:tcPr>
                </a:tc>
              </a:tr>
              <a:tr h="365760">
                <a:tc>
                  <a:txBody>
                    <a:bodyPr/>
                    <a:lstStyle/>
                    <a:p>
                      <a:pPr>
                        <a:defRPr sz="1100" b="0">
                          <a:solidFill>
                            <a:srgbClr val="1A1A1A"/>
                          </a:solidFill>
                        </a:defRPr>
                      </a:pPr>
                      <a:r>
                        <a:t>Power</a:t>
                      </a:r>
                    </a:p>
                  </a:txBody>
                  <a:tcPr marL="54864" marR="54864" marT="27432" marB="27432">
                    <a:solidFill>
                      <a:srgbClr val="F2F4F7"/>
                    </a:solidFill>
                  </a:tcPr>
                </a:tc>
                <a:tc>
                  <a:txBody>
                    <a:bodyPr/>
                    <a:lstStyle/>
                    <a:p>
                      <a:pPr>
                        <a:defRPr sz="1100" b="0">
                          <a:solidFill>
                            <a:srgbClr val="1A1A1A"/>
                          </a:solidFill>
                        </a:defRPr>
                      </a:pPr>
                      <a:r>
                        <a:t>≤ 2 mW</a:t>
                      </a:r>
                    </a:p>
                  </a:txBody>
                  <a:tcPr marL="54864" marR="54864" marT="27432" marB="27432">
                    <a:solidFill>
                      <a:srgbClr val="F2F4F7"/>
                    </a:solidFill>
                  </a:tcPr>
                </a:tc>
                <a:tc>
                  <a:txBody>
                    <a:bodyPr/>
                    <a:lstStyle/>
                    <a:p>
                      <a:pPr>
                        <a:defRPr sz="1100" b="0">
                          <a:solidFill>
                            <a:srgbClr val="1A1A1A"/>
                          </a:solidFill>
                        </a:defRPr>
                      </a:pPr>
                      <a:r>
                        <a:t>.op</a:t>
                      </a:r>
                    </a:p>
                  </a:txBody>
                  <a:tcPr marL="54864" marR="54864" marT="27432" marB="27432">
                    <a:solidFill>
                      <a:srgbClr val="F2F4F7"/>
                    </a:solidFill>
                  </a:tcPr>
                </a:tc>
              </a:tr>
              <a:tr h="365760">
                <a:tc>
                  <a:txBody>
                    <a:bodyPr/>
                    <a:lstStyle/>
                    <a:p>
                      <a:pPr>
                        <a:defRPr sz="1100" b="0">
                          <a:solidFill>
                            <a:srgbClr val="1A1A1A"/>
                          </a:solidFill>
                        </a:defRPr>
                      </a:pPr>
                      <a:r>
                        <a:t>Eye height</a:t>
                      </a:r>
                    </a:p>
                  </a:txBody>
                  <a:tcPr marL="54864" marR="54864" marT="27432" marB="27432">
                    <a:solidFill>
                      <a:srgbClr val="FFFFFF"/>
                    </a:solidFill>
                  </a:tcPr>
                </a:tc>
                <a:tc>
                  <a:txBody>
                    <a:bodyPr/>
                    <a:lstStyle/>
                    <a:p>
                      <a:pPr>
                        <a:defRPr sz="1100" b="0">
                          <a:solidFill>
                            <a:srgbClr val="1A1A1A"/>
                          </a:solidFill>
                        </a:defRPr>
                      </a:pPr>
                      <a:r>
                        <a:t>≥ 0.25 V</a:t>
                      </a:r>
                    </a:p>
                  </a:txBody>
                  <a:tcPr marL="54864" marR="54864" marT="27432" marB="27432">
                    <a:solidFill>
                      <a:srgbClr val="FFFFFF"/>
                    </a:solidFill>
                  </a:tcPr>
                </a:tc>
                <a:tc>
                  <a:txBody>
                    <a:bodyPr/>
                    <a:lstStyle/>
                    <a:p>
                      <a:pPr>
                        <a:defRPr sz="1100" b="0">
                          <a:solidFill>
                            <a:srgbClr val="1A1A1A"/>
                          </a:solidFill>
                        </a:defRPr>
                      </a:pPr>
                      <a:r>
                        <a:t>PRBS7 .tran</a:t>
                      </a:r>
                    </a:p>
                  </a:txBody>
                  <a:tcPr marL="54864" marR="54864" marT="27432" marB="27432">
                    <a:solidFill>
                      <a:srgbClr val="FFFFFF"/>
                    </a:solidFill>
                  </a:tcPr>
                </a:tc>
              </a:tr>
              <a:tr h="365760">
                <a:tc>
                  <a:txBody>
                    <a:bodyPr/>
                    <a:lstStyle/>
                    <a:p>
                      <a:pPr>
                        <a:defRPr sz="1100" b="0">
                          <a:solidFill>
                            <a:srgbClr val="1A1A1A"/>
                          </a:solidFill>
                        </a:defRPr>
                      </a:pPr>
                      <a:r>
                        <a:t>Eye width</a:t>
                      </a:r>
                    </a:p>
                  </a:txBody>
                  <a:tcPr marL="54864" marR="54864" marT="27432" marB="27432">
                    <a:solidFill>
                      <a:srgbClr val="F2F4F7"/>
                    </a:solidFill>
                  </a:tcPr>
                </a:tc>
                <a:tc>
                  <a:txBody>
                    <a:bodyPr/>
                    <a:lstStyle/>
                    <a:p>
                      <a:pPr>
                        <a:defRPr sz="1100" b="0">
                          <a:solidFill>
                            <a:srgbClr val="1A1A1A"/>
                          </a:solidFill>
                        </a:defRPr>
                      </a:pPr>
                      <a:r>
                        <a:t>≥ 0.7 UI</a:t>
                      </a:r>
                    </a:p>
                  </a:txBody>
                  <a:tcPr marL="54864" marR="54864" marT="27432" marB="27432">
                    <a:solidFill>
                      <a:srgbClr val="F2F4F7"/>
                    </a:solidFill>
                  </a:tcPr>
                </a:tc>
                <a:tc>
                  <a:txBody>
                    <a:bodyPr/>
                    <a:lstStyle/>
                    <a:p>
                      <a:pPr>
                        <a:defRPr sz="1100" b="0">
                          <a:solidFill>
                            <a:srgbClr val="1A1A1A"/>
                          </a:solidFill>
                        </a:defRPr>
                      </a:pPr>
                      <a:r>
                        <a:t>PRBS7 .tran</a:t>
                      </a:r>
                    </a:p>
                  </a:txBody>
                  <a:tcPr marL="54864" marR="54864" marT="27432" marB="27432">
                    <a:solidFill>
                      <a:srgbClr val="F2F4F7"/>
                    </a:solidFill>
                  </a:tcPr>
                </a:tc>
              </a:tr>
              <a:tr h="365760">
                <a:tc>
                  <a:txBody>
                    <a:bodyPr/>
                    <a:lstStyle/>
                    <a:p>
                      <a:pPr>
                        <a:defRPr sz="1100" b="0">
                          <a:solidFill>
                            <a:srgbClr val="1A1A1A"/>
                          </a:solidFill>
                        </a:defRPr>
                      </a:pPr>
                      <a:r>
                        <a:t>HD3</a:t>
                      </a:r>
                    </a:p>
                  </a:txBody>
                  <a:tcPr marL="54864" marR="54864" marT="27432" marB="27432">
                    <a:solidFill>
                      <a:srgbClr val="FFFFFF"/>
                    </a:solidFill>
                  </a:tcPr>
                </a:tc>
                <a:tc>
                  <a:txBody>
                    <a:bodyPr/>
                    <a:lstStyle/>
                    <a:p>
                      <a:pPr>
                        <a:defRPr sz="1100" b="0">
                          <a:solidFill>
                            <a:srgbClr val="1A1A1A"/>
                          </a:solidFill>
                        </a:defRPr>
                      </a:pPr>
                      <a:r>
                        <a:t>≤ −30 dB</a:t>
                      </a:r>
                    </a:p>
                  </a:txBody>
                  <a:tcPr marL="54864" marR="54864" marT="27432" marB="27432">
                    <a:solidFill>
                      <a:srgbClr val="FFFFFF"/>
                    </a:solidFill>
                  </a:tcPr>
                </a:tc>
                <a:tc>
                  <a:txBody>
                    <a:bodyPr/>
                    <a:lstStyle/>
                    <a:p>
                      <a:pPr>
                        <a:defRPr sz="1100" b="0">
                          <a:solidFill>
                            <a:srgbClr val="1A1A1A"/>
                          </a:solidFill>
                        </a:defRPr>
                      </a:pPr>
                      <a:r>
                        <a:t>tone .tran</a:t>
                      </a:r>
                    </a:p>
                  </a:txBody>
                  <a:tcPr marL="54864" marR="54864" marT="27432" marB="27432">
                    <a:solidFill>
                      <a:srgbClr val="FFFFFF"/>
                    </a:solidFill>
                  </a:tcPr>
                </a:tc>
              </a:tr>
              <a:tr h="365760">
                <a:tc>
                  <a:txBody>
                    <a:bodyPr/>
                    <a:lstStyle/>
                    <a:p>
                      <a:pPr>
                        <a:defRPr sz="1100" b="0">
                          <a:solidFill>
                            <a:srgbClr val="1A1A1A"/>
                          </a:solidFill>
                        </a:defRPr>
                      </a:pPr>
                      <a:r>
                        <a:t>Noise</a:t>
                      </a:r>
                    </a:p>
                  </a:txBody>
                  <a:tcPr marL="54864" marR="54864" marT="27432" marB="27432">
                    <a:solidFill>
                      <a:srgbClr val="F2F4F7"/>
                    </a:solidFill>
                  </a:tcPr>
                </a:tc>
                <a:tc>
                  <a:txBody>
                    <a:bodyPr/>
                    <a:lstStyle/>
                    <a:p>
                      <a:pPr>
                        <a:defRPr sz="1100" b="0">
                          <a:solidFill>
                            <a:srgbClr val="1A1A1A"/>
                          </a:solidFill>
                        </a:defRPr>
                      </a:pPr>
                      <a:r>
                        <a:t>≤ 1.5 mV rms</a:t>
                      </a:r>
                    </a:p>
                  </a:txBody>
                  <a:tcPr marL="54864" marR="54864" marT="27432" marB="27432">
                    <a:solidFill>
                      <a:srgbClr val="F2F4F7"/>
                    </a:solidFill>
                  </a:tcPr>
                </a:tc>
                <a:tc>
                  <a:txBody>
                    <a:bodyPr/>
                    <a:lstStyle/>
                    <a:p>
                      <a:pPr>
                        <a:defRPr sz="1100" b="0">
                          <a:solidFill>
                            <a:srgbClr val="1A1A1A"/>
                          </a:solidFill>
                        </a:defRPr>
                      </a:pPr>
                      <a:r>
                        <a:t>.noise (validation)</a:t>
                      </a:r>
                    </a:p>
                  </a:txBody>
                  <a:tcPr marL="54864" marR="54864" marT="27432" marB="27432">
                    <a:solidFill>
                      <a:srgbClr val="F2F4F7"/>
                    </a:solidFill>
                  </a:tcPr>
                </a:tc>
              </a:tr>
              <a:tr h="365760">
                <a:tc>
                  <a:txBody>
                    <a:bodyPr/>
                    <a:lstStyle/>
                    <a:p>
                      <a:pPr>
                        <a:defRPr sz="1100" b="0">
                          <a:solidFill>
                            <a:srgbClr val="1A1A1A"/>
                          </a:solidFill>
                        </a:defRPr>
                      </a:pPr>
                      <a:r>
                        <a:t>PVT</a:t>
                      </a:r>
                    </a:p>
                  </a:txBody>
                  <a:tcPr marL="54864" marR="54864" marT="27432" marB="27432">
                    <a:solidFill>
                      <a:srgbClr val="FFFFFF"/>
                    </a:solidFill>
                  </a:tcPr>
                </a:tc>
                <a:tc>
                  <a:txBody>
                    <a:bodyPr/>
                    <a:lstStyle/>
                    <a:p>
                      <a:pPr>
                        <a:defRPr sz="1100" b="0">
                          <a:solidFill>
                            <a:srgbClr val="1A1A1A"/>
                          </a:solidFill>
                        </a:defRPr>
                      </a:pPr>
                      <a:r>
                        <a:t>45/45</a:t>
                      </a:r>
                    </a:p>
                  </a:txBody>
                  <a:tcPr marL="54864" marR="54864" marT="27432" marB="27432">
                    <a:solidFill>
                      <a:srgbClr val="FFFFFF"/>
                    </a:solidFill>
                  </a:tcPr>
                </a:tc>
                <a:tc>
                  <a:txBody>
                    <a:bodyPr/>
                    <a:lstStyle/>
                    <a:p>
                      <a:pPr>
                        <a:defRPr sz="1100" b="0">
                          <a:solidFill>
                            <a:srgbClr val="1A1A1A"/>
                          </a:solidFill>
                        </a:defRPr>
                      </a:pPr>
                      <a:r>
                        <a:t>5×3×3 corners</a:t>
                      </a:r>
                    </a:p>
                  </a:txBody>
                  <a:tcPr marL="54864" marR="54864" marT="27432" marB="27432">
                    <a:solidFill>
                      <a:srgbClr val="FFFFFF"/>
                    </a:solidFill>
                  </a:tcPr>
                </a:tc>
              </a:tr>
            </a:tbl>
          </a:graphicData>
        </a:graphic>
      </p:graphicFrame>
      <p:sp>
        <p:nvSpPr>
          <p:cNvPr id="9" name="TextBox 8"/>
          <p:cNvSpPr txBox="1"/>
          <p:nvPr/>
        </p:nvSpPr>
        <p:spPr>
          <a:xfrm>
            <a:off x="457200" y="4572000"/>
            <a:ext cx="5669280" cy="914400"/>
          </a:xfrm>
          <a:prstGeom prst="rect">
            <a:avLst/>
          </a:prstGeom>
          <a:noFill/>
        </p:spPr>
        <p:txBody>
          <a:bodyPr wrap="square">
            <a:spAutoFit/>
          </a:bodyPr>
          <a:lstStyle/>
          <a:p>
            <a:pPr>
              <a:defRPr sz="1200" b="0">
                <a:solidFill>
                  <a:srgbClr val="555B66"/>
                </a:solidFill>
              </a:defRPr>
            </a:pPr>
            <a:r>
              <a:t>Source-degenerated differential CTLE; devices are IHP sg13_lv_nmos, L = 130 nm. AC response of a policy design: 4.2 dB of peaking at 2.5 GHz.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Live: the policy sizes a CTLE from a random start</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5</a:t>
            </a:r>
          </a:p>
        </p:txBody>
      </p:sp>
      <p:sp>
        <p:nvSpPr>
          <p:cNvPr id="5" name="TextBox 4"/>
          <p:cNvSpPr txBox="1"/>
          <p:nvPr/>
        </p:nvSpPr>
        <p:spPr>
          <a:xfrm>
            <a:off x="457200" y="1005840"/>
            <a:ext cx="11247120" cy="457200"/>
          </a:xfrm>
          <a:prstGeom prst="rect">
            <a:avLst/>
          </a:prstGeom>
          <a:noFill/>
        </p:spPr>
        <p:txBody>
          <a:bodyPr wrap="none">
            <a:spAutoFit/>
          </a:bodyPr>
          <a:lstStyle/>
          <a:p>
            <a:pPr>
              <a:defRPr sz="1600" i="1">
                <a:solidFill>
                  <a:srgbClr val="555B66"/>
                </a:solidFill>
              </a:defRPr>
            </a:pPr>
            <a:r>
              <a:t>python scripts/demo_rollout.py reports/sac-ihp-pvt   (random design, random PVT corner)</a:t>
            </a:r>
          </a:p>
        </p:txBody>
      </p:sp>
      <p:sp>
        <p:nvSpPr>
          <p:cNvPr id="6" name="TextBox 5"/>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sp>
        <p:nvSpPr>
          <p:cNvPr id="7" name="TextBox 6"/>
          <p:cNvSpPr txBox="1"/>
          <p:nvPr/>
        </p:nvSpPr>
        <p:spPr>
          <a:xfrm>
            <a:off x="365760" y="1508760"/>
            <a:ext cx="11430000" cy="3108960"/>
          </a:xfrm>
          <a:prstGeom prst="rect">
            <a:avLst/>
          </a:prstGeom>
          <a:solidFill>
            <a:srgbClr val="0C1B2E"/>
          </a:solidFill>
        </p:spPr>
        <p:txBody>
          <a:bodyPr wrap="none">
            <a:spAutoFit/>
          </a:bodyPr>
          <a:lstStyle/>
          <a:p>
            <a:pPr>
              <a:defRPr sz="950" b="0">
                <a:solidFill>
                  <a:srgbClr val="E6EEF8"/>
                </a:solidFill>
                <a:latin typeface="Consolas"/>
              </a:defRPr>
            </a:pPr>
            <a:r>
              <a:t>AutoAnalog-RL policy rollout  model=sac_final.zip  specs: eye &gt;= 0.25 V, width &gt;= 0.7 UI, peaking 3-12 dB, power &lt;= 2 mW, HD3 &lt;= -30 dB</a:t>
            </a:r>
          </a:p>
          <a:p>
            <a:pPr>
              <a:defRPr sz="950" b="0">
                <a:solidFill>
                  <a:srgbClr val="E6EEF8"/>
                </a:solidFill>
                <a:latin typeface="Consolas"/>
              </a:defRPr>
            </a:pPr>
            <a:r>
              <a:t>start: random design (seed 21), corner SS_1.00V_62.5C</a:t>
            </a:r>
          </a:p>
          <a:p>
            <a:pPr>
              <a:defRPr sz="950" b="0">
                <a:solidFill>
                  <a:srgbClr val="E6EEF8"/>
                </a:solidFill>
                <a:latin typeface="Consolas"/>
              </a:defRPr>
            </a:pPr>
          </a:p>
          <a:p>
            <a:pPr>
              <a:defRPr sz="950" b="0">
                <a:solidFill>
                  <a:srgbClr val="E6EEF8"/>
                </a:solidFill>
                <a:latin typeface="Consolas"/>
              </a:defRPr>
            </a:pPr>
            <a:r>
              <a:t>step     W_in  R_load  I_bias    R_s    C_s  peak dB power mW  eye V eye UI   HD3 dB   reward  specs</a:t>
            </a:r>
          </a:p>
          <a:p>
            <a:pPr>
              <a:defRPr sz="950" b="0">
                <a:solidFill>
                  <a:srgbClr val="E6EEF8"/>
                </a:solidFill>
                <a:latin typeface="Consolas"/>
              </a:defRPr>
            </a:pPr>
            <a:r>
              <a:t>----------------------------------------------------------------------------------------------------</a:t>
            </a:r>
          </a:p>
          <a:p>
            <a:pPr>
              <a:defRPr sz="950" b="0">
                <a:solidFill>
                  <a:srgbClr val="E6EEF8"/>
                </a:solidFill>
                <a:latin typeface="Consolas"/>
              </a:defRPr>
            </a:pPr>
            <a:r>
              <a:t>   1   27.62u     829   0.46m    307   885f     5.25     0.55  0.173   0.66        -    -1.64 OK:peak OK:peak&lt;12 OK:power --:width --:eye --:hd3</a:t>
            </a:r>
          </a:p>
          <a:p>
            <a:pPr>
              <a:defRPr sz="950" b="0">
                <a:solidFill>
                  <a:srgbClr val="E6EEF8"/>
                </a:solidFill>
                <a:latin typeface="Consolas"/>
              </a:defRPr>
            </a:pPr>
            <a:r>
              <a:t>   2   24.05u     912   0.65m    263   786f     5.17     0.78  0.246   0.76        -    -1.41 OK:peak OK:peak&lt;12 OK:power OK:width --:eye --:hd3</a:t>
            </a:r>
          </a:p>
          <a:p>
            <a:pPr>
              <a:defRPr sz="950" b="0">
                <a:solidFill>
                  <a:srgbClr val="E6EEF8"/>
                </a:solidFill>
                <a:latin typeface="Consolas"/>
              </a:defRPr>
            </a:pPr>
            <a:r>
              <a:t>   3   23.24u     977   0.84m    232   688f     4.97     1.01  0.321   0.80    -57.8    20.21 OK:peak OK:peak&lt;12 OK:power OK:width OK:eye OK:hd3</a:t>
            </a:r>
          </a:p>
          <a:p>
            <a:pPr>
              <a:defRPr sz="950" b="0">
                <a:solidFill>
                  <a:srgbClr val="E6EEF8"/>
                </a:solidFill>
                <a:latin typeface="Consolas"/>
              </a:defRPr>
            </a:pPr>
          </a:p>
          <a:p>
            <a:pPr>
              <a:defRPr sz="950" b="0">
                <a:solidFill>
                  <a:srgbClr val="E6EEF8"/>
                </a:solidFill>
                <a:latin typeface="Consolas"/>
              </a:defRPr>
            </a:pPr>
            <a:r>
              <a:t>all specs met after 3 simulation step(s) in 7.0 s of wall time</a:t>
            </a:r>
          </a:p>
          <a:p>
            <a:pPr>
              <a:defRPr sz="950" b="0">
                <a:solidFill>
                  <a:srgbClr val="E6EEF8"/>
                </a:solidFill>
                <a:latin typeface="Consolas"/>
              </a:defRPr>
            </a:pPr>
            <a:r>
              <a:t>sized netlist header:</a:t>
            </a:r>
          </a:p>
          <a:p>
            <a:pPr>
              <a:defRPr sz="950" b="0">
                <a:solidFill>
                  <a:srgbClr val="E6EEF8"/>
                </a:solidFill>
                <a:latin typeface="Consolas"/>
              </a:defRPr>
            </a:pPr>
            <a:r>
              <a:t>* AutoAnalog-RL sized CTLE</a:t>
            </a:r>
          </a:p>
        </p:txBody>
      </p:sp>
      <p:sp>
        <p:nvSpPr>
          <p:cNvPr id="8" name="Rounded Rectangle 7"/>
          <p:cNvSpPr/>
          <p:nvPr/>
        </p:nvSpPr>
        <p:spPr>
          <a:xfrm>
            <a:off x="548640" y="4846320"/>
            <a:ext cx="265176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63A6B"/>
                </a:solidFill>
              </a:defRPr>
            </a:pPr>
            <a:r>
              <a:t>3 sims</a:t>
            </a:r>
          </a:p>
          <a:p>
            <a:pPr algn="ctr">
              <a:defRPr sz="1200">
                <a:solidFill>
                  <a:srgbClr val="555B66"/>
                </a:solidFill>
              </a:defRPr>
            </a:pPr>
            <a:r>
              <a:t>to meet every spec</a:t>
            </a:r>
          </a:p>
        </p:txBody>
      </p:sp>
      <p:sp>
        <p:nvSpPr>
          <p:cNvPr id="9" name="Rounded Rectangle 8"/>
          <p:cNvSpPr/>
          <p:nvPr/>
        </p:nvSpPr>
        <p:spPr>
          <a:xfrm>
            <a:off x="3383280" y="4846320"/>
            <a:ext cx="265176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63A6B"/>
                </a:solidFill>
              </a:defRPr>
            </a:pPr>
            <a:r>
              <a:t>7 s</a:t>
            </a:r>
          </a:p>
          <a:p>
            <a:pPr algn="ctr">
              <a:defRPr sz="1200">
                <a:solidFill>
                  <a:srgbClr val="555B66"/>
                </a:solidFill>
              </a:defRPr>
            </a:pPr>
            <a:r>
              <a:t>wall time, laptop</a:t>
            </a:r>
          </a:p>
        </p:txBody>
      </p:sp>
      <p:sp>
        <p:nvSpPr>
          <p:cNvPr id="10" name="Rounded Rectangle 9"/>
          <p:cNvSpPr/>
          <p:nvPr/>
        </p:nvSpPr>
        <p:spPr>
          <a:xfrm>
            <a:off x="6217920" y="4846320"/>
            <a:ext cx="310896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63A6B"/>
                </a:solidFill>
              </a:defRPr>
            </a:pPr>
            <a:r>
              <a:t>SS / 1.0 V / 62 °C</a:t>
            </a:r>
          </a:p>
          <a:p>
            <a:pPr algn="ctr">
              <a:defRPr sz="1200">
                <a:solidFill>
                  <a:srgbClr val="555B66"/>
                </a:solidFill>
              </a:defRPr>
            </a:pPr>
            <a:r>
              <a:t>random corner, random 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Training: seven runs on the real models, all converge within ~2k steps</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6</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pic>
        <p:nvPicPr>
          <p:cNvPr id="6" name="Picture 5" descr="learning_curves.png"/>
          <p:cNvPicPr>
            <a:picLocks noChangeAspect="1"/>
          </p:cNvPicPr>
          <p:nvPr/>
        </p:nvPicPr>
        <p:blipFill>
          <a:blip r:embed="rId3"/>
          <a:stretch>
            <a:fillRect/>
          </a:stretch>
        </p:blipFill>
        <p:spPr>
          <a:xfrm>
            <a:off x="365760" y="1280160"/>
            <a:ext cx="11430000" cy="3200400"/>
          </a:xfrm>
          <a:prstGeom prst="rect">
            <a:avLst/>
          </a:prstGeom>
        </p:spPr>
      </p:pic>
      <p:sp>
        <p:nvSpPr>
          <p:cNvPr id="7" name="TextBox 6"/>
          <p:cNvSpPr txBox="1"/>
          <p:nvPr/>
        </p:nvSpPr>
        <p:spPr>
          <a:xfrm>
            <a:off x="457200" y="5760720"/>
            <a:ext cx="10972800" cy="457200"/>
          </a:xfrm>
          <a:prstGeom prst="rect">
            <a:avLst/>
          </a:prstGeom>
          <a:noFill/>
        </p:spPr>
        <p:txBody>
          <a:bodyPr wrap="square">
            <a:spAutoFit/>
          </a:bodyPr>
          <a:lstStyle/>
          <a:p>
            <a:pPr>
              <a:defRPr sz="1300" b="0">
                <a:solidFill>
                  <a:srgbClr val="555B66"/>
                </a:solidFill>
              </a:defRPr>
            </a:pPr>
            <a:r>
              <a:t>SAC, 8 thread-parallel envs, hold-on-success episodes with a margin bonus · 12k steps ≈ 2 h on a 12-core laptop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Results: every policy design passes every measured spec</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7</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graphicFrame>
        <p:nvGraphicFramePr>
          <p:cNvPr id="6" name="Table 5"/>
          <p:cNvGraphicFramePr>
            <a:graphicFrameLocks noGrp="1"/>
          </p:cNvGraphicFramePr>
          <p:nvPr/>
        </p:nvGraphicFramePr>
        <p:xfrm>
          <a:off x="365760" y="1280160"/>
          <a:ext cx="11430000" cy="2926080"/>
        </p:xfrm>
        <a:graphic>
          <a:graphicData uri="http://schemas.openxmlformats.org/drawingml/2006/table">
            <a:tbl>
              <a:tblPr firstRow="1" bandRow="1">
                <a:tableStyleId>{5C22544A-7EE6-4342-B048-85BDC9FD1C3A}</a:tableStyleId>
              </a:tblPr>
              <a:tblGrid>
                <a:gridCol w="1280160"/>
                <a:gridCol w="2651760"/>
                <a:gridCol w="1188720"/>
                <a:gridCol w="1737360"/>
                <a:gridCol w="1371600"/>
                <a:gridCol w="3200400"/>
              </a:tblGrid>
              <a:tr h="365760">
                <a:tc>
                  <a:txBody>
                    <a:bodyPr/>
                    <a:lstStyle/>
                    <a:p>
                      <a:pPr>
                        <a:defRPr sz="1200" b="1">
                          <a:solidFill>
                            <a:srgbClr val="FFFFFF"/>
                          </a:solidFill>
                        </a:defRPr>
                      </a:pPr>
                      <a:r>
                        <a:t>Run</a:t>
                      </a:r>
                    </a:p>
                  </a:txBody>
                  <a:tcPr marL="54864" marR="54864" marT="27432" marB="27432">
                    <a:solidFill>
                      <a:srgbClr val="2B5797"/>
                    </a:solidFill>
                  </a:tcPr>
                </a:tc>
                <a:tc>
                  <a:txBody>
                    <a:bodyPr/>
                    <a:lstStyle/>
                    <a:p>
                      <a:pPr>
                        <a:defRPr sz="1200" b="1">
                          <a:solidFill>
                            <a:srgbClr val="FFFFFF"/>
                          </a:solidFill>
                        </a:defRPr>
                      </a:pPr>
                      <a:r>
                        <a:t>Variant</a:t>
                      </a:r>
                    </a:p>
                  </a:txBody>
                  <a:tcPr marL="54864" marR="54864" marT="27432" marB="27432">
                    <a:solidFill>
                      <a:srgbClr val="2B5797"/>
                    </a:solidFill>
                  </a:tcPr>
                </a:tc>
                <a:tc>
                  <a:txBody>
                    <a:bodyPr/>
                    <a:lstStyle/>
                    <a:p>
                      <a:pPr>
                        <a:defRPr sz="1200" b="1">
                          <a:solidFill>
                            <a:srgbClr val="FFFFFF"/>
                          </a:solidFill>
                        </a:defRPr>
                      </a:pPr>
                      <a:r>
                        <a:t>Train feasible</a:t>
                      </a:r>
                    </a:p>
                  </a:txBody>
                  <a:tcPr marL="54864" marR="54864" marT="27432" marB="27432">
                    <a:solidFill>
                      <a:srgbClr val="2B5797"/>
                    </a:solidFill>
                  </a:tcPr>
                </a:tc>
                <a:tc>
                  <a:txBody>
                    <a:bodyPr/>
                    <a:lstStyle/>
                    <a:p>
                      <a:pPr>
                        <a:defRPr sz="1200" b="1">
                          <a:solidFill>
                            <a:srgbClr val="FFFFFF"/>
                          </a:solidFill>
                        </a:defRPr>
                      </a:pPr>
                      <a:r>
                        <a:t>Rollouts</a:t>
                      </a:r>
                    </a:p>
                  </a:txBody>
                  <a:tcPr marL="54864" marR="54864" marT="27432" marB="27432">
                    <a:solidFill>
                      <a:srgbClr val="2B5797"/>
                    </a:solidFill>
                  </a:tcPr>
                </a:tc>
                <a:tc>
                  <a:txBody>
                    <a:bodyPr/>
                    <a:lstStyle/>
                    <a:p>
                      <a:pPr>
                        <a:defRPr sz="1200" b="1">
                          <a:solidFill>
                            <a:srgbClr val="FFFFFF"/>
                          </a:solidFill>
                        </a:defRPr>
                      </a:pPr>
                      <a:r>
                        <a:t>Steps (med / worst)</a:t>
                      </a:r>
                    </a:p>
                  </a:txBody>
                  <a:tcPr marL="54864" marR="54864" marT="27432" marB="27432">
                    <a:solidFill>
                      <a:srgbClr val="2B5797"/>
                    </a:solidFill>
                  </a:tcPr>
                </a:tc>
                <a:tc>
                  <a:txBody>
                    <a:bodyPr/>
                    <a:lstStyle/>
                    <a:p>
                      <a:pPr>
                        <a:defRPr sz="1200" b="1">
                          <a:solidFill>
                            <a:srgbClr val="FFFFFF"/>
                          </a:solidFill>
                        </a:defRPr>
                      </a:pPr>
                      <a:r>
                        <a:t>Best design: eye · power · HD3 · PVT</a:t>
                      </a:r>
                    </a:p>
                  </a:txBody>
                  <a:tcPr marL="54864" marR="54864" marT="27432" marB="27432">
                    <a:solidFill>
                      <a:srgbClr val="2B5797"/>
                    </a:solidFill>
                  </a:tcPr>
                </a:tc>
              </a:tr>
              <a:tr h="365760">
                <a:tc>
                  <a:txBody>
                    <a:bodyPr/>
                    <a:lstStyle/>
                    <a:p>
                      <a:pPr>
                        <a:defRPr sz="1200" b="0">
                          <a:solidFill>
                            <a:srgbClr val="1A1A1A"/>
                          </a:solidFill>
                        </a:defRPr>
                      </a:pPr>
                      <a:r>
                        <a:t>seed 1 (30k)</a:t>
                      </a:r>
                    </a:p>
                  </a:txBody>
                  <a:tcPr marL="54864" marR="54864" marT="27432" marB="27432">
                    <a:solidFill>
                      <a:srgbClr val="FFFFFF"/>
                    </a:solidFill>
                  </a:tcPr>
                </a:tc>
                <a:tc>
                  <a:txBody>
                    <a:bodyPr/>
                    <a:lstStyle/>
                    <a:p>
                      <a:pPr>
                        <a:defRPr sz="1200" b="0">
                          <a:solidFill>
                            <a:srgbClr val="1A1A1A"/>
                          </a:solidFill>
                        </a:defRPr>
                      </a:pPr>
                      <a:r>
                        <a:t>—</a:t>
                      </a:r>
                    </a:p>
                  </a:txBody>
                  <a:tcPr marL="54864" marR="54864" marT="27432" marB="27432">
                    <a:solidFill>
                      <a:srgbClr val="FFFFFF"/>
                    </a:solidFill>
                  </a:tcPr>
                </a:tc>
                <a:tc>
                  <a:txBody>
                    <a:bodyPr/>
                    <a:lstStyle/>
                    <a:p>
                      <a:pPr>
                        <a:defRPr sz="1200" b="0">
                          <a:solidFill>
                            <a:srgbClr val="1A1A1A"/>
                          </a:solidFill>
                        </a:defRPr>
                      </a:pPr>
                      <a:r>
                        <a:t>95.5%</a:t>
                      </a:r>
                    </a:p>
                  </a:txBody>
                  <a:tcPr marL="54864" marR="54864" marT="27432" marB="27432">
                    <a:solidFill>
                      <a:srgbClr val="FFFFFF"/>
                    </a:solidFill>
                  </a:tcPr>
                </a:tc>
                <a:tc>
                  <a:txBody>
                    <a:bodyPr/>
                    <a:lstStyle/>
                    <a:p>
                      <a:pPr>
                        <a:defRPr sz="1200" b="0">
                          <a:solidFill>
                            <a:srgbClr val="1A1A1A"/>
                          </a:solidFill>
                        </a:defRPr>
                      </a:pPr>
                      <a:r>
                        <a:t>20/20</a:t>
                      </a:r>
                    </a:p>
                  </a:txBody>
                  <a:tcPr marL="54864" marR="54864" marT="27432" marB="27432">
                    <a:solidFill>
                      <a:srgbClr val="FFFFFF"/>
                    </a:solidFill>
                  </a:tcPr>
                </a:tc>
                <a:tc>
                  <a:txBody>
                    <a:bodyPr/>
                    <a:lstStyle/>
                    <a:p>
                      <a:pPr>
                        <a:defRPr sz="1200" b="0">
                          <a:solidFill>
                            <a:srgbClr val="1A1A1A"/>
                          </a:solidFill>
                        </a:defRPr>
                      </a:pPr>
                      <a:r>
                        <a:t>2 / 4</a:t>
                      </a:r>
                    </a:p>
                  </a:txBody>
                  <a:tcPr marL="54864" marR="54864" marT="27432" marB="27432">
                    <a:solidFill>
                      <a:srgbClr val="FFFFFF"/>
                    </a:solidFill>
                  </a:tcPr>
                </a:tc>
                <a:tc>
                  <a:txBody>
                    <a:bodyPr/>
                    <a:lstStyle/>
                    <a:p>
                      <a:pPr>
                        <a:defRPr sz="1200" b="0">
                          <a:solidFill>
                            <a:srgbClr val="1A1A1A"/>
                          </a:solidFill>
                        </a:defRPr>
                      </a:pPr>
                      <a:r>
                        <a:t>0.327 V · 1.22 mW · −57.8 dB · 45/45</a:t>
                      </a:r>
                    </a:p>
                  </a:txBody>
                  <a:tcPr marL="54864" marR="54864" marT="27432" marB="27432">
                    <a:solidFill>
                      <a:srgbClr val="FFFFFF"/>
                    </a:solidFill>
                  </a:tcPr>
                </a:tc>
              </a:tr>
              <a:tr h="365760">
                <a:tc>
                  <a:txBody>
                    <a:bodyPr/>
                    <a:lstStyle/>
                    <a:p>
                      <a:pPr>
                        <a:defRPr sz="1200" b="0">
                          <a:solidFill>
                            <a:srgbClr val="1A1A1A"/>
                          </a:solidFill>
                        </a:defRPr>
                      </a:pPr>
                      <a:r>
                        <a:t>seed 2 (12k)</a:t>
                      </a:r>
                    </a:p>
                  </a:txBody>
                  <a:tcPr marL="54864" marR="54864" marT="27432" marB="27432">
                    <a:solidFill>
                      <a:srgbClr val="F2F4F7"/>
                    </a:solidFill>
                  </a:tcPr>
                </a:tc>
                <a:tc>
                  <a:txBody>
                    <a:bodyPr/>
                    <a:lstStyle/>
                    <a:p>
                      <a:pPr>
                        <a:defRPr sz="1200" b="0">
                          <a:solidFill>
                            <a:srgbClr val="1A1A1A"/>
                          </a:solidFill>
                        </a:defRPr>
                      </a:pPr>
                      <a:r>
                        <a:t>—</a:t>
                      </a:r>
                    </a:p>
                  </a:txBody>
                  <a:tcPr marL="54864" marR="54864" marT="27432" marB="27432">
                    <a:solidFill>
                      <a:srgbClr val="F2F4F7"/>
                    </a:solidFill>
                  </a:tcPr>
                </a:tc>
                <a:tc>
                  <a:txBody>
                    <a:bodyPr/>
                    <a:lstStyle/>
                    <a:p>
                      <a:pPr>
                        <a:defRPr sz="1200" b="0">
                          <a:solidFill>
                            <a:srgbClr val="1A1A1A"/>
                          </a:solidFill>
                        </a:defRPr>
                      </a:pPr>
                      <a:r>
                        <a:t>95.5%</a:t>
                      </a:r>
                    </a:p>
                  </a:txBody>
                  <a:tcPr marL="54864" marR="54864" marT="27432" marB="27432">
                    <a:solidFill>
                      <a:srgbClr val="F2F4F7"/>
                    </a:solidFill>
                  </a:tcPr>
                </a:tc>
                <a:tc>
                  <a:txBody>
                    <a:bodyPr/>
                    <a:lstStyle/>
                    <a:p>
                      <a:pPr>
                        <a:defRPr sz="1200" b="0">
                          <a:solidFill>
                            <a:srgbClr val="1A1A1A"/>
                          </a:solidFill>
                        </a:defRPr>
                      </a:pPr>
                      <a:r>
                        <a:t>20/20</a:t>
                      </a:r>
                    </a:p>
                  </a:txBody>
                  <a:tcPr marL="54864" marR="54864" marT="27432" marB="27432">
                    <a:solidFill>
                      <a:srgbClr val="F2F4F7"/>
                    </a:solidFill>
                  </a:tcPr>
                </a:tc>
                <a:tc>
                  <a:txBody>
                    <a:bodyPr/>
                    <a:lstStyle/>
                    <a:p>
                      <a:pPr>
                        <a:defRPr sz="1200" b="0">
                          <a:solidFill>
                            <a:srgbClr val="1A1A1A"/>
                          </a:solidFill>
                        </a:defRPr>
                      </a:pPr>
                      <a:r>
                        <a:t>3 / 4</a:t>
                      </a:r>
                    </a:p>
                  </a:txBody>
                  <a:tcPr marL="54864" marR="54864" marT="27432" marB="27432">
                    <a:solidFill>
                      <a:srgbClr val="F2F4F7"/>
                    </a:solidFill>
                  </a:tcPr>
                </a:tc>
                <a:tc>
                  <a:txBody>
                    <a:bodyPr/>
                    <a:lstStyle/>
                    <a:p>
                      <a:pPr>
                        <a:defRPr sz="1200" b="0">
                          <a:solidFill>
                            <a:srgbClr val="1A1A1A"/>
                          </a:solidFill>
                        </a:defRPr>
                      </a:pPr>
                      <a:r>
                        <a:t>0.316 V · 1.22 mW · −57.7 dB · 45/45</a:t>
                      </a:r>
                    </a:p>
                  </a:txBody>
                  <a:tcPr marL="54864" marR="54864" marT="27432" marB="27432">
                    <a:solidFill>
                      <a:srgbClr val="F2F4F7"/>
                    </a:solidFill>
                  </a:tcPr>
                </a:tc>
              </a:tr>
              <a:tr h="365760">
                <a:tc>
                  <a:txBody>
                    <a:bodyPr/>
                    <a:lstStyle/>
                    <a:p>
                      <a:pPr>
                        <a:defRPr sz="1200" b="0">
                          <a:solidFill>
                            <a:srgbClr val="1A1A1A"/>
                          </a:solidFill>
                        </a:defRPr>
                      </a:pPr>
                      <a:r>
                        <a:t>seed 3 (12k)</a:t>
                      </a:r>
                    </a:p>
                  </a:txBody>
                  <a:tcPr marL="54864" marR="54864" marT="27432" marB="27432">
                    <a:solidFill>
                      <a:srgbClr val="FFFFFF"/>
                    </a:solidFill>
                  </a:tcPr>
                </a:tc>
                <a:tc>
                  <a:txBody>
                    <a:bodyPr/>
                    <a:lstStyle/>
                    <a:p>
                      <a:pPr>
                        <a:defRPr sz="1200" b="0">
                          <a:solidFill>
                            <a:srgbClr val="1A1A1A"/>
                          </a:solidFill>
                        </a:defRPr>
                      </a:pPr>
                      <a:r>
                        <a:t>—</a:t>
                      </a:r>
                    </a:p>
                  </a:txBody>
                  <a:tcPr marL="54864" marR="54864" marT="27432" marB="27432">
                    <a:solidFill>
                      <a:srgbClr val="FFFFFF"/>
                    </a:solidFill>
                  </a:tcPr>
                </a:tc>
                <a:tc>
                  <a:txBody>
                    <a:bodyPr/>
                    <a:lstStyle/>
                    <a:p>
                      <a:pPr>
                        <a:defRPr sz="1200" b="0">
                          <a:solidFill>
                            <a:srgbClr val="1A1A1A"/>
                          </a:solidFill>
                        </a:defRPr>
                      </a:pPr>
                      <a:r>
                        <a:t>95.5%</a:t>
                      </a:r>
                    </a:p>
                  </a:txBody>
                  <a:tcPr marL="54864" marR="54864" marT="27432" marB="27432">
                    <a:solidFill>
                      <a:srgbClr val="FFFFFF"/>
                    </a:solidFill>
                  </a:tcPr>
                </a:tc>
                <a:tc>
                  <a:txBody>
                    <a:bodyPr/>
                    <a:lstStyle/>
                    <a:p>
                      <a:pPr>
                        <a:defRPr sz="1200" b="0">
                          <a:solidFill>
                            <a:srgbClr val="1A1A1A"/>
                          </a:solidFill>
                        </a:defRPr>
                      </a:pPr>
                      <a:r>
                        <a:t>20/20</a:t>
                      </a:r>
                    </a:p>
                  </a:txBody>
                  <a:tcPr marL="54864" marR="54864" marT="27432" marB="27432">
                    <a:solidFill>
                      <a:srgbClr val="FFFFFF"/>
                    </a:solidFill>
                  </a:tcPr>
                </a:tc>
                <a:tc>
                  <a:txBody>
                    <a:bodyPr/>
                    <a:lstStyle/>
                    <a:p>
                      <a:pPr>
                        <a:defRPr sz="1200" b="0">
                          <a:solidFill>
                            <a:srgbClr val="1A1A1A"/>
                          </a:solidFill>
                        </a:defRPr>
                      </a:pPr>
                      <a:r>
                        <a:t>2.5 / 4</a:t>
                      </a:r>
                    </a:p>
                  </a:txBody>
                  <a:tcPr marL="54864" marR="54864" marT="27432" marB="27432">
                    <a:solidFill>
                      <a:srgbClr val="FFFFFF"/>
                    </a:solidFill>
                  </a:tcPr>
                </a:tc>
                <a:tc>
                  <a:txBody>
                    <a:bodyPr/>
                    <a:lstStyle/>
                    <a:p>
                      <a:pPr>
                        <a:defRPr sz="1200" b="0">
                          <a:solidFill>
                            <a:srgbClr val="1A1A1A"/>
                          </a:solidFill>
                        </a:defRPr>
                      </a:pPr>
                      <a:r>
                        <a:t>0.348 V · 1.33 mW · −60.2 dB · 45/45</a:t>
                      </a:r>
                    </a:p>
                  </a:txBody>
                  <a:tcPr marL="54864" marR="54864" marT="27432" marB="27432">
                    <a:solidFill>
                      <a:srgbClr val="FFFFFF"/>
                    </a:solidFill>
                  </a:tcPr>
                </a:tc>
              </a:tr>
              <a:tr h="365760">
                <a:tc>
                  <a:txBody>
                    <a:bodyPr/>
                    <a:lstStyle/>
                    <a:p>
                      <a:pPr>
                        <a:defRPr sz="1200" b="0">
                          <a:solidFill>
                            <a:srgbClr val="1A1A1A"/>
                          </a:solidFill>
                        </a:defRPr>
                      </a:pPr>
                      <a:r>
                        <a:t>hd3 (12k)</a:t>
                      </a:r>
                    </a:p>
                  </a:txBody>
                  <a:tcPr marL="54864" marR="54864" marT="27432" marB="27432">
                    <a:solidFill>
                      <a:srgbClr val="F2F4F7"/>
                    </a:solidFill>
                  </a:tcPr>
                </a:tc>
                <a:tc>
                  <a:txBody>
                    <a:bodyPr/>
                    <a:lstStyle/>
                    <a:p>
                      <a:pPr>
                        <a:defRPr sz="1200" b="0">
                          <a:solidFill>
                            <a:srgbClr val="1A1A1A"/>
                          </a:solidFill>
                        </a:defRPr>
                      </a:pPr>
                      <a:r>
                        <a:t>HD3 enforced in reward</a:t>
                      </a:r>
                    </a:p>
                  </a:txBody>
                  <a:tcPr marL="54864" marR="54864" marT="27432" marB="27432">
                    <a:solidFill>
                      <a:srgbClr val="F2F4F7"/>
                    </a:solidFill>
                  </a:tcPr>
                </a:tc>
                <a:tc>
                  <a:txBody>
                    <a:bodyPr/>
                    <a:lstStyle/>
                    <a:p>
                      <a:pPr>
                        <a:defRPr sz="1200" b="0">
                          <a:solidFill>
                            <a:srgbClr val="1A1A1A"/>
                          </a:solidFill>
                        </a:defRPr>
                      </a:pPr>
                      <a:r>
                        <a:t>95.6%</a:t>
                      </a:r>
                    </a:p>
                  </a:txBody>
                  <a:tcPr marL="54864" marR="54864" marT="27432" marB="27432">
                    <a:solidFill>
                      <a:srgbClr val="F2F4F7"/>
                    </a:solidFill>
                  </a:tcPr>
                </a:tc>
                <a:tc>
                  <a:txBody>
                    <a:bodyPr/>
                    <a:lstStyle/>
                    <a:p>
                      <a:pPr>
                        <a:defRPr sz="1200" b="0">
                          <a:solidFill>
                            <a:srgbClr val="1A1A1A"/>
                          </a:solidFill>
                        </a:defRPr>
                      </a:pPr>
                      <a:r>
                        <a:t>20/20</a:t>
                      </a:r>
                    </a:p>
                  </a:txBody>
                  <a:tcPr marL="54864" marR="54864" marT="27432" marB="27432">
                    <a:solidFill>
                      <a:srgbClr val="F2F4F7"/>
                    </a:solidFill>
                  </a:tcPr>
                </a:tc>
                <a:tc>
                  <a:txBody>
                    <a:bodyPr/>
                    <a:lstStyle/>
                    <a:p>
                      <a:pPr>
                        <a:defRPr sz="1200" b="0">
                          <a:solidFill>
                            <a:srgbClr val="1A1A1A"/>
                          </a:solidFill>
                        </a:defRPr>
                      </a:pPr>
                      <a:r>
                        <a:t>2.5 / 4</a:t>
                      </a:r>
                    </a:p>
                  </a:txBody>
                  <a:tcPr marL="54864" marR="54864" marT="27432" marB="27432">
                    <a:solidFill>
                      <a:srgbClr val="F2F4F7"/>
                    </a:solidFill>
                  </a:tcPr>
                </a:tc>
                <a:tc>
                  <a:txBody>
                    <a:bodyPr/>
                    <a:lstStyle/>
                    <a:p>
                      <a:pPr>
                        <a:defRPr sz="1200" b="0">
                          <a:solidFill>
                            <a:srgbClr val="1A1A1A"/>
                          </a:solidFill>
                        </a:defRPr>
                      </a:pPr>
                      <a:r>
                        <a:t>0.335 V · 1.24 mW · −58.1 dB · 45/45</a:t>
                      </a:r>
                    </a:p>
                  </a:txBody>
                  <a:tcPr marL="54864" marR="54864" marT="27432" marB="27432">
                    <a:solidFill>
                      <a:srgbClr val="F2F4F7"/>
                    </a:solidFill>
                  </a:tcPr>
                </a:tc>
              </a:tr>
              <a:tr h="365760">
                <a:tc>
                  <a:txBody>
                    <a:bodyPr/>
                    <a:lstStyle/>
                    <a:p>
                      <a:pPr>
                        <a:defRPr sz="1200" b="0">
                          <a:solidFill>
                            <a:srgbClr val="1A1A1A"/>
                          </a:solidFill>
                        </a:defRPr>
                      </a:pPr>
                      <a:r>
                        <a:t>pvt (+8k)</a:t>
                      </a:r>
                    </a:p>
                  </a:txBody>
                  <a:tcPr marL="54864" marR="54864" marT="27432" marB="27432">
                    <a:solidFill>
                      <a:srgbClr val="FFFFFF"/>
                    </a:solidFill>
                  </a:tcPr>
                </a:tc>
                <a:tc>
                  <a:txBody>
                    <a:bodyPr/>
                    <a:lstStyle/>
                    <a:p>
                      <a:pPr>
                        <a:defRPr sz="1200" b="0">
                          <a:solidFill>
                            <a:srgbClr val="1A1A1A"/>
                          </a:solidFill>
                        </a:defRPr>
                      </a:pPr>
                      <a:r>
                        <a:t>curriculum: random corner per episode</a:t>
                      </a:r>
                    </a:p>
                  </a:txBody>
                  <a:tcPr marL="54864" marR="54864" marT="27432" marB="27432">
                    <a:solidFill>
                      <a:srgbClr val="FFFFFF"/>
                    </a:solidFill>
                  </a:tcPr>
                </a:tc>
                <a:tc>
                  <a:txBody>
                    <a:bodyPr/>
                    <a:lstStyle/>
                    <a:p>
                      <a:pPr>
                        <a:defRPr sz="1200" b="0">
                          <a:solidFill>
                            <a:srgbClr val="1A1A1A"/>
                          </a:solidFill>
                        </a:defRPr>
                      </a:pPr>
                      <a:r>
                        <a:t>95.4%</a:t>
                      </a:r>
                    </a:p>
                  </a:txBody>
                  <a:tcPr marL="54864" marR="54864" marT="27432" marB="27432">
                    <a:solidFill>
                      <a:srgbClr val="FFFFFF"/>
                    </a:solidFill>
                  </a:tcPr>
                </a:tc>
                <a:tc>
                  <a:txBody>
                    <a:bodyPr/>
                    <a:lstStyle/>
                    <a:p>
                      <a:pPr>
                        <a:defRPr sz="1200" b="0">
                          <a:solidFill>
                            <a:srgbClr val="1A1A1A"/>
                          </a:solidFill>
                        </a:defRPr>
                      </a:pPr>
                      <a:r>
                        <a:t>24/24 @ random corners</a:t>
                      </a:r>
                    </a:p>
                  </a:txBody>
                  <a:tcPr marL="54864" marR="54864" marT="27432" marB="27432">
                    <a:solidFill>
                      <a:srgbClr val="FFFFFF"/>
                    </a:solidFill>
                  </a:tcPr>
                </a:tc>
                <a:tc>
                  <a:txBody>
                    <a:bodyPr/>
                    <a:lstStyle/>
                    <a:p>
                      <a:pPr>
                        <a:defRPr sz="1200" b="0">
                          <a:solidFill>
                            <a:srgbClr val="1A1A1A"/>
                          </a:solidFill>
                        </a:defRPr>
                      </a:pPr>
                      <a:r>
                        <a:t>2 / 4</a:t>
                      </a:r>
                    </a:p>
                  </a:txBody>
                  <a:tcPr marL="54864" marR="54864" marT="27432" marB="27432">
                    <a:solidFill>
                      <a:srgbClr val="FFFFFF"/>
                    </a:solidFill>
                  </a:tcPr>
                </a:tc>
                <a:tc>
                  <a:txBody>
                    <a:bodyPr/>
                    <a:lstStyle/>
                    <a:p>
                      <a:pPr>
                        <a:defRPr sz="1200" b="0">
                          <a:solidFill>
                            <a:srgbClr val="1A1A1A"/>
                          </a:solidFill>
                        </a:defRPr>
                      </a:pPr>
                      <a:r>
                        <a:t>0.370 V · 1.12 mW · −61.9 dB · 45/45</a:t>
                      </a:r>
                    </a:p>
                  </a:txBody>
                  <a:tcPr marL="54864" marR="54864" marT="27432" marB="27432">
                    <a:solidFill>
                      <a:srgbClr val="FFFFFF"/>
                    </a:solidFill>
                  </a:tcPr>
                </a:tc>
              </a:tr>
              <a:tr h="365760">
                <a:tc>
                  <a:txBody>
                    <a:bodyPr/>
                    <a:lstStyle/>
                    <a:p>
                      <a:pPr>
                        <a:defRPr sz="1200" b="0">
                          <a:solidFill>
                            <a:srgbClr val="1A1A1A"/>
                          </a:solidFill>
                        </a:defRPr>
                      </a:pPr>
                      <a:r>
                        <a:t>eq (8k)</a:t>
                      </a:r>
                    </a:p>
                  </a:txBody>
                  <a:tcPr marL="54864" marR="54864" marT="27432" marB="27432">
                    <a:solidFill>
                      <a:srgbClr val="F2F4F7"/>
                    </a:solidFill>
                  </a:tcPr>
                </a:tc>
                <a:tc>
                  <a:txBody>
                    <a:bodyPr/>
                    <a:lstStyle/>
                    <a:p>
                      <a:pPr>
                        <a:defRPr sz="1200" b="0">
                          <a:solidFill>
                            <a:srgbClr val="1A1A1A"/>
                          </a:solidFill>
                        </a:defRPr>
                      </a:pPr>
                      <a:r>
                        <a:t>CTLE + DFE tap in the action</a:t>
                      </a:r>
                    </a:p>
                  </a:txBody>
                  <a:tcPr marL="54864" marR="54864" marT="27432" marB="27432">
                    <a:solidFill>
                      <a:srgbClr val="F2F4F7"/>
                    </a:solidFill>
                  </a:tcPr>
                </a:tc>
                <a:tc>
                  <a:txBody>
                    <a:bodyPr/>
                    <a:lstStyle/>
                    <a:p>
                      <a:pPr>
                        <a:defRPr sz="1200" b="0">
                          <a:solidFill>
                            <a:srgbClr val="1A1A1A"/>
                          </a:solidFill>
                        </a:defRPr>
                      </a:pPr>
                      <a:r>
                        <a:t>92.3%</a:t>
                      </a:r>
                    </a:p>
                  </a:txBody>
                  <a:tcPr marL="54864" marR="54864" marT="27432" marB="27432">
                    <a:solidFill>
                      <a:srgbClr val="F2F4F7"/>
                    </a:solidFill>
                  </a:tcPr>
                </a:tc>
                <a:tc>
                  <a:txBody>
                    <a:bodyPr/>
                    <a:lstStyle/>
                    <a:p>
                      <a:pPr>
                        <a:defRPr sz="1200" b="0">
                          <a:solidFill>
                            <a:srgbClr val="1A1A1A"/>
                          </a:solidFill>
                        </a:defRPr>
                      </a:pPr>
                      <a:r>
                        <a:t>20/20</a:t>
                      </a:r>
                    </a:p>
                  </a:txBody>
                  <a:tcPr marL="54864" marR="54864" marT="27432" marB="27432">
                    <a:solidFill>
                      <a:srgbClr val="F2F4F7"/>
                    </a:solidFill>
                  </a:tcPr>
                </a:tc>
                <a:tc>
                  <a:txBody>
                    <a:bodyPr/>
                    <a:lstStyle/>
                    <a:p>
                      <a:pPr>
                        <a:defRPr sz="1200" b="0">
                          <a:solidFill>
                            <a:srgbClr val="1A1A1A"/>
                          </a:solidFill>
                        </a:defRPr>
                      </a:pPr>
                      <a:r>
                        <a:t>3 / 5</a:t>
                      </a:r>
                    </a:p>
                  </a:txBody>
                  <a:tcPr marL="54864" marR="54864" marT="27432" marB="27432">
                    <a:solidFill>
                      <a:srgbClr val="F2F4F7"/>
                    </a:solidFill>
                  </a:tcPr>
                </a:tc>
                <a:tc>
                  <a:txBody>
                    <a:bodyPr/>
                    <a:lstStyle/>
                    <a:p>
                      <a:pPr>
                        <a:defRPr sz="1200" b="0">
                          <a:solidFill>
                            <a:srgbClr val="1A1A1A"/>
                          </a:solidFill>
                        </a:defRPr>
                      </a:pPr>
                      <a:r>
                        <a:t>0.325→0.355 V post-DFE · 1.36 mW · −71.6 dB · 45/45</a:t>
                      </a:r>
                    </a:p>
                  </a:txBody>
                  <a:tcPr marL="54864" marR="54864" marT="27432" marB="27432">
                    <a:solidFill>
                      <a:srgbClr val="F2F4F7"/>
                    </a:solidFill>
                  </a:tcPr>
                </a:tc>
              </a:tr>
              <a:tr h="365760">
                <a:tc>
                  <a:txBody>
                    <a:bodyPr/>
                    <a:lstStyle/>
                    <a:p>
                      <a:pPr>
                        <a:defRPr sz="1200" b="0">
                          <a:solidFill>
                            <a:srgbClr val="1A1A1A"/>
                          </a:solidFill>
                        </a:defRPr>
                      </a:pPr>
                      <a:r>
                        <a:t>gen1 (+3k)</a:t>
                      </a:r>
                    </a:p>
                  </a:txBody>
                  <a:tcPr marL="54864" marR="54864" marT="27432" marB="27432">
                    <a:solidFill>
                      <a:srgbClr val="FFFFFF"/>
                    </a:solidFill>
                  </a:tcPr>
                </a:tc>
                <a:tc>
                  <a:txBody>
                    <a:bodyPr/>
                    <a:lstStyle/>
                    <a:p>
                      <a:pPr>
                        <a:defRPr sz="1200" b="0">
                          <a:solidFill>
                            <a:srgbClr val="1A1A1A"/>
                          </a:solidFill>
                        </a:defRPr>
                      </a:pPr>
                      <a:r>
                        <a:t>retuned to 1.25 GHz Nyquist</a:t>
                      </a:r>
                    </a:p>
                  </a:txBody>
                  <a:tcPr marL="54864" marR="54864" marT="27432" marB="27432">
                    <a:solidFill>
                      <a:srgbClr val="FFFFFF"/>
                    </a:solidFill>
                  </a:tcPr>
                </a:tc>
                <a:tc>
                  <a:txBody>
                    <a:bodyPr/>
                    <a:lstStyle/>
                    <a:p>
                      <a:pPr>
                        <a:defRPr sz="1200" b="0">
                          <a:solidFill>
                            <a:srgbClr val="1A1A1A"/>
                          </a:solidFill>
                        </a:defRPr>
                      </a:pPr>
                      <a:r>
                        <a:t>96.5%</a:t>
                      </a:r>
                    </a:p>
                  </a:txBody>
                  <a:tcPr marL="54864" marR="54864" marT="27432" marB="27432">
                    <a:solidFill>
                      <a:srgbClr val="FFFFFF"/>
                    </a:solidFill>
                  </a:tcPr>
                </a:tc>
                <a:tc>
                  <a:txBody>
                    <a:bodyPr/>
                    <a:lstStyle/>
                    <a:p>
                      <a:pPr>
                        <a:defRPr sz="1200" b="0">
                          <a:solidFill>
                            <a:srgbClr val="1A1A1A"/>
                          </a:solidFill>
                        </a:defRPr>
                      </a:pPr>
                      <a:r>
                        <a:t>20/20</a:t>
                      </a:r>
                    </a:p>
                  </a:txBody>
                  <a:tcPr marL="54864" marR="54864" marT="27432" marB="27432">
                    <a:solidFill>
                      <a:srgbClr val="FFFFFF"/>
                    </a:solidFill>
                  </a:tcPr>
                </a:tc>
                <a:tc>
                  <a:txBody>
                    <a:bodyPr/>
                    <a:lstStyle/>
                    <a:p>
                      <a:pPr>
                        <a:defRPr sz="1200" b="0">
                          <a:solidFill>
                            <a:srgbClr val="1A1A1A"/>
                          </a:solidFill>
                        </a:defRPr>
                      </a:pPr>
                      <a:r>
                        <a:t>2 / 5</a:t>
                      </a:r>
                    </a:p>
                  </a:txBody>
                  <a:tcPr marL="54864" marR="54864" marT="27432" marB="27432">
                    <a:solidFill>
                      <a:srgbClr val="FFFFFF"/>
                    </a:solidFill>
                  </a:tcPr>
                </a:tc>
                <a:tc>
                  <a:txBody>
                    <a:bodyPr/>
                    <a:lstStyle/>
                    <a:p>
                      <a:pPr>
                        <a:defRPr sz="1200" b="0">
                          <a:solidFill>
                            <a:srgbClr val="1A1A1A"/>
                          </a:solidFill>
                        </a:defRPr>
                      </a:pPr>
                      <a:r>
                        <a:t>5.23 dB @ 1.25 GHz · 0.350 V · 1.28 mW · 45/45</a:t>
                      </a:r>
                    </a:p>
                  </a:txBody>
                  <a:tcPr marL="54864" marR="54864" marT="27432" marB="27432">
                    <a:solidFill>
                      <a:srgbClr val="FFFFFF"/>
                    </a:solidFill>
                  </a:tcPr>
                </a:tc>
              </a:tr>
            </a:tbl>
          </a:graphicData>
        </a:graphic>
      </p:graphicFrame>
      <p:sp>
        <p:nvSpPr>
          <p:cNvPr id="7" name="TextBox 6"/>
          <p:cNvSpPr txBox="1"/>
          <p:nvPr/>
        </p:nvSpPr>
        <p:spPr>
          <a:xfrm>
            <a:off x="457200" y="5120640"/>
            <a:ext cx="11247120" cy="548640"/>
          </a:xfrm>
          <a:prstGeom prst="rect">
            <a:avLst/>
          </a:prstGeom>
          <a:noFill/>
        </p:spPr>
        <p:txBody>
          <a:bodyPr wrap="square">
            <a:spAutoFit/>
          </a:bodyPr>
          <a:lstStyle/>
          <a:p>
            <a:pPr>
              <a:defRPr sz="1400" b="1">
                <a:solidFill>
                  <a:srgbClr val="163A6B"/>
                </a:solidFill>
              </a:defRPr>
            </a:pPr>
            <a:r>
              <a:t>Three seeds: 60/60 rollouts feasible · 2.53 ± 0.06 steps to feasibility · eye 0.330 ± 0.014 V · power 1.26 ± 0.05 mW · HD3 −58.6 ± 1.2 dB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Versus random search and CMA-ES: the win is amortisation</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8</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pic>
        <p:nvPicPr>
          <p:cNvPr id="6" name="Picture 5" descr="budget_curve.png"/>
          <p:cNvPicPr>
            <a:picLocks noChangeAspect="1"/>
          </p:cNvPicPr>
          <p:nvPr/>
        </p:nvPicPr>
        <p:blipFill>
          <a:blip r:embed="rId3"/>
          <a:stretch>
            <a:fillRect/>
          </a:stretch>
        </p:blipFill>
        <p:spPr>
          <a:xfrm>
            <a:off x="365760" y="1280160"/>
            <a:ext cx="5760720" cy="3291840"/>
          </a:xfrm>
          <a:prstGeom prst="rect">
            <a:avLst/>
          </a:prstGeom>
        </p:spPr>
      </p:pic>
      <p:graphicFrame>
        <p:nvGraphicFramePr>
          <p:cNvPr id="7" name="Table 6"/>
          <p:cNvGraphicFramePr>
            <a:graphicFrameLocks noGrp="1"/>
          </p:cNvGraphicFramePr>
          <p:nvPr/>
        </p:nvGraphicFramePr>
        <p:xfrm>
          <a:off x="6309360" y="1371600"/>
          <a:ext cx="5577840" cy="1828800"/>
        </p:xfrm>
        <a:graphic>
          <a:graphicData uri="http://schemas.openxmlformats.org/drawingml/2006/table">
            <a:tbl>
              <a:tblPr firstRow="1" bandRow="1">
                <a:tableStyleId>{5C22544A-7EE6-4342-B048-85BDC9FD1C3A}</a:tableStyleId>
              </a:tblPr>
              <a:tblGrid>
                <a:gridCol w="1920240"/>
                <a:gridCol w="1371600"/>
                <a:gridCol w="1188720"/>
                <a:gridCol w="1097280"/>
              </a:tblGrid>
              <a:tr h="365760">
                <a:tc>
                  <a:txBody>
                    <a:bodyPr/>
                    <a:lstStyle/>
                    <a:p>
                      <a:pPr>
                        <a:defRPr sz="1100" b="1">
                          <a:solidFill>
                            <a:srgbClr val="FFFFFF"/>
                          </a:solidFill>
                        </a:defRPr>
                      </a:pPr>
                      <a:r>
                        <a:t>Method (random starts)</a:t>
                      </a:r>
                    </a:p>
                  </a:txBody>
                  <a:tcPr marL="54864" marR="54864" marT="27432" marB="27432">
                    <a:solidFill>
                      <a:srgbClr val="2B5797"/>
                    </a:solidFill>
                  </a:tcPr>
                </a:tc>
                <a:tc>
                  <a:txBody>
                    <a:bodyPr/>
                    <a:lstStyle/>
                    <a:p>
                      <a:pPr>
                        <a:defRPr sz="1100" b="1">
                          <a:solidFill>
                            <a:srgbClr val="FFFFFF"/>
                          </a:solidFill>
                        </a:defRPr>
                      </a:pPr>
                      <a:r>
                        <a:t>First feasible (med / worst)</a:t>
                      </a:r>
                    </a:p>
                  </a:txBody>
                  <a:tcPr marL="54864" marR="54864" marT="27432" marB="27432">
                    <a:solidFill>
                      <a:srgbClr val="2B5797"/>
                    </a:solidFill>
                  </a:tcPr>
                </a:tc>
                <a:tc>
                  <a:txBody>
                    <a:bodyPr/>
                    <a:lstStyle/>
                    <a:p>
                      <a:pPr>
                        <a:defRPr sz="1100" b="1">
                          <a:solidFill>
                            <a:srgbClr val="FFFFFF"/>
                          </a:solidFill>
                        </a:defRPr>
                      </a:pPr>
                      <a:r>
                        <a:t>Best @ 50 sims</a:t>
                      </a:r>
                    </a:p>
                  </a:txBody>
                  <a:tcPr marL="54864" marR="54864" marT="27432" marB="27432">
                    <a:solidFill>
                      <a:srgbClr val="2B5797"/>
                    </a:solidFill>
                  </a:tcPr>
                </a:tc>
                <a:tc>
                  <a:txBody>
                    <a:bodyPr/>
                    <a:lstStyle/>
                    <a:p>
                      <a:pPr>
                        <a:defRPr sz="1100" b="1">
                          <a:solidFill>
                            <a:srgbClr val="FFFFFF"/>
                          </a:solidFill>
                        </a:defRPr>
                      </a:pPr>
                      <a:r>
                        <a:t>Per new instance</a:t>
                      </a:r>
                    </a:p>
                  </a:txBody>
                  <a:tcPr marL="54864" marR="54864" marT="27432" marB="27432">
                    <a:solidFill>
                      <a:srgbClr val="2B5797"/>
                    </a:solidFill>
                  </a:tcPr>
                </a:tc>
              </a:tr>
              <a:tr h="365760">
                <a:tc>
                  <a:txBody>
                    <a:bodyPr/>
                    <a:lstStyle/>
                    <a:p>
                      <a:pPr>
                        <a:defRPr sz="1100" b="0">
                          <a:solidFill>
                            <a:srgbClr val="1A1A1A"/>
                          </a:solidFill>
                        </a:defRPr>
                      </a:pPr>
                      <a:r>
                        <a:t>SAC policy (144 rollouts)</a:t>
                      </a:r>
                    </a:p>
                  </a:txBody>
                  <a:tcPr marL="54864" marR="54864" marT="27432" marB="27432">
                    <a:solidFill>
                      <a:srgbClr val="FFFFFF"/>
                    </a:solidFill>
                  </a:tcPr>
                </a:tc>
                <a:tc>
                  <a:txBody>
                    <a:bodyPr/>
                    <a:lstStyle/>
                    <a:p>
                      <a:pPr>
                        <a:defRPr sz="1100" b="0">
                          <a:solidFill>
                            <a:srgbClr val="1A1A1A"/>
                          </a:solidFill>
                        </a:defRPr>
                      </a:pPr>
                      <a:r>
                        <a:t>2–3 / 5</a:t>
                      </a:r>
                    </a:p>
                  </a:txBody>
                  <a:tcPr marL="54864" marR="54864" marT="27432" marB="27432">
                    <a:solidFill>
                      <a:srgbClr val="FFFFFF"/>
                    </a:solidFill>
                  </a:tcPr>
                </a:tc>
                <a:tc>
                  <a:txBody>
                    <a:bodyPr/>
                    <a:lstStyle/>
                    <a:p>
                      <a:pPr>
                        <a:defRPr sz="1100" b="0">
                          <a:solidFill>
                            <a:srgbClr val="1A1A1A"/>
                          </a:solidFill>
                        </a:defRPr>
                      </a:pPr>
                      <a:r>
                        <a:t>20.5–20.8</a:t>
                      </a:r>
                    </a:p>
                  </a:txBody>
                  <a:tcPr marL="54864" marR="54864" marT="27432" marB="27432">
                    <a:solidFill>
                      <a:srgbClr val="FFFFFF"/>
                    </a:solidFill>
                  </a:tcPr>
                </a:tc>
                <a:tc>
                  <a:txBody>
                    <a:bodyPr/>
                    <a:lstStyle/>
                    <a:p>
                      <a:pPr>
                        <a:defRPr sz="1100" b="0">
                          <a:solidFill>
                            <a:srgbClr val="1A1A1A"/>
                          </a:solidFill>
                        </a:defRPr>
                      </a:pPr>
                      <a:r>
                        <a:t>2–3 sims, no search</a:t>
                      </a:r>
                    </a:p>
                  </a:txBody>
                  <a:tcPr marL="54864" marR="54864" marT="27432" marB="27432">
                    <a:solidFill>
                      <a:srgbClr val="FFFFFF"/>
                    </a:solidFill>
                  </a:tcPr>
                </a:tc>
              </a:tr>
              <a:tr h="365760">
                <a:tc>
                  <a:txBody>
                    <a:bodyPr/>
                    <a:lstStyle/>
                    <a:p>
                      <a:pPr>
                        <a:defRPr sz="1100" b="0">
                          <a:solidFill>
                            <a:srgbClr val="1A1A1A"/>
                          </a:solidFill>
                        </a:defRPr>
                      </a:pPr>
                      <a:r>
                        <a:t>CMA-ES, random start</a:t>
                      </a:r>
                    </a:p>
                  </a:txBody>
                  <a:tcPr marL="54864" marR="54864" marT="27432" marB="27432">
                    <a:solidFill>
                      <a:srgbClr val="F2F4F7"/>
                    </a:solidFill>
                  </a:tcPr>
                </a:tc>
                <a:tc>
                  <a:txBody>
                    <a:bodyPr/>
                    <a:lstStyle/>
                    <a:p>
                      <a:pPr>
                        <a:defRPr sz="1100" b="0">
                          <a:solidFill>
                            <a:srgbClr val="1A1A1A"/>
                          </a:solidFill>
                        </a:defRPr>
                      </a:pPr>
                      <a:r>
                        <a:t>9 / 24</a:t>
                      </a:r>
                    </a:p>
                  </a:txBody>
                  <a:tcPr marL="54864" marR="54864" marT="27432" marB="27432">
                    <a:solidFill>
                      <a:srgbClr val="F2F4F7"/>
                    </a:solidFill>
                  </a:tcPr>
                </a:tc>
                <a:tc>
                  <a:txBody>
                    <a:bodyPr/>
                    <a:lstStyle/>
                    <a:p>
                      <a:pPr>
                        <a:defRPr sz="1100" b="0">
                          <a:solidFill>
                            <a:srgbClr val="1A1A1A"/>
                          </a:solidFill>
                        </a:defRPr>
                      </a:pPr>
                      <a:r>
                        <a:t>20.50</a:t>
                      </a:r>
                    </a:p>
                  </a:txBody>
                  <a:tcPr marL="54864" marR="54864" marT="27432" marB="27432">
                    <a:solidFill>
                      <a:srgbClr val="F2F4F7"/>
                    </a:solidFill>
                  </a:tcPr>
                </a:tc>
                <a:tc>
                  <a:txBody>
                    <a:bodyPr/>
                    <a:lstStyle/>
                    <a:p>
                      <a:pPr>
                        <a:defRPr sz="1100" b="0">
                          <a:solidFill>
                            <a:srgbClr val="1A1A1A"/>
                          </a:solidFill>
                        </a:defRPr>
                      </a:pPr>
                      <a:r>
                        <a:t>~10 to feasible, 400 to refine</a:t>
                      </a:r>
                    </a:p>
                  </a:txBody>
                  <a:tcPr marL="54864" marR="54864" marT="27432" marB="27432">
                    <a:solidFill>
                      <a:srgbClr val="F2F4F7"/>
                    </a:solidFill>
                  </a:tcPr>
                </a:tc>
              </a:tr>
              <a:tr h="365760">
                <a:tc>
                  <a:txBody>
                    <a:bodyPr/>
                    <a:lstStyle/>
                    <a:p>
                      <a:pPr>
                        <a:defRPr sz="1100" b="0">
                          <a:solidFill>
                            <a:srgbClr val="1A1A1A"/>
                          </a:solidFill>
                        </a:defRPr>
                      </a:pPr>
                      <a:r>
                        <a:t>CMA-ES, box centre</a:t>
                      </a:r>
                    </a:p>
                  </a:txBody>
                  <a:tcPr marL="54864" marR="54864" marT="27432" marB="27432">
                    <a:solidFill>
                      <a:srgbClr val="FFFFFF"/>
                    </a:solidFill>
                  </a:tcPr>
                </a:tc>
                <a:tc>
                  <a:txBody>
                    <a:bodyPr/>
                    <a:lstStyle/>
                    <a:p>
                      <a:pPr>
                        <a:defRPr sz="1100" b="0">
                          <a:solidFill>
                            <a:srgbClr val="1A1A1A"/>
                          </a:solidFill>
                        </a:defRPr>
                      </a:pPr>
                      <a:r>
                        <a:t>2–5</a:t>
                      </a:r>
                    </a:p>
                  </a:txBody>
                  <a:tcPr marL="54864" marR="54864" marT="27432" marB="27432">
                    <a:solidFill>
                      <a:srgbClr val="FFFFFF"/>
                    </a:solidFill>
                  </a:tcPr>
                </a:tc>
                <a:tc>
                  <a:txBody>
                    <a:bodyPr/>
                    <a:lstStyle/>
                    <a:p>
                      <a:pPr>
                        <a:defRPr sz="1100" b="0">
                          <a:solidFill>
                            <a:srgbClr val="1A1A1A"/>
                          </a:solidFill>
                        </a:defRPr>
                      </a:pPr>
                      <a:r>
                        <a:t>20.8–21.1 (21.3 @ 400)</a:t>
                      </a:r>
                    </a:p>
                  </a:txBody>
                  <a:tcPr marL="54864" marR="54864" marT="27432" marB="27432">
                    <a:solidFill>
                      <a:srgbClr val="FFFFFF"/>
                    </a:solidFill>
                  </a:tcPr>
                </a:tc>
                <a:tc>
                  <a:txBody>
                    <a:bodyPr/>
                    <a:lstStyle/>
                    <a:p>
                      <a:pPr>
                        <a:defRPr sz="1100" b="0">
                          <a:solidFill>
                            <a:srgbClr val="1A1A1A"/>
                          </a:solidFill>
                        </a:defRPr>
                      </a:pPr>
                      <a:r>
                        <a:t>400 per design</a:t>
                      </a:r>
                    </a:p>
                  </a:txBody>
                  <a:tcPr marL="54864" marR="54864" marT="27432" marB="27432">
                    <a:solidFill>
                      <a:srgbClr val="FFFFFF"/>
                    </a:solidFill>
                  </a:tcPr>
                </a:tc>
              </a:tr>
              <a:tr h="365760">
                <a:tc>
                  <a:txBody>
                    <a:bodyPr/>
                    <a:lstStyle/>
                    <a:p>
                      <a:pPr>
                        <a:defRPr sz="1100" b="0">
                          <a:solidFill>
                            <a:srgbClr val="1A1A1A"/>
                          </a:solidFill>
                        </a:defRPr>
                      </a:pPr>
                      <a:r>
                        <a:t>Random search</a:t>
                      </a:r>
                    </a:p>
                  </a:txBody>
                  <a:tcPr marL="54864" marR="54864" marT="27432" marB="27432">
                    <a:solidFill>
                      <a:srgbClr val="F2F4F7"/>
                    </a:solidFill>
                  </a:tcPr>
                </a:tc>
                <a:tc>
                  <a:txBody>
                    <a:bodyPr/>
                    <a:lstStyle/>
                    <a:p>
                      <a:pPr>
                        <a:defRPr sz="1100" b="0">
                          <a:solidFill>
                            <a:srgbClr val="1A1A1A"/>
                          </a:solidFill>
                        </a:defRPr>
                      </a:pPr>
                      <a:r>
                        <a:t>27</a:t>
                      </a:r>
                    </a:p>
                  </a:txBody>
                  <a:tcPr marL="54864" marR="54864" marT="27432" marB="27432">
                    <a:solidFill>
                      <a:srgbClr val="F2F4F7"/>
                    </a:solidFill>
                  </a:tcPr>
                </a:tc>
                <a:tc>
                  <a:txBody>
                    <a:bodyPr/>
                    <a:lstStyle/>
                    <a:p>
                      <a:pPr>
                        <a:defRPr sz="1100" b="0">
                          <a:solidFill>
                            <a:srgbClr val="1A1A1A"/>
                          </a:solidFill>
                        </a:defRPr>
                      </a:pPr>
                      <a:r>
                        <a:t>19.65</a:t>
                      </a:r>
                    </a:p>
                  </a:txBody>
                  <a:tcPr marL="54864" marR="54864" marT="27432" marB="27432">
                    <a:solidFill>
                      <a:srgbClr val="F2F4F7"/>
                    </a:solidFill>
                  </a:tcPr>
                </a:tc>
                <a:tc>
                  <a:txBody>
                    <a:bodyPr/>
                    <a:lstStyle/>
                    <a:p>
                      <a:pPr>
                        <a:defRPr sz="1100" b="0">
                          <a:solidFill>
                            <a:srgbClr val="1A1A1A"/>
                          </a:solidFill>
                        </a:defRPr>
                      </a:pPr>
                      <a:r>
                        <a:t>~13 per feasible design</a:t>
                      </a:r>
                    </a:p>
                  </a:txBody>
                  <a:tcPr marL="54864" marR="54864" marT="27432" marB="27432">
                    <a:solidFill>
                      <a:srgbClr val="F2F4F7"/>
                    </a:solidFill>
                  </a:tcPr>
                </a:tc>
              </a:tr>
            </a:tbl>
          </a:graphicData>
        </a:graphic>
      </p:graphicFrame>
      <p:sp>
        <p:nvSpPr>
          <p:cNvPr id="8" name="TextBox 7"/>
          <p:cNvSpPr txBox="1"/>
          <p:nvPr/>
        </p:nvSpPr>
        <p:spPr>
          <a:xfrm>
            <a:off x="6309360" y="3931920"/>
            <a:ext cx="5669280" cy="2286000"/>
          </a:xfrm>
          <a:prstGeom prst="rect">
            <a:avLst/>
          </a:prstGeom>
          <a:noFill/>
        </p:spPr>
        <p:txBody>
          <a:bodyPr wrap="square">
            <a:spAutoFit/>
          </a:bodyPr>
          <a:lstStyle/>
          <a:p>
            <a:pPr>
              <a:spcAft>
                <a:spcPts val="600"/>
              </a:spcAft>
              <a:defRPr sz="1300">
                <a:solidFill>
                  <a:srgbClr val="1A1A1A"/>
                </a:solidFill>
              </a:defRPr>
            </a:pPr>
            <a:r>
              <a:t>•  Policy: 3–4× fewer simulations than CMA-ES from the same starts, ~10× fewer than random</a:t>
            </a:r>
          </a:p>
          <a:p>
            <a:pPr>
              <a:spcAft>
                <a:spcPts val="600"/>
              </a:spcAft>
              <a:defRPr sz="1300">
                <a:solidFill>
                  <a:srgbClr val="1A1A1A"/>
                </a:solidFill>
              </a:defRPr>
            </a:pPr>
            <a:r>
              <a:t>•  CMA-ES matches the policy's training-best quality at 400 sims per design — stated honestly</a:t>
            </a:r>
          </a:p>
          <a:p>
            <a:pPr>
              <a:spcAft>
                <a:spcPts val="600"/>
              </a:spcAft>
              <a:defRPr sz="1300">
                <a:solidFill>
                  <a:srgbClr val="1A1A1A"/>
                </a:solidFill>
              </a:defRPr>
            </a:pPr>
            <a:r>
              <a:t>•  Bounded AC-only search (pre-ML) never reaches the eye spec: 0.160 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Eye after the −10 dB channel: AC-only search vs. the policy</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9</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pic>
        <p:nvPicPr>
          <p:cNvPr id="6" name="Picture 5" descr="eye_diagram_preml.png"/>
          <p:cNvPicPr>
            <a:picLocks noChangeAspect="1"/>
          </p:cNvPicPr>
          <p:nvPr/>
        </p:nvPicPr>
        <p:blipFill>
          <a:blip r:embed="rId3"/>
          <a:stretch>
            <a:fillRect/>
          </a:stretch>
        </p:blipFill>
        <p:spPr>
          <a:xfrm>
            <a:off x="365760" y="1371600"/>
            <a:ext cx="5669280" cy="4049486"/>
          </a:xfrm>
          <a:prstGeom prst="rect">
            <a:avLst/>
          </a:prstGeom>
        </p:spPr>
      </p:pic>
      <p:pic>
        <p:nvPicPr>
          <p:cNvPr id="7" name="Picture 6" descr="eye_diagram.png"/>
          <p:cNvPicPr>
            <a:picLocks noChangeAspect="1"/>
          </p:cNvPicPr>
          <p:nvPr/>
        </p:nvPicPr>
        <p:blipFill>
          <a:blip r:embed="rId4"/>
          <a:stretch>
            <a:fillRect/>
          </a:stretch>
        </p:blipFill>
        <p:spPr>
          <a:xfrm>
            <a:off x="6217920" y="1371600"/>
            <a:ext cx="5669280" cy="4049486"/>
          </a:xfrm>
          <a:prstGeom prst="rect">
            <a:avLst/>
          </a:prstGeom>
        </p:spPr>
      </p:pic>
      <p:sp>
        <p:nvSpPr>
          <p:cNvPr id="8" name="TextBox 7"/>
          <p:cNvSpPr txBox="1"/>
          <p:nvPr/>
        </p:nvSpPr>
        <p:spPr>
          <a:xfrm>
            <a:off x="457200" y="5212080"/>
            <a:ext cx="5486400" cy="457200"/>
          </a:xfrm>
          <a:prstGeom prst="rect">
            <a:avLst/>
          </a:prstGeom>
          <a:noFill/>
        </p:spPr>
        <p:txBody>
          <a:bodyPr wrap="square">
            <a:spAutoFit/>
          </a:bodyPr>
          <a:lstStyle/>
          <a:p>
            <a:pPr>
              <a:defRPr sz="1500" b="1">
                <a:solidFill>
                  <a:srgbClr val="B42318"/>
                </a:solidFill>
              </a:defRPr>
            </a:pPr>
            <a:r>
              <a:t>Bounded search, AC gate only: 0.160 V / 0.58 UI  —  fails</a:t>
            </a:r>
          </a:p>
        </p:txBody>
      </p:sp>
      <p:sp>
        <p:nvSpPr>
          <p:cNvPr id="9" name="TextBox 8"/>
          <p:cNvSpPr txBox="1"/>
          <p:nvPr/>
        </p:nvSpPr>
        <p:spPr>
          <a:xfrm>
            <a:off x="6309360" y="5212080"/>
            <a:ext cx="5486400" cy="457200"/>
          </a:xfrm>
          <a:prstGeom prst="rect">
            <a:avLst/>
          </a:prstGeom>
          <a:noFill/>
        </p:spPr>
        <p:txBody>
          <a:bodyPr wrap="square">
            <a:spAutoFit/>
          </a:bodyPr>
          <a:lstStyle/>
          <a:p>
            <a:pPr>
              <a:defRPr sz="1500" b="1">
                <a:solidFill>
                  <a:srgbClr val="1A7F37"/>
                </a:solidFill>
              </a:defRPr>
            </a:pPr>
            <a:r>
              <a:t>SAC policy (seed 1): 0.327 V / 0.88 UI  —  passes with margin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Curriculum across 45 PVT corners</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10</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pic>
        <p:nvPicPr>
          <p:cNvPr id="6" name="Picture 5" descr="pvt_peaking.png"/>
          <p:cNvPicPr>
            <a:picLocks noChangeAspect="1"/>
          </p:cNvPicPr>
          <p:nvPr/>
        </p:nvPicPr>
        <p:blipFill>
          <a:blip r:embed="rId3"/>
          <a:stretch>
            <a:fillRect/>
          </a:stretch>
        </p:blipFill>
        <p:spPr>
          <a:xfrm>
            <a:off x="365760" y="1280160"/>
            <a:ext cx="7680960" cy="3520440"/>
          </a:xfrm>
          <a:prstGeom prst="rect">
            <a:avLst/>
          </a:prstGeom>
        </p:spPr>
      </p:pic>
      <p:sp>
        <p:nvSpPr>
          <p:cNvPr id="7" name="Rounded Rectangle 6"/>
          <p:cNvSpPr/>
          <p:nvPr/>
        </p:nvSpPr>
        <p:spPr>
          <a:xfrm>
            <a:off x="8412480" y="1463040"/>
            <a:ext cx="338328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63A6B"/>
                </a:solidFill>
              </a:defRPr>
            </a:pPr>
            <a:r>
              <a:t>24 / 24</a:t>
            </a:r>
          </a:p>
          <a:p>
            <a:pPr algn="ctr">
              <a:defRPr sz="1200">
                <a:solidFill>
                  <a:srgbClr val="555B66"/>
                </a:solidFill>
              </a:defRPr>
            </a:pPr>
            <a:r>
              <a:t>rollouts feasible at random corners</a:t>
            </a:r>
          </a:p>
        </p:txBody>
      </p:sp>
      <p:sp>
        <p:nvSpPr>
          <p:cNvPr id="8" name="Rounded Rectangle 7"/>
          <p:cNvSpPr/>
          <p:nvPr/>
        </p:nvSpPr>
        <p:spPr>
          <a:xfrm>
            <a:off x="8412480" y="3017520"/>
            <a:ext cx="338328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63A6B"/>
                </a:solidFill>
              </a:defRPr>
            </a:pPr>
            <a:r>
              <a:t>45 / 45</a:t>
            </a:r>
          </a:p>
          <a:p>
            <a:pPr algn="ctr">
              <a:defRPr sz="1200">
                <a:solidFill>
                  <a:srgbClr val="555B66"/>
                </a:solidFill>
              </a:defRPr>
            </a:pPr>
            <a:r>
              <a:t>corners pass, best design</a:t>
            </a:r>
          </a:p>
        </p:txBody>
      </p:sp>
      <p:sp>
        <p:nvSpPr>
          <p:cNvPr id="9" name="Rounded Rectangle 8"/>
          <p:cNvSpPr/>
          <p:nvPr/>
        </p:nvSpPr>
        <p:spPr>
          <a:xfrm>
            <a:off x="8412480" y="4572000"/>
            <a:ext cx="338328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63A6B"/>
                </a:solidFill>
              </a:defRPr>
            </a:pPr>
            <a:r>
              <a:t>2 steps</a:t>
            </a:r>
          </a:p>
          <a:p>
            <a:pPr algn="ctr">
              <a:defRPr sz="1200">
                <a:solidFill>
                  <a:srgbClr val="555B66"/>
                </a:solidFill>
              </a:defRPr>
            </a:pPr>
            <a:r>
              <a:t>median to feasibility</a:t>
            </a:r>
          </a:p>
        </p:txBody>
      </p:sp>
      <p:sp>
        <p:nvSpPr>
          <p:cNvPr id="10" name="TextBox 9"/>
          <p:cNvSpPr txBox="1"/>
          <p:nvPr/>
        </p:nvSpPr>
        <p:spPr>
          <a:xfrm>
            <a:off x="457200" y="5120640"/>
            <a:ext cx="7680960" cy="457200"/>
          </a:xfrm>
          <a:prstGeom prst="rect">
            <a:avLst/>
          </a:prstGeom>
          <a:noFill/>
        </p:spPr>
        <p:txBody>
          <a:bodyPr wrap="square">
            <a:spAutoFit/>
          </a:bodyPr>
          <a:lstStyle/>
          <a:p>
            <a:pPr>
              <a:defRPr sz="1300" b="0">
                <a:solidFill>
                  <a:srgbClr val="555B66"/>
                </a:solidFill>
              </a:defRPr>
            </a:pPr>
            <a:r>
              <a:t>Per process corner during training: SS 97% · FS 96% · FF 95% · TT 95% · SF 94%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Specs in → schematic out: tunable Nyquist and the DFE tap</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11</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sp>
        <p:nvSpPr>
          <p:cNvPr id="6" name="TextBox 5"/>
          <p:cNvSpPr txBox="1"/>
          <p:nvPr/>
        </p:nvSpPr>
        <p:spPr>
          <a:xfrm>
            <a:off x="457200" y="1280160"/>
            <a:ext cx="5486400" cy="457200"/>
          </a:xfrm>
          <a:prstGeom prst="rect">
            <a:avLst/>
          </a:prstGeom>
          <a:noFill/>
        </p:spPr>
        <p:txBody>
          <a:bodyPr wrap="square">
            <a:spAutoFit/>
          </a:bodyPr>
          <a:lstStyle/>
          <a:p>
            <a:pPr>
              <a:defRPr sz="2000" b="1">
                <a:solidFill>
                  <a:srgbClr val="163A6B"/>
                </a:solidFill>
              </a:defRPr>
            </a:pPr>
            <a:r>
              <a:t>Tunable Nyquist frequency</a:t>
            </a:r>
          </a:p>
        </p:txBody>
      </p:sp>
      <p:sp>
        <p:nvSpPr>
          <p:cNvPr id="7" name="TextBox 6"/>
          <p:cNvSpPr txBox="1"/>
          <p:nvPr/>
        </p:nvSpPr>
        <p:spPr>
          <a:xfrm>
            <a:off x="457200" y="1828800"/>
            <a:ext cx="5669280" cy="4114800"/>
          </a:xfrm>
          <a:prstGeom prst="rect">
            <a:avLst/>
          </a:prstGeom>
          <a:noFill/>
        </p:spPr>
        <p:txBody>
          <a:bodyPr wrap="square">
            <a:spAutoFit/>
          </a:bodyPr>
          <a:lstStyle/>
          <a:p>
            <a:pPr>
              <a:spcAft>
                <a:spcPts val="600"/>
              </a:spcAft>
              <a:defRPr sz="1400">
                <a:solidFill>
                  <a:srgbClr val="1A1A1A"/>
                </a:solidFill>
              </a:defRPr>
            </a:pPr>
            <a:r>
              <a:t>•  --spec nyquist_frequency_hz=1.25e9 → PCIe Gen 1 (2.5 Gbps): re-derives measurement frequency, UI, transient step, channel pole</a:t>
            </a:r>
          </a:p>
          <a:p>
            <a:pPr>
              <a:spcAft>
                <a:spcPts val="600"/>
              </a:spcAft>
              <a:defRPr sz="1400">
                <a:solidFill>
                  <a:srgbClr val="1A1A1A"/>
                </a:solidFill>
              </a:defRPr>
            </a:pPr>
            <a:r>
              <a:t>•  2.5 GHz design at 1.25 GHz: 2.87 dB — fails</a:t>
            </a:r>
          </a:p>
          <a:p>
            <a:pPr>
              <a:spcAft>
                <a:spcPts val="600"/>
              </a:spcAft>
              <a:defRPr sz="1400">
                <a:solidFill>
                  <a:srgbClr val="1A1A1A"/>
                </a:solidFill>
              </a:defRPr>
            </a:pPr>
            <a:r>
              <a:t>•  Resume policy, 3k steps: 96.5% feasible, 20/20 rollouts, median 2 steps</a:t>
            </a:r>
          </a:p>
          <a:p>
            <a:pPr>
              <a:spcAft>
                <a:spcPts val="600"/>
              </a:spcAft>
              <a:defRPr sz="1400">
                <a:solidFill>
                  <a:srgbClr val="1A1A1A"/>
                </a:solidFill>
              </a:defRPr>
            </a:pPr>
            <a:r>
              <a:t>•  Best design: 5.23 dB @ 1.25 GHz, 0.350 V / 0.94 UI, 1.28 mW, HD3 −70.9 dB, 45/45</a:t>
            </a:r>
          </a:p>
          <a:p>
            <a:pPr>
              <a:spcAft>
                <a:spcPts val="600"/>
              </a:spcAft>
              <a:defRPr sz="1400">
                <a:solidFill>
                  <a:srgbClr val="1A1A1A"/>
                </a:solidFill>
              </a:defRPr>
            </a:pPr>
            <a:r>
              <a:t>•  R_s 182 → 365 Ω, C_s 522 → 503 fF: the zero moves down in frequency</a:t>
            </a:r>
          </a:p>
        </p:txBody>
      </p:sp>
      <p:sp>
        <p:nvSpPr>
          <p:cNvPr id="8" name="TextBox 7"/>
          <p:cNvSpPr txBox="1"/>
          <p:nvPr/>
        </p:nvSpPr>
        <p:spPr>
          <a:xfrm>
            <a:off x="6309360" y="1280160"/>
            <a:ext cx="5486400" cy="457200"/>
          </a:xfrm>
          <a:prstGeom prst="rect">
            <a:avLst/>
          </a:prstGeom>
          <a:noFill/>
        </p:spPr>
        <p:txBody>
          <a:bodyPr wrap="square">
            <a:spAutoFit/>
          </a:bodyPr>
          <a:lstStyle/>
          <a:p>
            <a:pPr>
              <a:defRPr sz="2000" b="1">
                <a:solidFill>
                  <a:srgbClr val="163A6B"/>
                </a:solidFill>
              </a:defRPr>
            </a:pPr>
            <a:r>
              <a:t>Whole equalizer: CTLE + DFE tap</a:t>
            </a:r>
          </a:p>
        </p:txBody>
      </p:sp>
      <p:pic>
        <p:nvPicPr>
          <p:cNvPr id="9" name="Picture 8" descr="eye_diagram_equalizer.png"/>
          <p:cNvPicPr>
            <a:picLocks noChangeAspect="1"/>
          </p:cNvPicPr>
          <p:nvPr/>
        </p:nvPicPr>
        <p:blipFill>
          <a:blip r:embed="rId3"/>
          <a:stretch>
            <a:fillRect/>
          </a:stretch>
        </p:blipFill>
        <p:spPr>
          <a:xfrm>
            <a:off x="6766560" y="1783080"/>
            <a:ext cx="4608576" cy="3291840"/>
          </a:xfrm>
          <a:prstGeom prst="rect">
            <a:avLst/>
          </a:prstGeom>
        </p:spPr>
      </p:pic>
      <p:sp>
        <p:nvSpPr>
          <p:cNvPr id="10" name="TextBox 9"/>
          <p:cNvSpPr txBox="1"/>
          <p:nvPr/>
        </p:nvSpPr>
        <p:spPr>
          <a:xfrm>
            <a:off x="6309360" y="5212080"/>
            <a:ext cx="5486400" cy="1097280"/>
          </a:xfrm>
          <a:prstGeom prst="rect">
            <a:avLst/>
          </a:prstGeom>
          <a:noFill/>
        </p:spPr>
        <p:txBody>
          <a:bodyPr wrap="square">
            <a:spAutoFit/>
          </a:bodyPr>
          <a:lstStyle/>
          <a:p>
            <a:pPr>
              <a:defRPr sz="1200" b="0">
                <a:solidFill>
                  <a:srgbClr val="555B66"/>
                </a:solidFill>
              </a:defRPr>
            </a:pPr>
            <a:r>
              <a:t>6-value action; post-DFE eye (measured against the transmitted bits) drives the reward. Training holds 0.51 V post-DFE vs ~0.35 V CTLE-only; rollouts 20/20, tap +0.062 opens 0.325 → 0.355 V with zero bit errors.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LLM frontend: plain-language feedback → reward weights</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12</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sp>
        <p:nvSpPr>
          <p:cNvPr id="6" name="TextBox 5"/>
          <p:cNvSpPr txBox="1"/>
          <p:nvPr/>
        </p:nvSpPr>
        <p:spPr>
          <a:xfrm>
            <a:off x="457200" y="1371600"/>
            <a:ext cx="11247120" cy="2743200"/>
          </a:xfrm>
          <a:prstGeom prst="rect">
            <a:avLst/>
          </a:prstGeom>
          <a:solidFill>
            <a:srgbClr val="0C1B2E"/>
          </a:solidFill>
        </p:spPr>
        <p:txBody>
          <a:bodyPr wrap="square">
            <a:spAutoFit/>
          </a:bodyPr>
          <a:lstStyle/>
          <a:p>
            <a:pPr>
              <a:defRPr sz="1300" b="0">
                <a:solidFill>
                  <a:srgbClr val="E6EEF8"/>
                </a:solidFill>
                <a:latin typeface="Consolas"/>
              </a:defRPr>
            </a:pPr>
            <a:r>
              <a:t>&gt; python scripts/reward_from_feedback.py "We are power constrained: current budget matters much more</a:t>
            </a:r>
          </a:p>
          <a:p>
            <a:pPr>
              <a:defRPr sz="1300" b="0">
                <a:solidFill>
                  <a:srgbClr val="E6EEF8"/>
                </a:solidFill>
                <a:latin typeface="Consolas"/>
              </a:defRPr>
            </a:pPr>
            <a:r>
              <a:t>   than eye margin, and we don't care about linearity"</a:t>
            </a:r>
          </a:p>
          <a:p>
            <a:pPr>
              <a:defRPr sz="1300" b="0">
                <a:solidFill>
                  <a:srgbClr val="E6EEF8"/>
                </a:solidFill>
                <a:latin typeface="Consolas"/>
              </a:defRPr>
            </a:pPr>
          </a:p>
          <a:p>
            <a:pPr>
              <a:defRPr sz="1300" b="0">
                <a:solidFill>
                  <a:srgbClr val="E6EEF8"/>
                </a:solidFill>
                <a:latin typeface="Consolas"/>
              </a:defRPr>
            </a:pPr>
            <a:r>
              <a:t>{ "weights": { "power": 3.0, "eye_vertical_v": 0.33, "hd3": 0.33, "peaking_boost": 1.0, ... },</a:t>
            </a:r>
          </a:p>
          <a:p>
            <a:pPr>
              <a:defRPr sz="1300" b="0">
                <a:solidFill>
                  <a:srgbClr val="E6EEF8"/>
                </a:solidFill>
                <a:latin typeface="Consolas"/>
              </a:defRPr>
            </a:pPr>
            <a:r>
              <a:t>  "efficiency_weight": 3.0, "margin_weight": 5.0,</a:t>
            </a:r>
          </a:p>
          <a:p>
            <a:pPr>
              <a:defRPr sz="1300" b="0">
                <a:solidFill>
                  <a:srgbClr val="E6EEF8"/>
                </a:solidFill>
                <a:latin typeface="Consolas"/>
              </a:defRPr>
            </a:pPr>
            <a:r>
              <a:t>  "rationale": "raised power x3; lowered eye_vertical_v x0.33; lowered hd3 x0.33" }</a:t>
            </a:r>
          </a:p>
          <a:p>
            <a:pPr>
              <a:defRPr sz="1300" b="0">
                <a:solidFill>
                  <a:srgbClr val="E6EEF8"/>
                </a:solidFill>
                <a:latin typeface="Consolas"/>
              </a:defRPr>
            </a:pPr>
          </a:p>
          <a:p>
            <a:pPr>
              <a:defRPr sz="1300" b="0">
                <a:solidFill>
                  <a:srgbClr val="E6EEF8"/>
                </a:solidFill>
                <a:latin typeface="Consolas"/>
              </a:defRPr>
            </a:pPr>
            <a:r>
              <a:t>&gt; python scripts/train_sac.py ... --reward-settings reports/reward_low_power.json</a:t>
            </a:r>
          </a:p>
        </p:txBody>
      </p:sp>
      <p:sp>
        <p:nvSpPr>
          <p:cNvPr id="7" name="TextBox 6"/>
          <p:cNvSpPr txBox="1"/>
          <p:nvPr/>
        </p:nvSpPr>
        <p:spPr>
          <a:xfrm>
            <a:off x="457200" y="4389120"/>
            <a:ext cx="11247120" cy="1828800"/>
          </a:xfrm>
          <a:prstGeom prst="rect">
            <a:avLst/>
          </a:prstGeom>
          <a:noFill/>
        </p:spPr>
        <p:txBody>
          <a:bodyPr wrap="square">
            <a:spAutoFit/>
          </a:bodyPr>
          <a:lstStyle/>
          <a:p>
            <a:pPr>
              <a:spcAft>
                <a:spcPts val="600"/>
              </a:spcAft>
              <a:defRPr sz="1400">
                <a:solidFill>
                  <a:srgbClr val="1A1A1A"/>
                </a:solidFill>
              </a:defRPr>
            </a:pPr>
            <a:r>
              <a:t>•  Claude (Anthropic SDK, schema-validated JSON) when credentials are present; keyword parser offline — the loop never blocks on an API</a:t>
            </a:r>
          </a:p>
          <a:p>
            <a:pPr>
              <a:spcAft>
                <a:spcPts val="600"/>
              </a:spcAft>
              <a:defRPr sz="1400">
                <a:solidFill>
                  <a:srgbClr val="1A1A1A"/>
                </a:solidFill>
              </a:defRPr>
            </a:pPr>
            <a:r>
              <a:t>•  Reward: −Σ wᵢ·vᵢ − w_eff·(P/P_max) + [feasible]·(bonus + w_margin·margin) — every wᵢ is what the frontend adjusts</a:t>
            </a:r>
          </a:p>
          <a:p>
            <a:pPr>
              <a:spcAft>
                <a:spcPts val="600"/>
              </a:spcAft>
              <a:defRPr sz="1400">
                <a:solidFill>
                  <a:srgbClr val="1A1A1A"/>
                </a:solidFill>
              </a:defRPr>
            </a:pPr>
            <a:r>
              <a:t>•  Applies at the start of a run or a resumed curriculum stage; re-weighting mid-run is the next step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What the agent found: two measurement flaws the manual flow lived with</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13</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graphicFrame>
        <p:nvGraphicFramePr>
          <p:cNvPr id="6" name="Table 5"/>
          <p:cNvGraphicFramePr>
            <a:graphicFrameLocks noGrp="1"/>
          </p:cNvGraphicFramePr>
          <p:nvPr/>
        </p:nvGraphicFramePr>
        <p:xfrm>
          <a:off x="365760" y="1371600"/>
          <a:ext cx="11430000" cy="1097280"/>
        </p:xfrm>
        <a:graphic>
          <a:graphicData uri="http://schemas.openxmlformats.org/drawingml/2006/table">
            <a:tbl>
              <a:tblPr firstRow="1" bandRow="1">
                <a:tableStyleId>{5C22544A-7EE6-4342-B048-85BDC9FD1C3A}</a:tableStyleId>
              </a:tblPr>
              <a:tblGrid>
                <a:gridCol w="1463040"/>
                <a:gridCol w="2560320"/>
                <a:gridCol w="2834640"/>
                <a:gridCol w="2743200"/>
                <a:gridCol w="1828800"/>
              </a:tblGrid>
              <a:tr h="365760">
                <a:tc>
                  <a:txBody>
                    <a:bodyPr/>
                    <a:lstStyle/>
                    <a:p>
                      <a:pPr>
                        <a:defRPr sz="1200" b="1">
                          <a:solidFill>
                            <a:srgbClr val="FFFFFF"/>
                          </a:solidFill>
                        </a:defRPr>
                      </a:pPr>
                      <a:r>
                        <a:t>Flaw</a:t>
                      </a:r>
                    </a:p>
                  </a:txBody>
                  <a:tcPr marL="54864" marR="54864" marT="27432" marB="27432">
                    <a:solidFill>
                      <a:srgbClr val="2B5797"/>
                    </a:solidFill>
                  </a:tcPr>
                </a:tc>
                <a:tc>
                  <a:txBody>
                    <a:bodyPr/>
                    <a:lstStyle/>
                    <a:p>
                      <a:pPr>
                        <a:defRPr sz="1200" b="1">
                          <a:solidFill>
                            <a:srgbClr val="FFFFFF"/>
                          </a:solidFill>
                        </a:defRPr>
                      </a:pPr>
                      <a:r>
                        <a:t>Symptom</a:t>
                      </a:r>
                    </a:p>
                  </a:txBody>
                  <a:tcPr marL="54864" marR="54864" marT="27432" marB="27432">
                    <a:solidFill>
                      <a:srgbClr val="2B5797"/>
                    </a:solidFill>
                  </a:tcPr>
                </a:tc>
                <a:tc>
                  <a:txBody>
                    <a:bodyPr/>
                    <a:lstStyle/>
                    <a:p>
                      <a:pPr>
                        <a:defRPr sz="1200" b="1">
                          <a:solidFill>
                            <a:srgbClr val="FFFFFF"/>
                          </a:solidFill>
                        </a:defRPr>
                      </a:pPr>
                      <a:r>
                        <a:t>Cause</a:t>
                      </a:r>
                    </a:p>
                  </a:txBody>
                  <a:tcPr marL="54864" marR="54864" marT="27432" marB="27432">
                    <a:solidFill>
                      <a:srgbClr val="2B5797"/>
                    </a:solidFill>
                  </a:tcPr>
                </a:tc>
                <a:tc>
                  <a:txBody>
                    <a:bodyPr/>
                    <a:lstStyle/>
                    <a:p>
                      <a:pPr>
                        <a:defRPr sz="1200" b="1">
                          <a:solidFill>
                            <a:srgbClr val="FFFFFF"/>
                          </a:solidFill>
                        </a:defRPr>
                      </a:pPr>
                      <a:r>
                        <a:t>Fix</a:t>
                      </a:r>
                    </a:p>
                  </a:txBody>
                  <a:tcPr marL="54864" marR="54864" marT="27432" marB="27432">
                    <a:solidFill>
                      <a:srgbClr val="2B5797"/>
                    </a:solidFill>
                  </a:tcPr>
                </a:tc>
                <a:tc>
                  <a:txBody>
                    <a:bodyPr/>
                    <a:lstStyle/>
                    <a:p>
                      <a:pPr>
                        <a:defRPr sz="1200" b="1">
                          <a:solidFill>
                            <a:srgbClr val="FFFFFF"/>
                          </a:solidFill>
                        </a:defRPr>
                      </a:pPr>
                      <a:r>
                        <a:t>After</a:t>
                      </a:r>
                    </a:p>
                  </a:txBody>
                  <a:tcPr marL="54864" marR="54864" marT="27432" marB="27432">
                    <a:solidFill>
                      <a:srgbClr val="2B5797"/>
                    </a:solidFill>
                  </a:tcPr>
                </a:tc>
              </a:tr>
              <a:tr h="365760">
                <a:tc>
                  <a:txBody>
                    <a:bodyPr/>
                    <a:lstStyle/>
                    <a:p>
                      <a:pPr>
                        <a:defRPr sz="1200" b="0">
                          <a:solidFill>
                            <a:srgbClr val="1A1A1A"/>
                          </a:solidFill>
                        </a:defRPr>
                      </a:pPr>
                      <a:r>
                        <a:t>HD3 measurement</a:t>
                      </a:r>
                    </a:p>
                  </a:txBody>
                  <a:tcPr marL="54864" marR="54864" marT="27432" marB="27432">
                    <a:solidFill>
                      <a:srgbClr val="FFFFFF"/>
                    </a:solidFill>
                  </a:tcPr>
                </a:tc>
                <a:tc>
                  <a:txBody>
                    <a:bodyPr/>
                    <a:lstStyle/>
                    <a:p>
                      <a:pPr>
                        <a:defRPr sz="1200" b="0">
                          <a:solidFill>
                            <a:srgbClr val="1A1A1A"/>
                          </a:solidFill>
                        </a:defRPr>
                      </a:pPr>
                      <a:r>
                        <a:t>−25 dB 'fail' on every design; RL could not move it past −26</a:t>
                      </a:r>
                    </a:p>
                  </a:txBody>
                  <a:tcPr marL="54864" marR="54864" marT="27432" marB="27432">
                    <a:solidFill>
                      <a:srgbClr val="FFFFFF"/>
                    </a:solidFill>
                  </a:tcPr>
                </a:tc>
                <a:tc>
                  <a:txBody>
                    <a:bodyPr/>
                    <a:lstStyle/>
                    <a:p>
                      <a:pPr>
                        <a:defRPr sz="1200" b="0">
                          <a:solidFill>
                            <a:srgbClr val="1A1A1A"/>
                          </a:solidFill>
                        </a:defRPr>
                      </a:pPr>
                      <a:r>
                        <a:t>2.5-cycle rectangular FFT window → fundamental leakage in the 300 MHz bin</a:t>
                      </a:r>
                    </a:p>
                  </a:txBody>
                  <a:tcPr marL="54864" marR="54864" marT="27432" marB="27432">
                    <a:solidFill>
                      <a:srgbClr val="FFFFFF"/>
                    </a:solidFill>
                  </a:tcPr>
                </a:tc>
                <a:tc>
                  <a:txBody>
                    <a:bodyPr/>
                    <a:lstStyle/>
                    <a:p>
                      <a:pPr>
                        <a:defRPr sz="1200" b="0">
                          <a:solidFill>
                            <a:srgbClr val="1A1A1A"/>
                          </a:solidFill>
                        </a:defRPr>
                      </a:pPr>
                      <a:r>
                        <a:t>integer-cycle Hann window (unit-tested on a synthetic −40 dB tone)</a:t>
                      </a:r>
                    </a:p>
                  </a:txBody>
                  <a:tcPr marL="54864" marR="54864" marT="27432" marB="27432">
                    <a:solidFill>
                      <a:srgbClr val="FFFFFF"/>
                    </a:solidFill>
                  </a:tcPr>
                </a:tc>
                <a:tc>
                  <a:txBody>
                    <a:bodyPr/>
                    <a:lstStyle/>
                    <a:p>
                      <a:pPr>
                        <a:defRPr sz="1200" b="0">
                          <a:solidFill>
                            <a:srgbClr val="1A1A1A"/>
                          </a:solidFill>
                        </a:defRPr>
                      </a:pPr>
                      <a:r>
                        <a:t>−58 to −72 dB, 28 dB margin</a:t>
                      </a:r>
                    </a:p>
                  </a:txBody>
                  <a:tcPr marL="54864" marR="54864" marT="27432" marB="27432">
                    <a:solidFill>
                      <a:srgbClr val="FFFFFF"/>
                    </a:solidFill>
                  </a:tcPr>
                </a:tc>
              </a:tr>
              <a:tr h="365760">
                <a:tc>
                  <a:txBody>
                    <a:bodyPr/>
                    <a:lstStyle/>
                    <a:p>
                      <a:pPr>
                        <a:defRPr sz="1200" b="0">
                          <a:solidFill>
                            <a:srgbClr val="1A1A1A"/>
                          </a:solidFill>
                        </a:defRPr>
                      </a:pPr>
                      <a:r>
                        <a:t>DFE eye metric</a:t>
                      </a:r>
                    </a:p>
                  </a:txBody>
                  <a:tcPr marL="54864" marR="54864" marT="27432" marB="27432">
                    <a:solidFill>
                      <a:srgbClr val="F2F4F7"/>
                    </a:solidFill>
                  </a:tcPr>
                </a:tc>
                <a:tc>
                  <a:txBody>
                    <a:bodyPr/>
                    <a:lstStyle/>
                    <a:p>
                      <a:pPr>
                        <a:defRPr sz="1200" b="0">
                          <a:solidFill>
                            <a:srgbClr val="1A1A1A"/>
                          </a:solidFill>
                        </a:defRPr>
                      </a:pPr>
                      <a:r>
                        <a:t>agent drove the tap to +0.5 and reported a 0.70 V eye</a:t>
                      </a:r>
                    </a:p>
                  </a:txBody>
                  <a:tcPr marL="54864" marR="54864" marT="27432" marB="27432">
                    <a:solidFill>
                      <a:srgbClr val="F2F4F7"/>
                    </a:solidFill>
                  </a:tcPr>
                </a:tc>
                <a:tc>
                  <a:txBody>
                    <a:bodyPr/>
                    <a:lstStyle/>
                    <a:p>
                      <a:pPr>
                        <a:defRPr sz="1200" b="0">
                          <a:solidFill>
                            <a:srgbClr val="1A1A1A"/>
                          </a:solidFill>
                        </a:defRPr>
                      </a:pPr>
                      <a:r>
                        <a:t>eye labelled by the DFE's own decisions — the tap separates the classes by itself</a:t>
                      </a:r>
                    </a:p>
                  </a:txBody>
                  <a:tcPr marL="54864" marR="54864" marT="27432" marB="27432">
                    <a:solidFill>
                      <a:srgbClr val="F2F4F7"/>
                    </a:solidFill>
                  </a:tcPr>
                </a:tc>
                <a:tc>
                  <a:txBody>
                    <a:bodyPr/>
                    <a:lstStyle/>
                    <a:p>
                      <a:pPr>
                        <a:defRPr sz="1200" b="0">
                          <a:solidFill>
                            <a:srgbClr val="1A1A1A"/>
                          </a:solidFill>
                        </a:defRPr>
                      </a:pPr>
                      <a:r>
                        <a:t>eye against the transmitted PRBS bits; bit errors counted; zero eye on any error</a:t>
                      </a:r>
                    </a:p>
                  </a:txBody>
                  <a:tcPr marL="54864" marR="54864" marT="27432" marB="27432">
                    <a:solidFill>
                      <a:srgbClr val="F2F4F7"/>
                    </a:solidFill>
                  </a:tcPr>
                </a:tc>
                <a:tc>
                  <a:txBody>
                    <a:bodyPr/>
                    <a:lstStyle/>
                    <a:p>
                      <a:pPr>
                        <a:defRPr sz="1200" b="0">
                          <a:solidFill>
                            <a:srgbClr val="1A1A1A"/>
                          </a:solidFill>
                        </a:defRPr>
                      </a:pPr>
                      <a:r>
                        <a:t>54/127 errors exposed; honest DFE still +39% eye</a:t>
                      </a:r>
                    </a:p>
                  </a:txBody>
                  <a:tcPr marL="54864" marR="54864" marT="27432" marB="27432">
                    <a:solidFill>
                      <a:srgbClr val="F2F4F7"/>
                    </a:solidFill>
                  </a:tcPr>
                </a:tc>
              </a:tr>
            </a:tbl>
          </a:graphicData>
        </a:graphic>
      </p:graphicFrame>
      <p:sp>
        <p:nvSpPr>
          <p:cNvPr id="7" name="TextBox 6"/>
          <p:cNvSpPr txBox="1"/>
          <p:nvPr/>
        </p:nvSpPr>
        <p:spPr>
          <a:xfrm>
            <a:off x="457200" y="3291840"/>
            <a:ext cx="11247120" cy="822960"/>
          </a:xfrm>
          <a:prstGeom prst="rect">
            <a:avLst/>
          </a:prstGeom>
          <a:noFill/>
        </p:spPr>
        <p:txBody>
          <a:bodyPr wrap="square">
            <a:spAutoFit/>
          </a:bodyPr>
          <a:lstStyle/>
          <a:p>
            <a:pPr>
              <a:defRPr sz="1400" b="0">
                <a:solidFill>
                  <a:srgbClr val="163A6B"/>
                </a:solidFill>
              </a:defRPr>
            </a:pPr>
            <a:r>
              <a:t>Both fixed, unit-tested, and every number in the report uses the corrected measurements. Noise was cross-checked against ngspice's own band integral (0.2420 vs 0.2417 mV rms).</a:t>
            </a:r>
          </a:p>
        </p:txBody>
      </p:sp>
      <p:sp>
        <p:nvSpPr>
          <p:cNvPr id="8" name="Rounded Rectangle 7"/>
          <p:cNvSpPr/>
          <p:nvPr/>
        </p:nvSpPr>
        <p:spPr>
          <a:xfrm>
            <a:off x="548640" y="4389120"/>
            <a:ext cx="356616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63A6B"/>
                </a:solidFill>
              </a:defRPr>
            </a:pPr>
            <a:r>
              <a:t>−25 → −58 dB</a:t>
            </a:r>
          </a:p>
          <a:p>
            <a:pPr algn="ctr">
              <a:defRPr sz="1200">
                <a:solidFill>
                  <a:srgbClr val="555B66"/>
                </a:solidFill>
              </a:defRPr>
            </a:pPr>
            <a:r>
              <a:t>HD3, same design, correct window</a:t>
            </a:r>
          </a:p>
        </p:txBody>
      </p:sp>
      <p:sp>
        <p:nvSpPr>
          <p:cNvPr id="9" name="Rounded Rectangle 8"/>
          <p:cNvSpPr/>
          <p:nvPr/>
        </p:nvSpPr>
        <p:spPr>
          <a:xfrm>
            <a:off x="4297680" y="4389120"/>
            <a:ext cx="356616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63A6B"/>
                </a:solidFill>
              </a:defRPr>
            </a:pPr>
            <a:r>
              <a:t>54 / 127</a:t>
            </a:r>
          </a:p>
          <a:p>
            <a:pPr algn="ctr">
              <a:defRPr sz="1200">
                <a:solidFill>
                  <a:srgbClr val="555B66"/>
                </a:solidFill>
              </a:defRPr>
            </a:pPr>
            <a:r>
              <a:t>bit errors behind the 'best' DFE eye</a:t>
            </a:r>
          </a:p>
        </p:txBody>
      </p:sp>
      <p:sp>
        <p:nvSpPr>
          <p:cNvPr id="10" name="Rounded Rectangle 9"/>
          <p:cNvSpPr/>
          <p:nvPr/>
        </p:nvSpPr>
        <p:spPr>
          <a:xfrm>
            <a:off x="8046720" y="4389120"/>
            <a:ext cx="3566160" cy="137160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000" b="1">
                <a:solidFill>
                  <a:srgbClr val="1A7F37"/>
                </a:solidFill>
              </a:defRPr>
            </a:pPr>
            <a:r>
              <a:t>+39 %</a:t>
            </a:r>
          </a:p>
          <a:p>
            <a:pPr algn="ctr">
              <a:defRPr sz="1200">
                <a:solidFill>
                  <a:srgbClr val="555B66"/>
                </a:solidFill>
              </a:defRPr>
            </a:pPr>
            <a:r>
              <a:t>honest one-tap DFE eye gain</a:t>
            </a:r>
          </a:p>
        </p:txBody>
      </p:sp>
      <p:sp>
        <p:nvSpPr>
          <p:cNvPr id="11" name="TextBox 10"/>
          <p:cNvSpPr txBox="1"/>
          <p:nvPr/>
        </p:nvSpPr>
        <p:spPr>
          <a:xfrm>
            <a:off x="457200" y="5897880"/>
            <a:ext cx="11247120" cy="457200"/>
          </a:xfrm>
          <a:prstGeom prst="rect">
            <a:avLst/>
          </a:prstGeom>
          <a:noFill/>
        </p:spPr>
        <p:txBody>
          <a:bodyPr wrap="square">
            <a:spAutoFit/>
          </a:bodyPr>
          <a:lstStyle/>
          <a:p>
            <a:pPr algn="ctr">
              <a:defRPr sz="1500" b="1">
                <a:solidFill>
                  <a:srgbClr val="555B66"/>
                </a:solidFill>
              </a:defRPr>
            </a:pPr>
            <a:r>
              <a:t>Reward hacking as a bug detector: an optimiser that can exploit a metric will find its flaws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Against the brief: every specification, every deliverable</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14</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graphicFrame>
        <p:nvGraphicFramePr>
          <p:cNvPr id="6" name="Table 5"/>
          <p:cNvGraphicFramePr>
            <a:graphicFrameLocks noGrp="1"/>
          </p:cNvGraphicFramePr>
          <p:nvPr/>
        </p:nvGraphicFramePr>
        <p:xfrm>
          <a:off x="365760" y="1280160"/>
          <a:ext cx="11430000" cy="4389120"/>
        </p:xfrm>
        <a:graphic>
          <a:graphicData uri="http://schemas.openxmlformats.org/drawingml/2006/table">
            <a:tbl>
              <a:tblPr firstRow="1" bandRow="1">
                <a:tableStyleId>{5C22544A-7EE6-4342-B048-85BDC9FD1C3A}</a:tableStyleId>
              </a:tblPr>
              <a:tblGrid>
                <a:gridCol w="4206240"/>
                <a:gridCol w="2926080"/>
                <a:gridCol w="3566160"/>
                <a:gridCol w="731520"/>
              </a:tblGrid>
              <a:tr h="365760">
                <a:tc>
                  <a:txBody>
                    <a:bodyPr/>
                    <a:lstStyle/>
                    <a:p>
                      <a:pPr>
                        <a:defRPr sz="1200" b="1">
                          <a:solidFill>
                            <a:srgbClr val="FFFFFF"/>
                          </a:solidFill>
                        </a:defRPr>
                      </a:pPr>
                      <a:r>
                        <a:t>Brief</a:t>
                      </a:r>
                    </a:p>
                  </a:txBody>
                  <a:tcPr marL="54864" marR="54864" marT="27432" marB="27432">
                    <a:solidFill>
                      <a:srgbClr val="2B5797"/>
                    </a:solidFill>
                  </a:tcPr>
                </a:tc>
                <a:tc>
                  <a:txBody>
                    <a:bodyPr/>
                    <a:lstStyle/>
                    <a:p>
                      <a:pPr>
                        <a:defRPr sz="1200" b="1">
                          <a:solidFill>
                            <a:srgbClr val="FFFFFF"/>
                          </a:solidFill>
                        </a:defRPr>
                      </a:pPr>
                      <a:r>
                        <a:t>Ours</a:t>
                      </a:r>
                    </a:p>
                  </a:txBody>
                  <a:tcPr marL="54864" marR="54864" marT="27432" marB="27432">
                    <a:solidFill>
                      <a:srgbClr val="2B5797"/>
                    </a:solidFill>
                  </a:tcPr>
                </a:tc>
                <a:tc>
                  <a:txBody>
                    <a:bodyPr/>
                    <a:lstStyle/>
                    <a:p>
                      <a:pPr>
                        <a:defRPr sz="1200" b="1">
                          <a:solidFill>
                            <a:srgbClr val="FFFFFF"/>
                          </a:solidFill>
                        </a:defRPr>
                      </a:pPr>
                      <a:r>
                        <a:t>Result</a:t>
                      </a:r>
                    </a:p>
                  </a:txBody>
                  <a:tcPr marL="54864" marR="54864" marT="27432" marB="27432">
                    <a:solidFill>
                      <a:srgbClr val="2B5797"/>
                    </a:solidFill>
                  </a:tcPr>
                </a:tc>
                <a:tc>
                  <a:txBody>
                    <a:bodyPr/>
                    <a:lstStyle/>
                    <a:p>
                      <a:pPr>
                        <a:defRPr sz="1200" b="1">
                          <a:solidFill>
                            <a:srgbClr val="FFFFFF"/>
                          </a:solidFill>
                        </a:defRPr>
                      </a:pPr>
                    </a:p>
                  </a:txBody>
                  <a:tcPr marL="54864" marR="54864" marT="27432" marB="27432">
                    <a:solidFill>
                      <a:srgbClr val="2B5797"/>
                    </a:solidFill>
                  </a:tcPr>
                </a:tc>
              </a:tr>
              <a:tr h="365760">
                <a:tc>
                  <a:txBody>
                    <a:bodyPr/>
                    <a:lstStyle/>
                    <a:p>
                      <a:pPr>
                        <a:defRPr sz="1200" b="0">
                          <a:solidFill>
                            <a:srgbClr val="1A1A1A"/>
                          </a:solidFill>
                        </a:defRPr>
                      </a:pPr>
                      <a:r>
                        <a:t>Nyquist 2.5 GHz, peaking 3–12 dB tunable 1.25–2.5 GHz</a:t>
                      </a:r>
                    </a:p>
                  </a:txBody>
                  <a:tcPr marL="54864" marR="54864" marT="27432" marB="27432">
                    <a:solidFill>
                      <a:srgbClr val="FFFFFF"/>
                    </a:solidFill>
                  </a:tcPr>
                </a:tc>
                <a:tc>
                  <a:txBody>
                    <a:bodyPr/>
                    <a:lstStyle/>
                    <a:p>
                      <a:pPr>
                        <a:defRPr sz="1200" b="0">
                          <a:solidFill>
                            <a:srgbClr val="1A1A1A"/>
                          </a:solidFill>
                        </a:defRPr>
                      </a:pPr>
                      <a:r>
                        <a:t>spec input</a:t>
                      </a:r>
                    </a:p>
                  </a:txBody>
                  <a:tcPr marL="54864" marR="54864" marT="27432" marB="27432">
                    <a:solidFill>
                      <a:srgbClr val="FFFFFF"/>
                    </a:solidFill>
                  </a:tcPr>
                </a:tc>
                <a:tc>
                  <a:txBody>
                    <a:bodyPr/>
                    <a:lstStyle/>
                    <a:p>
                      <a:pPr>
                        <a:defRPr sz="1200" b="0">
                          <a:solidFill>
                            <a:srgbClr val="1A1A1A"/>
                          </a:solidFill>
                        </a:defRPr>
                      </a:pPr>
                      <a:r>
                        <a:t>4.5 dB @ 2.5 GHz; 5.23 dB @ 1.25 GHz</a:t>
                      </a:r>
                    </a:p>
                  </a:txBody>
                  <a:tcPr marL="54864" marR="54864" marT="27432" marB="27432">
                    <a:solidFill>
                      <a:srgbClr val="FFFFFF"/>
                    </a:solidFill>
                  </a:tcPr>
                </a:tc>
                <a:tc>
                  <a:txBody>
                    <a:bodyPr/>
                    <a:lstStyle/>
                    <a:p>
                      <a:pPr>
                        <a:defRPr sz="1200" b="0">
                          <a:solidFill>
                            <a:srgbClr val="1A1A1A"/>
                          </a:solidFill>
                        </a:defRPr>
                      </a:pPr>
                      <a:r>
                        <a:t>✓</a:t>
                      </a:r>
                    </a:p>
                  </a:txBody>
                  <a:tcPr marL="54864" marR="54864" marT="27432" marB="27432">
                    <a:solidFill>
                      <a:srgbClr val="FFFFFF"/>
                    </a:solidFill>
                  </a:tcPr>
                </a:tc>
              </a:tr>
              <a:tr h="365760">
                <a:tc>
                  <a:txBody>
                    <a:bodyPr/>
                    <a:lstStyle/>
                    <a:p>
                      <a:pPr>
                        <a:defRPr sz="1200" b="0">
                          <a:solidFill>
                            <a:srgbClr val="1A1A1A"/>
                          </a:solidFill>
                        </a:defRPr>
                      </a:pPr>
                      <a:r>
                        <a:t>1-stage CTLE, variable Rs/Cs; 1-tap DFE; NRZ</a:t>
                      </a:r>
                    </a:p>
                  </a:txBody>
                  <a:tcPr marL="54864" marR="54864" marT="27432" marB="27432">
                    <a:solidFill>
                      <a:srgbClr val="F2F4F7"/>
                    </a:solidFill>
                  </a:tcPr>
                </a:tc>
                <a:tc>
                  <a:txBody>
                    <a:bodyPr/>
                    <a:lstStyle/>
                    <a:p>
                      <a:pPr>
                        <a:defRPr sz="1200" b="0">
                          <a:solidFill>
                            <a:srgbClr val="1A1A1A"/>
                          </a:solidFill>
                        </a:defRPr>
                      </a:pPr>
                      <a:r>
                        <a:t>in the action</a:t>
                      </a:r>
                    </a:p>
                  </a:txBody>
                  <a:tcPr marL="54864" marR="54864" marT="27432" marB="27432">
                    <a:solidFill>
                      <a:srgbClr val="F2F4F7"/>
                    </a:solidFill>
                  </a:tcPr>
                </a:tc>
                <a:tc>
                  <a:txBody>
                    <a:bodyPr/>
                    <a:lstStyle/>
                    <a:p>
                      <a:pPr>
                        <a:defRPr sz="1200" b="0">
                          <a:solidFill>
                            <a:srgbClr val="1A1A1A"/>
                          </a:solidFill>
                        </a:defRPr>
                      </a:pPr>
                      <a:r>
                        <a:t>yes; tap sized by the agent</a:t>
                      </a:r>
                    </a:p>
                  </a:txBody>
                  <a:tcPr marL="54864" marR="54864" marT="27432" marB="27432">
                    <a:solidFill>
                      <a:srgbClr val="F2F4F7"/>
                    </a:solidFill>
                  </a:tcPr>
                </a:tc>
                <a:tc>
                  <a:txBody>
                    <a:bodyPr/>
                    <a:lstStyle/>
                    <a:p>
                      <a:pPr>
                        <a:defRPr sz="1200" b="0">
                          <a:solidFill>
                            <a:srgbClr val="1A1A1A"/>
                          </a:solidFill>
                        </a:defRPr>
                      </a:pPr>
                      <a:r>
                        <a:t>✓</a:t>
                      </a:r>
                    </a:p>
                  </a:txBody>
                  <a:tcPr marL="54864" marR="54864" marT="27432" marB="27432">
                    <a:solidFill>
                      <a:srgbClr val="F2F4F7"/>
                    </a:solidFill>
                  </a:tcPr>
                </a:tc>
              </a:tr>
              <a:tr h="365760">
                <a:tc>
                  <a:txBody>
                    <a:bodyPr/>
                    <a:lstStyle/>
                    <a:p>
                      <a:pPr>
                        <a:defRPr sz="1200" b="0">
                          <a:solidFill>
                            <a:srgbClr val="1A1A1A"/>
                          </a:solidFill>
                        </a:defRPr>
                      </a:pPr>
                      <a:r>
                        <a:t>HD3 &lt; −30 dB</a:t>
                      </a:r>
                    </a:p>
                  </a:txBody>
                  <a:tcPr marL="54864" marR="54864" marT="27432" marB="27432">
                    <a:solidFill>
                      <a:srgbClr val="FFFFFF"/>
                    </a:solidFill>
                  </a:tcPr>
                </a:tc>
                <a:tc>
                  <a:txBody>
                    <a:bodyPr/>
                    <a:lstStyle/>
                    <a:p>
                      <a:pPr>
                        <a:defRPr sz="1200" b="0">
                          <a:solidFill>
                            <a:srgbClr val="1A1A1A"/>
                          </a:solidFill>
                        </a:defRPr>
                      </a:pPr>
                      <a:r>
                        <a:t>enforced</a:t>
                      </a:r>
                    </a:p>
                  </a:txBody>
                  <a:tcPr marL="54864" marR="54864" marT="27432" marB="27432">
                    <a:solidFill>
                      <a:srgbClr val="FFFFFF"/>
                    </a:solidFill>
                  </a:tcPr>
                </a:tc>
                <a:tc>
                  <a:txBody>
                    <a:bodyPr/>
                    <a:lstStyle/>
                    <a:p>
                      <a:pPr>
                        <a:defRPr sz="1200" b="0">
                          <a:solidFill>
                            <a:srgbClr val="1A1A1A"/>
                          </a:solidFill>
                        </a:defRPr>
                      </a:pPr>
                      <a:r>
                        <a:t>−61.9 dB</a:t>
                      </a:r>
                    </a:p>
                  </a:txBody>
                  <a:tcPr marL="54864" marR="54864" marT="27432" marB="27432">
                    <a:solidFill>
                      <a:srgbClr val="FFFFFF"/>
                    </a:solidFill>
                  </a:tcPr>
                </a:tc>
                <a:tc>
                  <a:txBody>
                    <a:bodyPr/>
                    <a:lstStyle/>
                    <a:p>
                      <a:pPr>
                        <a:defRPr sz="1200" b="0">
                          <a:solidFill>
                            <a:srgbClr val="1A1A1A"/>
                          </a:solidFill>
                        </a:defRPr>
                      </a:pPr>
                      <a:r>
                        <a:t>✓</a:t>
                      </a:r>
                    </a:p>
                  </a:txBody>
                  <a:tcPr marL="54864" marR="54864" marT="27432" marB="27432">
                    <a:solidFill>
                      <a:srgbClr val="FFFFFF"/>
                    </a:solidFill>
                  </a:tcPr>
                </a:tc>
              </a:tr>
              <a:tr h="365760">
                <a:tc>
                  <a:txBody>
                    <a:bodyPr/>
                    <a:lstStyle/>
                    <a:p>
                      <a:pPr>
                        <a:defRPr sz="1200" b="0">
                          <a:solidFill>
                            <a:srgbClr val="1A1A1A"/>
                          </a:solidFill>
                        </a:defRPr>
                      </a:pPr>
                      <a:r>
                        <a:t>Noise &lt; 1.5 mV rms</a:t>
                      </a:r>
                    </a:p>
                  </a:txBody>
                  <a:tcPr marL="54864" marR="54864" marT="27432" marB="27432">
                    <a:solidFill>
                      <a:srgbClr val="F2F4F7"/>
                    </a:solidFill>
                  </a:tcPr>
                </a:tc>
                <a:tc>
                  <a:txBody>
                    <a:bodyPr/>
                    <a:lstStyle/>
                    <a:p>
                      <a:pPr>
                        <a:defRPr sz="1200" b="0">
                          <a:solidFill>
                            <a:srgbClr val="1A1A1A"/>
                          </a:solidFill>
                        </a:defRPr>
                      </a:pPr>
                      <a:r>
                        <a:t>reported</a:t>
                      </a:r>
                    </a:p>
                  </a:txBody>
                  <a:tcPr marL="54864" marR="54864" marT="27432" marB="27432">
                    <a:solidFill>
                      <a:srgbClr val="F2F4F7"/>
                    </a:solidFill>
                  </a:tcPr>
                </a:tc>
                <a:tc>
                  <a:txBody>
                    <a:bodyPr/>
                    <a:lstStyle/>
                    <a:p>
                      <a:pPr>
                        <a:defRPr sz="1200" b="0">
                          <a:solidFill>
                            <a:srgbClr val="1A1A1A"/>
                          </a:solidFill>
                        </a:defRPr>
                      </a:pPr>
                      <a:r>
                        <a:t>0.242 mV rms</a:t>
                      </a:r>
                    </a:p>
                  </a:txBody>
                  <a:tcPr marL="54864" marR="54864" marT="27432" marB="27432">
                    <a:solidFill>
                      <a:srgbClr val="F2F4F7"/>
                    </a:solidFill>
                  </a:tcPr>
                </a:tc>
                <a:tc>
                  <a:txBody>
                    <a:bodyPr/>
                    <a:lstStyle/>
                    <a:p>
                      <a:pPr>
                        <a:defRPr sz="1200" b="0">
                          <a:solidFill>
                            <a:srgbClr val="1A1A1A"/>
                          </a:solidFill>
                        </a:defRPr>
                      </a:pPr>
                      <a:r>
                        <a:t>✓</a:t>
                      </a:r>
                    </a:p>
                  </a:txBody>
                  <a:tcPr marL="54864" marR="54864" marT="27432" marB="27432">
                    <a:solidFill>
                      <a:srgbClr val="F2F4F7"/>
                    </a:solidFill>
                  </a:tcPr>
                </a:tc>
              </a:tr>
              <a:tr h="365760">
                <a:tc>
                  <a:txBody>
                    <a:bodyPr/>
                    <a:lstStyle/>
                    <a:p>
                      <a:pPr>
                        <a:defRPr sz="1200" b="0">
                          <a:solidFill>
                            <a:srgbClr val="1A1A1A"/>
                          </a:solidFill>
                        </a:defRPr>
                      </a:pPr>
                      <a:r>
                        <a:t>Power &lt; 15 mW · Area &lt; 0.05 mm²</a:t>
                      </a:r>
                    </a:p>
                  </a:txBody>
                  <a:tcPr marL="54864" marR="54864" marT="27432" marB="27432">
                    <a:solidFill>
                      <a:srgbClr val="FFFFFF"/>
                    </a:solidFill>
                  </a:tcPr>
                </a:tc>
                <a:tc>
                  <a:txBody>
                    <a:bodyPr/>
                    <a:lstStyle/>
                    <a:p>
                      <a:pPr>
                        <a:defRPr sz="1200" b="0">
                          <a:solidFill>
                            <a:srgbClr val="1A1A1A"/>
                          </a:solidFill>
                        </a:defRPr>
                      </a:pPr>
                      <a:r>
                        <a:t>≤ 2 mW · reported</a:t>
                      </a:r>
                    </a:p>
                  </a:txBody>
                  <a:tcPr marL="54864" marR="54864" marT="27432" marB="27432">
                    <a:solidFill>
                      <a:srgbClr val="FFFFFF"/>
                    </a:solidFill>
                  </a:tcPr>
                </a:tc>
                <a:tc>
                  <a:txBody>
                    <a:bodyPr/>
                    <a:lstStyle/>
                    <a:p>
                      <a:pPr>
                        <a:defRPr sz="1200" b="0">
                          <a:solidFill>
                            <a:srgbClr val="1A1A1A"/>
                          </a:solidFill>
                        </a:defRPr>
                      </a:pPr>
                      <a:r>
                        <a:t>1.12 mW · 1.1e-5 mm² (estimate)</a:t>
                      </a:r>
                    </a:p>
                  </a:txBody>
                  <a:tcPr marL="54864" marR="54864" marT="27432" marB="27432">
                    <a:solidFill>
                      <a:srgbClr val="FFFFFF"/>
                    </a:solidFill>
                  </a:tcPr>
                </a:tc>
                <a:tc>
                  <a:txBody>
                    <a:bodyPr/>
                    <a:lstStyle/>
                    <a:p>
                      <a:pPr>
                        <a:defRPr sz="1200" b="0">
                          <a:solidFill>
                            <a:srgbClr val="1A1A1A"/>
                          </a:solidFill>
                        </a:defRPr>
                      </a:pPr>
                      <a:r>
                        <a:t>✓</a:t>
                      </a:r>
                    </a:p>
                  </a:txBody>
                  <a:tcPr marL="54864" marR="54864" marT="27432" marB="27432">
                    <a:solidFill>
                      <a:srgbClr val="FFFFFF"/>
                    </a:solidFill>
                  </a:tcPr>
                </a:tc>
              </a:tr>
              <a:tr h="365760">
                <a:tc>
                  <a:txBody>
                    <a:bodyPr/>
                    <a:lstStyle/>
                    <a:p>
                      <a:pPr>
                        <a:defRPr sz="1200" b="0">
                          <a:solidFill>
                            <a:srgbClr val="1A1A1A"/>
                          </a:solidFill>
                        </a:defRPr>
                      </a:pPr>
                      <a:r>
                        <a:t>Eye &gt; 100 mV, &gt; 0.4 UI</a:t>
                      </a:r>
                    </a:p>
                  </a:txBody>
                  <a:tcPr marL="54864" marR="54864" marT="27432" marB="27432">
                    <a:solidFill>
                      <a:srgbClr val="F2F4F7"/>
                    </a:solidFill>
                  </a:tcPr>
                </a:tc>
                <a:tc>
                  <a:txBody>
                    <a:bodyPr/>
                    <a:lstStyle/>
                    <a:p>
                      <a:pPr>
                        <a:defRPr sz="1200" b="0">
                          <a:solidFill>
                            <a:srgbClr val="1A1A1A"/>
                          </a:solidFill>
                        </a:defRPr>
                      </a:pPr>
                      <a:r>
                        <a:t>≥ 0.25 V, ≥ 0.7 UI</a:t>
                      </a:r>
                    </a:p>
                  </a:txBody>
                  <a:tcPr marL="54864" marR="54864" marT="27432" marB="27432">
                    <a:solidFill>
                      <a:srgbClr val="F2F4F7"/>
                    </a:solidFill>
                  </a:tcPr>
                </a:tc>
                <a:tc>
                  <a:txBody>
                    <a:bodyPr/>
                    <a:lstStyle/>
                    <a:p>
                      <a:pPr>
                        <a:defRPr sz="1200" b="0">
                          <a:solidFill>
                            <a:srgbClr val="1A1A1A"/>
                          </a:solidFill>
                        </a:defRPr>
                      </a:pPr>
                      <a:r>
                        <a:t>0.370 V, 0.90 UI</a:t>
                      </a:r>
                    </a:p>
                  </a:txBody>
                  <a:tcPr marL="54864" marR="54864" marT="27432" marB="27432">
                    <a:solidFill>
                      <a:srgbClr val="F2F4F7"/>
                    </a:solidFill>
                  </a:tcPr>
                </a:tc>
                <a:tc>
                  <a:txBody>
                    <a:bodyPr/>
                    <a:lstStyle/>
                    <a:p>
                      <a:pPr>
                        <a:defRPr sz="1200" b="0">
                          <a:solidFill>
                            <a:srgbClr val="1A1A1A"/>
                          </a:solidFill>
                        </a:defRPr>
                      </a:pPr>
                      <a:r>
                        <a:t>✓</a:t>
                      </a:r>
                    </a:p>
                  </a:txBody>
                  <a:tcPr marL="54864" marR="54864" marT="27432" marB="27432">
                    <a:solidFill>
                      <a:srgbClr val="F2F4F7"/>
                    </a:solidFill>
                  </a:tcPr>
                </a:tc>
              </a:tr>
              <a:tr h="365760">
                <a:tc>
                  <a:txBody>
                    <a:bodyPr/>
                    <a:lstStyle/>
                    <a:p>
                      <a:pPr>
                        <a:defRPr sz="1200" b="0">
                          <a:solidFill>
                            <a:srgbClr val="1A1A1A"/>
                          </a:solidFill>
                        </a:defRPr>
                      </a:pPr>
                      <a:r>
                        <a:t>PVT TT/SS/FF/SF/FS, ±5%, 0–125 °C</a:t>
                      </a:r>
                    </a:p>
                  </a:txBody>
                  <a:tcPr marL="54864" marR="54864" marT="27432" marB="27432">
                    <a:solidFill>
                      <a:srgbClr val="FFFFFF"/>
                    </a:solidFill>
                  </a:tcPr>
                </a:tc>
                <a:tc>
                  <a:txBody>
                    <a:bodyPr/>
                    <a:lstStyle/>
                    <a:p>
                      <a:pPr>
                        <a:defRPr sz="1200" b="0">
                          <a:solidFill>
                            <a:srgbClr val="1A1A1A"/>
                          </a:solidFill>
                        </a:defRPr>
                      </a:pPr>
                      <a:r>
                        <a:t>trained across + verified</a:t>
                      </a:r>
                    </a:p>
                  </a:txBody>
                  <a:tcPr marL="54864" marR="54864" marT="27432" marB="27432">
                    <a:solidFill>
                      <a:srgbClr val="FFFFFF"/>
                    </a:solidFill>
                  </a:tcPr>
                </a:tc>
                <a:tc>
                  <a:txBody>
                    <a:bodyPr/>
                    <a:lstStyle/>
                    <a:p>
                      <a:pPr>
                        <a:defRPr sz="1200" b="0">
                          <a:solidFill>
                            <a:srgbClr val="1A1A1A"/>
                          </a:solidFill>
                        </a:defRPr>
                      </a:pPr>
                      <a:r>
                        <a:t>45/45</a:t>
                      </a:r>
                    </a:p>
                  </a:txBody>
                  <a:tcPr marL="54864" marR="54864" marT="27432" marB="27432">
                    <a:solidFill>
                      <a:srgbClr val="FFFFFF"/>
                    </a:solidFill>
                  </a:tcPr>
                </a:tc>
                <a:tc>
                  <a:txBody>
                    <a:bodyPr/>
                    <a:lstStyle/>
                    <a:p>
                      <a:pPr>
                        <a:defRPr sz="1200" b="0">
                          <a:solidFill>
                            <a:srgbClr val="1A1A1A"/>
                          </a:solidFill>
                        </a:defRPr>
                      </a:pPr>
                      <a:r>
                        <a:t>✓</a:t>
                      </a:r>
                    </a:p>
                  </a:txBody>
                  <a:tcPr marL="54864" marR="54864" marT="27432" marB="27432">
                    <a:solidFill>
                      <a:srgbClr val="FFFFFF"/>
                    </a:solidFill>
                  </a:tcPr>
                </a:tc>
              </a:tr>
              <a:tr h="365760">
                <a:tc>
                  <a:txBody>
                    <a:bodyPr/>
                    <a:lstStyle/>
                    <a:p>
                      <a:pPr>
                        <a:defRPr sz="1200" b="0">
                          <a:solidFill>
                            <a:srgbClr val="1A1A1A"/>
                          </a:solidFill>
                        </a:defRPr>
                      </a:pPr>
                      <a:r>
                        <a:t>Zero human intervention, faster than sweeping</a:t>
                      </a:r>
                    </a:p>
                  </a:txBody>
                  <a:tcPr marL="54864" marR="54864" marT="27432" marB="27432">
                    <a:solidFill>
                      <a:srgbClr val="F2F4F7"/>
                    </a:solidFill>
                  </a:tcPr>
                </a:tc>
                <a:tc>
                  <a:txBody>
                    <a:bodyPr/>
                    <a:lstStyle/>
                    <a:p>
                      <a:pPr>
                        <a:defRPr sz="1200" b="0">
                          <a:solidFill>
                            <a:srgbClr val="1A1A1A"/>
                          </a:solidFill>
                        </a:defRPr>
                      </a:pPr>
                      <a:r>
                        <a:t>2–3 sims from a random start</a:t>
                      </a:r>
                    </a:p>
                  </a:txBody>
                  <a:tcPr marL="54864" marR="54864" marT="27432" marB="27432">
                    <a:solidFill>
                      <a:srgbClr val="F2F4F7"/>
                    </a:solidFill>
                  </a:tcPr>
                </a:tc>
                <a:tc>
                  <a:txBody>
                    <a:bodyPr/>
                    <a:lstStyle/>
                    <a:p>
                      <a:pPr>
                        <a:defRPr sz="1200" b="0">
                          <a:solidFill>
                            <a:srgbClr val="1A1A1A"/>
                          </a:solidFill>
                        </a:defRPr>
                      </a:pPr>
                      <a:r>
                        <a:t>random 13, CMA-ES 9</a:t>
                      </a:r>
                    </a:p>
                  </a:txBody>
                  <a:tcPr marL="54864" marR="54864" marT="27432" marB="27432">
                    <a:solidFill>
                      <a:srgbClr val="F2F4F7"/>
                    </a:solidFill>
                  </a:tcPr>
                </a:tc>
                <a:tc>
                  <a:txBody>
                    <a:bodyPr/>
                    <a:lstStyle/>
                    <a:p>
                      <a:pPr>
                        <a:defRPr sz="1200" b="0">
                          <a:solidFill>
                            <a:srgbClr val="1A1A1A"/>
                          </a:solidFill>
                        </a:defRPr>
                      </a:pPr>
                      <a:r>
                        <a:t>✓</a:t>
                      </a:r>
                    </a:p>
                  </a:txBody>
                  <a:tcPr marL="54864" marR="54864" marT="27432" marB="27432">
                    <a:solidFill>
                      <a:srgbClr val="F2F4F7"/>
                    </a:solidFill>
                  </a:tcPr>
                </a:tc>
              </a:tr>
              <a:tr h="365760">
                <a:tc>
                  <a:txBody>
                    <a:bodyPr/>
                    <a:lstStyle/>
                    <a:p>
                      <a:pPr>
                        <a:defRPr sz="1200" b="0">
                          <a:solidFill>
                            <a:srgbClr val="1A1A1A"/>
                          </a:solidFill>
                        </a:defRPr>
                      </a:pPr>
                      <a:r>
                        <a:t>Python RL framework, specs in, SPICE in loop, schematic out</a:t>
                      </a:r>
                    </a:p>
                  </a:txBody>
                  <a:tcPr marL="54864" marR="54864" marT="27432" marB="27432">
                    <a:solidFill>
                      <a:srgbClr val="FFFFFF"/>
                    </a:solidFill>
                  </a:tcPr>
                </a:tc>
                <a:tc>
                  <a:txBody>
                    <a:bodyPr/>
                    <a:lstStyle/>
                    <a:p>
                      <a:pPr>
                        <a:defRPr sz="1200" b="0">
                          <a:solidFill>
                            <a:srgbClr val="1A1A1A"/>
                          </a:solidFill>
                        </a:defRPr>
                      </a:pPr>
                      <a:r>
                        <a:t>--spec, ngspice gates, sized_ctle.sp</a:t>
                      </a:r>
                    </a:p>
                  </a:txBody>
                  <a:tcPr marL="54864" marR="54864" marT="27432" marB="27432">
                    <a:solidFill>
                      <a:srgbClr val="FFFFFF"/>
                    </a:solidFill>
                  </a:tcPr>
                </a:tc>
                <a:tc>
                  <a:txBody>
                    <a:bodyPr/>
                    <a:lstStyle/>
                    <a:p>
                      <a:pPr>
                        <a:defRPr sz="1200" b="0">
                          <a:solidFill>
                            <a:srgbClr val="1A1A1A"/>
                          </a:solidFill>
                        </a:defRPr>
                      </a:pPr>
                      <a:r>
                        <a:t>yes</a:t>
                      </a:r>
                    </a:p>
                  </a:txBody>
                  <a:tcPr marL="54864" marR="54864" marT="27432" marB="27432">
                    <a:solidFill>
                      <a:srgbClr val="FFFFFF"/>
                    </a:solidFill>
                  </a:tcPr>
                </a:tc>
                <a:tc>
                  <a:txBody>
                    <a:bodyPr/>
                    <a:lstStyle/>
                    <a:p>
                      <a:pPr>
                        <a:defRPr sz="1200" b="0">
                          <a:solidFill>
                            <a:srgbClr val="1A1A1A"/>
                          </a:solidFill>
                        </a:defRPr>
                      </a:pPr>
                      <a:r>
                        <a:t>✓</a:t>
                      </a:r>
                    </a:p>
                  </a:txBody>
                  <a:tcPr marL="54864" marR="54864" marT="27432" marB="27432">
                    <a:solidFill>
                      <a:srgbClr val="FFFFFF"/>
                    </a:solidFill>
                  </a:tcPr>
                </a:tc>
              </a:tr>
              <a:tr h="365760">
                <a:tc>
                  <a:txBody>
                    <a:bodyPr/>
                    <a:lstStyle/>
                    <a:p>
                      <a:pPr>
                        <a:defRPr sz="1200" b="0">
                          <a:solidFill>
                            <a:srgbClr val="1A1A1A"/>
                          </a:solidFill>
                        </a:defRPr>
                      </a:pPr>
                      <a:r>
                        <a:t>Bonus: LLM human interaction</a:t>
                      </a:r>
                    </a:p>
                  </a:txBody>
                  <a:tcPr marL="54864" marR="54864" marT="27432" marB="27432">
                    <a:solidFill>
                      <a:srgbClr val="F2F4F7"/>
                    </a:solidFill>
                  </a:tcPr>
                </a:tc>
                <a:tc>
                  <a:txBody>
                    <a:bodyPr/>
                    <a:lstStyle/>
                    <a:p>
                      <a:pPr>
                        <a:defRPr sz="1200" b="0">
                          <a:solidFill>
                            <a:srgbClr val="1A1A1A"/>
                          </a:solidFill>
                        </a:defRPr>
                      </a:pPr>
                      <a:r>
                        <a:t>reward_from_feedback.py</a:t>
                      </a:r>
                    </a:p>
                  </a:txBody>
                  <a:tcPr marL="54864" marR="54864" marT="27432" marB="27432">
                    <a:solidFill>
                      <a:srgbClr val="F2F4F7"/>
                    </a:solidFill>
                  </a:tcPr>
                </a:tc>
                <a:tc>
                  <a:txBody>
                    <a:bodyPr/>
                    <a:lstStyle/>
                    <a:p>
                      <a:pPr>
                        <a:defRPr sz="1200" b="0">
                          <a:solidFill>
                            <a:srgbClr val="1A1A1A"/>
                          </a:solidFill>
                        </a:defRPr>
                      </a:pPr>
                      <a:r>
                        <a:t>yes</a:t>
                      </a:r>
                    </a:p>
                  </a:txBody>
                  <a:tcPr marL="54864" marR="54864" marT="27432" marB="27432">
                    <a:solidFill>
                      <a:srgbClr val="F2F4F7"/>
                    </a:solidFill>
                  </a:tcPr>
                </a:tc>
                <a:tc>
                  <a:txBody>
                    <a:bodyPr/>
                    <a:lstStyle/>
                    <a:p>
                      <a:pPr>
                        <a:defRPr sz="1200" b="0">
                          <a:solidFill>
                            <a:srgbClr val="1A1A1A"/>
                          </a:solidFill>
                        </a:defRPr>
                      </a:pPr>
                      <a:r>
                        <a:t>✓</a:t>
                      </a:r>
                    </a:p>
                  </a:txBody>
                  <a:tcPr marL="54864" marR="54864" marT="27432" marB="27432">
                    <a:solidFill>
                      <a:srgbClr val="F2F4F7"/>
                    </a:solidFill>
                  </a:tcPr>
                </a:tc>
              </a:tr>
              <a:tr h="365760">
                <a:tc>
                  <a:txBody>
                    <a:bodyPr/>
                    <a:lstStyle/>
                    <a:p>
                      <a:pPr>
                        <a:defRPr sz="1200" b="0">
                          <a:solidFill>
                            <a:srgbClr val="1A1A1A"/>
                          </a:solidFill>
                        </a:defRPr>
                      </a:pPr>
                      <a:r>
                        <a:t>Open PDK: IHP 130 nm or sky130</a:t>
                      </a:r>
                    </a:p>
                  </a:txBody>
                  <a:tcPr marL="54864" marR="54864" marT="27432" marB="27432">
                    <a:solidFill>
                      <a:srgbClr val="FFFFFF"/>
                    </a:solidFill>
                  </a:tcPr>
                </a:tc>
                <a:tc>
                  <a:txBody>
                    <a:bodyPr/>
                    <a:lstStyle/>
                    <a:p>
                      <a:pPr>
                        <a:defRPr sz="1200" b="0">
                          <a:solidFill>
                            <a:srgbClr val="1A1A1A"/>
                          </a:solidFill>
                        </a:defRPr>
                      </a:pPr>
                      <a:r>
                        <a:t>IHP sg13g2 (synopsis said sky130)</a:t>
                      </a:r>
                    </a:p>
                  </a:txBody>
                  <a:tcPr marL="54864" marR="54864" marT="27432" marB="27432">
                    <a:solidFill>
                      <a:srgbClr val="FFFFFF"/>
                    </a:solidFill>
                  </a:tcPr>
                </a:tc>
                <a:tc>
                  <a:txBody>
                    <a:bodyPr/>
                    <a:lstStyle/>
                    <a:p>
                      <a:pPr>
                        <a:defRPr sz="1200" b="0">
                          <a:solidFill>
                            <a:srgbClr val="1A1A1A"/>
                          </a:solidFill>
                        </a:defRPr>
                      </a:pPr>
                      <a:r>
                        <a:t>PSP103 via OSDI, 0.6 s/step</a:t>
                      </a:r>
                    </a:p>
                  </a:txBody>
                  <a:tcPr marL="54864" marR="54864" marT="27432" marB="27432">
                    <a:solidFill>
                      <a:srgbClr val="FFFFFF"/>
                    </a:solidFill>
                  </a:tcPr>
                </a:tc>
                <a:tc>
                  <a:txBody>
                    <a:bodyPr/>
                    <a:lstStyle/>
                    <a:p>
                      <a:pPr>
                        <a:defRPr sz="1200" b="0">
                          <a:solidFill>
                            <a:srgbClr val="1A1A1A"/>
                          </a:solidFill>
                        </a:defRPr>
                      </a:pPr>
                      <a:r>
                        <a:t>✓</a:t>
                      </a:r>
                    </a:p>
                  </a:txBody>
                  <a:tcPr marL="54864" marR="54864"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515600" cy="731520"/>
          </a:xfrm>
          <a:prstGeom prst="rect">
            <a:avLst/>
          </a:prstGeom>
          <a:noFill/>
        </p:spPr>
        <p:txBody>
          <a:bodyPr wrap="none" anchor="ctr">
            <a:spAutoFit/>
          </a:bodyPr>
          <a:lstStyle/>
          <a:p>
            <a:pPr>
              <a:defRPr sz="2800" b="1">
                <a:solidFill>
                  <a:srgbClr val="FFFFFF"/>
                </a:solidFill>
              </a:defRPr>
            </a:pPr>
            <a:r>
              <a:t>Deliverables, limitations, next steps</a:t>
            </a:r>
          </a:p>
        </p:txBody>
      </p:sp>
      <p:sp>
        <p:nvSpPr>
          <p:cNvPr id="4" name="TextBox 3"/>
          <p:cNvSpPr txBox="1"/>
          <p:nvPr/>
        </p:nvSpPr>
        <p:spPr>
          <a:xfrm>
            <a:off x="11247120" y="274320"/>
            <a:ext cx="731520" cy="457200"/>
          </a:xfrm>
          <a:prstGeom prst="rect">
            <a:avLst/>
          </a:prstGeom>
          <a:noFill/>
        </p:spPr>
        <p:txBody>
          <a:bodyPr wrap="none">
            <a:spAutoFit/>
          </a:bodyPr>
          <a:lstStyle/>
          <a:p>
            <a:pPr algn="r">
              <a:defRPr sz="1200">
                <a:solidFill>
                  <a:srgbClr val="FFFFFF"/>
                </a:solidFill>
              </a:defRPr>
            </a:pPr>
            <a:r>
              <a:t>15</a:t>
            </a:r>
          </a:p>
        </p:txBody>
      </p:sp>
      <p:sp>
        <p:nvSpPr>
          <p:cNvPr id="5" name="TextBox 4"/>
          <p:cNvSpPr txBox="1"/>
          <p:nvPr/>
        </p:nvSpPr>
        <p:spPr>
          <a:xfrm>
            <a:off x="457200" y="6446520"/>
            <a:ext cx="7315200" cy="320040"/>
          </a:xfrm>
          <a:prstGeom prst="rect">
            <a:avLst/>
          </a:prstGeom>
          <a:noFill/>
        </p:spPr>
        <p:txBody>
          <a:bodyPr wrap="none">
            <a:spAutoFit/>
          </a:bodyPr>
          <a:lstStyle/>
          <a:p>
            <a:pPr>
              <a:defRPr sz="1000">
                <a:solidFill>
                  <a:srgbClr val="555B66"/>
                </a:solidFill>
              </a:defRPr>
            </a:pPr>
            <a:r>
              <a:t>AutoAnalog-RL  ·  Nebula: AI/ML for Analog Circuit Design  ·  Round 0</a:t>
            </a:r>
          </a:p>
        </p:txBody>
      </p:sp>
      <p:sp>
        <p:nvSpPr>
          <p:cNvPr id="6" name="TextBox 5"/>
          <p:cNvSpPr txBox="1"/>
          <p:nvPr/>
        </p:nvSpPr>
        <p:spPr>
          <a:xfrm>
            <a:off x="457200" y="1280160"/>
            <a:ext cx="3657600" cy="457200"/>
          </a:xfrm>
          <a:prstGeom prst="rect">
            <a:avLst/>
          </a:prstGeom>
          <a:noFill/>
        </p:spPr>
        <p:txBody>
          <a:bodyPr wrap="square">
            <a:spAutoFit/>
          </a:bodyPr>
          <a:lstStyle/>
          <a:p>
            <a:pPr>
              <a:defRPr sz="2000" b="1">
                <a:solidFill>
                  <a:srgbClr val="163A6B"/>
                </a:solidFill>
              </a:defRPr>
            </a:pPr>
            <a:r>
              <a:t>Deliverables</a:t>
            </a:r>
          </a:p>
        </p:txBody>
      </p:sp>
      <p:sp>
        <p:nvSpPr>
          <p:cNvPr id="7" name="TextBox 6"/>
          <p:cNvSpPr txBox="1"/>
          <p:nvPr/>
        </p:nvSpPr>
        <p:spPr>
          <a:xfrm>
            <a:off x="457200" y="1828800"/>
            <a:ext cx="3840480" cy="4114800"/>
          </a:xfrm>
          <a:prstGeom prst="rect">
            <a:avLst/>
          </a:prstGeom>
          <a:noFill/>
        </p:spPr>
        <p:txBody>
          <a:bodyPr wrap="square">
            <a:spAutoFit/>
          </a:bodyPr>
          <a:lstStyle/>
          <a:p>
            <a:pPr>
              <a:spcAft>
                <a:spcPts val="600"/>
              </a:spcAft>
              <a:defRPr sz="1300">
                <a:solidFill>
                  <a:srgbClr val="1A1A1A"/>
                </a:solidFill>
              </a:defRPr>
            </a:pPr>
            <a:r>
              <a:t>•  github.com/Foolish-Genius/al_nebula — 59 tests, reproducible commands</a:t>
            </a:r>
          </a:p>
          <a:p>
            <a:pPr>
              <a:spcAft>
                <a:spcPts val="600"/>
              </a:spcAft>
              <a:defRPr sz="1300">
                <a:solidFill>
                  <a:srgbClr val="1A1A1A"/>
                </a:solidFill>
              </a:defRPr>
            </a:pPr>
            <a:r>
              <a:t>•  Report (12 pp, PDF + LaTeX) with every number traceable to an artifact</a:t>
            </a:r>
          </a:p>
          <a:p>
            <a:pPr>
              <a:spcAft>
                <a:spcPts val="600"/>
              </a:spcAft>
              <a:defRPr sz="1300">
                <a:solidFill>
                  <a:srgbClr val="1A1A1A"/>
                </a:solidFill>
              </a:defRPr>
            </a:pPr>
            <a:r>
              <a:t>•  sized_ctle.sp + validation.json for every design; checkpoints; 45-corner PVT</a:t>
            </a:r>
          </a:p>
          <a:p>
            <a:pPr>
              <a:spcAft>
                <a:spcPts val="600"/>
              </a:spcAft>
              <a:defRPr sz="1300">
                <a:solidFill>
                  <a:srgbClr val="1A1A1A"/>
                </a:solidFill>
              </a:defRPr>
            </a:pPr>
            <a:r>
              <a:t>•  scripts/demo_rollout.py — the live demo</a:t>
            </a:r>
          </a:p>
        </p:txBody>
      </p:sp>
      <p:sp>
        <p:nvSpPr>
          <p:cNvPr id="8" name="TextBox 7"/>
          <p:cNvSpPr txBox="1"/>
          <p:nvPr/>
        </p:nvSpPr>
        <p:spPr>
          <a:xfrm>
            <a:off x="4480560" y="1280160"/>
            <a:ext cx="3657600" cy="457200"/>
          </a:xfrm>
          <a:prstGeom prst="rect">
            <a:avLst/>
          </a:prstGeom>
          <a:noFill/>
        </p:spPr>
        <p:txBody>
          <a:bodyPr wrap="square">
            <a:spAutoFit/>
          </a:bodyPr>
          <a:lstStyle/>
          <a:p>
            <a:pPr>
              <a:defRPr sz="2000" b="1">
                <a:solidFill>
                  <a:srgbClr val="163A6B"/>
                </a:solidFill>
              </a:defRPr>
            </a:pPr>
            <a:r>
              <a:t>Limitations</a:t>
            </a:r>
          </a:p>
        </p:txBody>
      </p:sp>
      <p:sp>
        <p:nvSpPr>
          <p:cNvPr id="9" name="TextBox 8"/>
          <p:cNvSpPr txBox="1"/>
          <p:nvPr/>
        </p:nvSpPr>
        <p:spPr>
          <a:xfrm>
            <a:off x="4480560" y="1828800"/>
            <a:ext cx="3657600" cy="4114800"/>
          </a:xfrm>
          <a:prstGeom prst="rect">
            <a:avLst/>
          </a:prstGeom>
          <a:noFill/>
        </p:spPr>
        <p:txBody>
          <a:bodyPr wrap="square">
            <a:spAutoFit/>
          </a:bodyPr>
          <a:lstStyle/>
          <a:p>
            <a:pPr>
              <a:spcAft>
                <a:spcPts val="600"/>
              </a:spcAft>
              <a:defRPr sz="1300">
                <a:solidFill>
                  <a:srgbClr val="1A1A1A"/>
                </a:solidFill>
              </a:defRPr>
            </a:pPr>
            <a:r>
              <a:t>•  DFE in the loop is behavioural; analog slicer not simulated end to end</a:t>
            </a:r>
          </a:p>
          <a:p>
            <a:pPr>
              <a:spcAft>
                <a:spcPts val="600"/>
              </a:spcAft>
              <a:defRPr sz="1300">
                <a:solidFill>
                  <a:srgbClr val="1A1A1A"/>
                </a:solidFill>
              </a:defRPr>
            </a:pPr>
            <a:r>
              <a:t>•  Area: first-order device estimate, not post-layout</a:t>
            </a:r>
          </a:p>
          <a:p>
            <a:pPr>
              <a:spcAft>
                <a:spcPts val="600"/>
              </a:spcAft>
              <a:defRPr sz="1300">
                <a:solidFill>
                  <a:srgbClr val="1A1A1A"/>
                </a:solidFill>
              </a:defRPr>
            </a:pPr>
            <a:r>
              <a:t>•  Curriculum policy is corner-blind (robust, not corner-aware)</a:t>
            </a:r>
          </a:p>
          <a:p>
            <a:pPr>
              <a:spcAft>
                <a:spcPts val="600"/>
              </a:spcAft>
              <a:defRPr sz="1300">
                <a:solidFill>
                  <a:srgbClr val="1A1A1A"/>
                </a:solidFill>
              </a:defRPr>
            </a:pPr>
            <a:r>
              <a:t>•  PDK: IHP, not the synopsis' sky130 (allowed by the brief)</a:t>
            </a:r>
          </a:p>
        </p:txBody>
      </p:sp>
      <p:sp>
        <p:nvSpPr>
          <p:cNvPr id="10" name="TextBox 9"/>
          <p:cNvSpPr txBox="1"/>
          <p:nvPr/>
        </p:nvSpPr>
        <p:spPr>
          <a:xfrm>
            <a:off x="8321040" y="1280160"/>
            <a:ext cx="3657600" cy="457200"/>
          </a:xfrm>
          <a:prstGeom prst="rect">
            <a:avLst/>
          </a:prstGeom>
          <a:noFill/>
        </p:spPr>
        <p:txBody>
          <a:bodyPr wrap="square">
            <a:spAutoFit/>
          </a:bodyPr>
          <a:lstStyle/>
          <a:p>
            <a:pPr>
              <a:defRPr sz="2000" b="1">
                <a:solidFill>
                  <a:srgbClr val="163A6B"/>
                </a:solidFill>
              </a:defRPr>
            </a:pPr>
            <a:r>
              <a:t>Next steps</a:t>
            </a:r>
          </a:p>
        </p:txBody>
      </p:sp>
      <p:sp>
        <p:nvSpPr>
          <p:cNvPr id="11" name="TextBox 10"/>
          <p:cNvSpPr txBox="1"/>
          <p:nvPr/>
        </p:nvSpPr>
        <p:spPr>
          <a:xfrm>
            <a:off x="8321040" y="1828800"/>
            <a:ext cx="3657600" cy="4114800"/>
          </a:xfrm>
          <a:prstGeom prst="rect">
            <a:avLst/>
          </a:prstGeom>
          <a:noFill/>
        </p:spPr>
        <p:txBody>
          <a:bodyPr wrap="square">
            <a:spAutoFit/>
          </a:bodyPr>
          <a:lstStyle/>
          <a:p>
            <a:pPr>
              <a:spcAft>
                <a:spcPts val="600"/>
              </a:spcAft>
              <a:defRPr sz="1300">
                <a:solidFill>
                  <a:srgbClr val="1A1A1A"/>
                </a:solidFill>
              </a:defRPr>
            </a:pPr>
            <a:r>
              <a:t>•  Analog DFE slicer inside the transient gate</a:t>
            </a:r>
          </a:p>
          <a:p>
            <a:pPr>
              <a:spcAft>
                <a:spcPts val="600"/>
              </a:spcAft>
              <a:defRPr sz="1300">
                <a:solidFill>
                  <a:srgbClr val="1A1A1A"/>
                </a:solidFill>
              </a:defRPr>
            </a:pPr>
            <a:r>
              <a:t>•  Corner-aware observation</a:t>
            </a:r>
          </a:p>
          <a:p>
            <a:pPr>
              <a:spcAft>
                <a:spcPts val="600"/>
              </a:spcAft>
              <a:defRPr sz="1300">
                <a:solidFill>
                  <a:srgbClr val="1A1A1A"/>
                </a:solidFill>
              </a:defRPr>
            </a:pPr>
            <a:r>
              <a:t>•  Closed LLM loop: train → read report → re-weight → resume</a:t>
            </a:r>
          </a:p>
          <a:p>
            <a:pPr>
              <a:spcAft>
                <a:spcPts val="600"/>
              </a:spcAft>
              <a:defRPr sz="1300">
                <a:solidFill>
                  <a:srgbClr val="1A1A1A"/>
                </a:solidFill>
              </a:defRPr>
            </a:pPr>
            <a:r>
              <a:t>•  BO baseline + wall-clock vs. manual sweep</a:t>
            </a:r>
          </a:p>
          <a:p>
            <a:pPr>
              <a:spcAft>
                <a:spcPts val="600"/>
              </a:spcAft>
              <a:defRPr sz="1300">
                <a:solidFill>
                  <a:srgbClr val="1A1A1A"/>
                </a:solidFill>
              </a:defRPr>
            </a:pPr>
            <a:r>
              <a:t>•  sky130 backend if required</a:t>
            </a:r>
          </a:p>
        </p:txBody>
      </p:sp>
      <p:sp>
        <p:nvSpPr>
          <p:cNvPr id="12" name="TextBox 11"/>
          <p:cNvSpPr txBox="1"/>
          <p:nvPr/>
        </p:nvSpPr>
        <p:spPr>
          <a:xfrm>
            <a:off x="457200" y="5669280"/>
            <a:ext cx="10972800" cy="548640"/>
          </a:xfrm>
          <a:prstGeom prst="rect">
            <a:avLst/>
          </a:prstGeom>
          <a:noFill/>
        </p:spPr>
        <p:txBody>
          <a:bodyPr wrap="square">
            <a:spAutoFit/>
          </a:bodyPr>
          <a:lstStyle/>
          <a:p>
            <a:pPr algn="ctr">
              <a:defRPr sz="2200" b="1">
                <a:solidFill>
                  <a:srgbClr val="163A6B"/>
                </a:solidFill>
              </a:defRPr>
            </a:pPr>
            <a: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