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0:00–0:25 — Introduction. Show: project title / README / repository homepage.</a:t>
            </a:r>
          </a:p>
          <a:p/>
          <a:p>
            <a:r>
              <a:t>Hello everyone. This is our project, AutoAnalog-RL — Automated Sizing of High-Speed Interface Circuits via Reinforcement Learning.</a:t>
            </a:r>
          </a:p>
          <a:p/>
          <a:p>
            <a:r>
              <a:t>Our objective is to automatically size a PCIe Gen 2 receiver equalizer consisting of a one-stage CTLE and a one-tap DFE, using reinforcement learning and circuit simulation.</a:t>
            </a:r>
          </a:p>
          <a:p/>
          <a:p>
            <a:r>
              <a:t>Instead of manually sweeping circuit parameters, our SAC agent interacts directly with ngspice and searches for a design that satisfies the required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0:25–1:00 — Repository and overall flow. Show: GitHub repository → folders rl/, spice/, netlists/, scripts/, tests/.</a:t>
            </a:r>
          </a:p>
          <a:p/>
          <a:p>
            <a:r>
              <a:t>This is our project repository.</a:t>
            </a:r>
          </a:p>
          <a:p/>
          <a:p>
            <a:r>
              <a:t>The rl folder contains the specifications, reward function, environment, DFE and PVT implementation. The spice folder handles the simulator interface and measurements, while netlists contains the circuit topology.</a:t>
            </a:r>
          </a:p>
          <a:p/>
          <a:p>
            <a:r>
              <a:t>The main training and evaluation scripts are inside scripts, and we also have a regression test suite.</a:t>
            </a:r>
          </a:p>
          <a:p/>
          <a:p>
            <a:r>
              <a:t>The overall flow is: the SAC agent generates a normalized design action, the evaluator converts it into circuit parameters, generates the SPICE netlist, and runs the simulations. The resulting circuit metrics are then converted into a reward and sent back to the agent.</a:t>
            </a:r>
          </a:p>
          <a:p/>
          <a:p>
            <a:r>
              <a:t>Show: architecture diagram.</a:t>
            </a:r>
          </a:p>
          <a:p/>
          <a:p>
            <a:r>
              <a:t>The simulator uses the IHP sg13g2 130-nanometer open PDK with PSP103 models, running through ngspice.</a:t>
            </a:r>
          </a:p>
          <a:p/>
          <a:p>
            <a:r>
              <a:t>[ADDED] The brief allows either IHP or sky130; our synopsis named sky130 — we built on IHP because its PSP103 Verilog-A models run through ngspice's OSDI interface at about 0.6 seconds per RL step.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1:00–1:35 — Circuit and parameters. Show: CTLE circuit diagram.</a:t>
            </a:r>
          </a:p>
          <a:p/>
          <a:p>
            <a:r>
              <a:t>The circuit being sized is a differential NMOS CTLE with resistive loads and RC source degeneration.</a:t>
            </a:r>
          </a:p>
          <a:p/>
          <a:p>
            <a:r>
              <a:t>The agent controls five CTLE parameters: input transistor width, load resistance, bias current, source degeneration resistance, and source degeneration capacitance.</a:t>
            </a:r>
          </a:p>
          <a:p/>
          <a:p>
            <a:r>
              <a:t>For the complete equalizer, a sixth parameter is added for the one-tap DFE.</a:t>
            </a:r>
          </a:p>
          <a:p/>
          <a:p>
            <a:r>
              <a:t>At every step, the evaluator checks the design progressively: first the DC operating point, then AC response and peaking, followed by the PRBS transient through the lossy channel, eye measurement and DFE, and finally the HD3 linearity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1:35–2:25 — RL training demo. Show: the captured rollout on this slide (optionally alt-tab to a terminal and run demo_rollout.py live), then the learning curves on the next slide.</a:t>
            </a:r>
          </a:p>
          <a:p/>
          <a:p>
            <a:r>
              <a:t>Now we move to the main part of the project — the reinforcement learning loop.</a:t>
            </a:r>
          </a:p>
          <a:p/>
          <a:p>
            <a:r>
              <a:t>We use a Soft Actor-Critic, or SAC, agent. The agent starts from a random circuit design and learns which parameter changes improve the circuit performance.</a:t>
            </a:r>
          </a:p>
          <a:p/>
          <a:p>
            <a:r>
              <a:t>The reward considers the specification violations as well as power and the margin from the required specifications.</a:t>
            </a:r>
          </a:p>
          <a:p/>
          <a:p>
            <a:r>
              <a:t>We also use fail-fast simulation, so a design that already fails an early gate does not unnecessarily spend simulation time on the later analyses.</a:t>
            </a:r>
          </a:p>
          <a:p/>
          <a:p>
            <a:r>
              <a:t>[ADDED] What you see here is the trained policy running from a random design at a random corner. Each line is one ngspice evaluation of a new design; the checklist on the right shows which specs pass. From a random start at a random corner, every spec is met within a few simulations and the sized netlist is written.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learning curve / reward curve / feasible fraction (and a live-training capture from reports/screenshots if you want to show it ran).</a:t>
            </a:r>
          </a:p>
          <a:p/>
          <a:p>
            <a:r>
              <a:t>The training converges in approximately two thousand environment steps. Across the three base seeds, all 60 out of 60 deterministic rollouts reached a feasible design, with an average of about 2.5 steps to reach feasibility.</a:t>
            </a:r>
          </a:p>
          <a:p/>
          <a:p>
            <a:r>
              <a:t>These plots show the reward and feasibility improving during training, demonstrating that the agent is learning rather than simply performing a blind sweep.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2:25–3:15 — Show actual circuit results. Show: eye diagram first.</a:t>
            </a:r>
          </a:p>
          <a:p/>
          <a:p>
            <a:r>
              <a:t>Here is one of the key outputs — the post-channel eye diagram.</a:t>
            </a:r>
          </a:p>
          <a:p/>
          <a:p>
            <a:r>
              <a:t>For the seed-1 design, the measured eye height is about 0.327 volts with an eye width of 0.88 UI, which satisfies our internal target of 0.25 volts and 0.7 UI.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AC response plot.</a:t>
            </a:r>
          </a:p>
          <a:p/>
          <a:p>
            <a:r>
              <a:t>Next is the AC response. The design shows approximately 4.2 dB of high-frequency peaking at the 2.5 GHz Nyquist frequency, which is within our required 3 to 12 dB range.</a:t>
            </a:r>
          </a:p>
          <a:p/>
          <a:p>
            <a:r>
              <a:t>[ADDED] The Nyquist frequency is a specification input: retargeting the same policy to 1.25 gigahertz, PCIe Gen 1, gives 5.23 dB of peaking where the 2.5 gigahertz design gave only 2.87, with 20 out of 20 rollouts feasible.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45-corner plot / validation table, then the results table.</a:t>
            </a:r>
          </a:p>
          <a:p/>
          <a:p>
            <a:r>
              <a:t>The design is then validated across the complete 45 PVT corners. The peaking remains within the required range across all of these corners.</a:t>
            </a:r>
          </a:p>
          <a:p/>
          <a:p>
            <a:r>
              <a:t>[ADDED] The policy was also fine-tuned across all 45 corners: in evaluation, 24 of 24 rollouts that started at random corners reached a feasible design in a median of 2 steps.</a:t>
            </a:r>
          </a:p>
          <a:p/>
          <a:p>
            <a:r>
              <a:t>For the curriculum-trained design, the best result has an eye height of 0.370 volts, power of 1.12 milliwatts, and HD3 of minus 61.9 dB, while passing all 45 PVT corners.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3:15–3:45 — DFE demo. Show: CTLE → channel → DFE diagram and DFE eye plot.</a:t>
            </a:r>
          </a:p>
          <a:p/>
          <a:p>
            <a:r>
              <a:t>We also extended the system to size the complete equalizer by adding a one-tap DFE.</a:t>
            </a:r>
          </a:p>
          <a:p/>
          <a:p>
            <a:r>
              <a:t>Importantly, we corrected the eye measurement so that the DFE eye is evaluated against the transmitted PRBS bits rather than the DFE's own decisions.</a:t>
            </a:r>
          </a:p>
          <a:p/>
          <a:p>
            <a:r>
              <a:t>With the corrected measurement, the DFE still provides a real improvement. One example improves the eye height from 0.327 volts to 0.455 volts with a tap of approximately plus 0.075, with no bit errors.</a:t>
            </a:r>
          </a:p>
          <a:p/>
          <a:p>
            <a:r>
              <a:t>[ADDED] We found and fixed two measurement flaws this way, by letting the agent exploit them: an FFT leakage floor that had faked an HD3 failure at minus 25 dB — the real value is minus 58 — and the self-labelled DFE eye, where the agent pushed the tap to its bound while the receiver got 54 of 127 bits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3:45–4:20 — Compare with conventional search. Show: SAC vs random / CMA-ES graph and table.</a:t>
            </a:r>
          </a:p>
          <a:p/>
          <a:p>
            <a:r>
              <a:t>Finally, we compare the RL policy against conventional search methods.</a:t>
            </a:r>
          </a:p>
          <a:p/>
          <a:p>
            <a:r>
              <a:t>Random search requires about 13 simulations per feasible design, while CMA-ES requires around 9 simulations from random starting points.</a:t>
            </a:r>
          </a:p>
          <a:p/>
          <a:p>
            <a:r>
              <a:t>In comparison, the trained SAC policy reaches a feasible design in a median of 2 to 3 simulations, without performing a new optimization search for every starting point.</a:t>
            </a:r>
          </a:p>
          <a:p/>
          <a:p>
            <a:r>
              <a:t>We also tested the pre-ML AC-only bounded search. Although it could optimize the AC response, its resulting post-channel eye was only 0.160 volts, showing why optimizing only frequency-domain characteristics is not sufficient.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4:20–4:45 — Reproducibility / final output. Show: terminal command → generated sized_ctle.sp → JSON/CSV/PNG output.</a:t>
            </a:r>
          </a:p>
          <a:p/>
          <a:p>
            <a:r>
              <a:t>The entire flow is reproducible through the scripts in our repository.</a:t>
            </a:r>
          </a:p>
          <a:p/>
          <a:p>
            <a:r>
              <a:t>The training and evaluation scripts generate JSON, CSV and PNG evidence, and every validated design also produces a sized SPICE netlist containing the circuit parameters, model information and DFE tap.</a:t>
            </a:r>
          </a:p>
          <a:p/>
          <a:p>
            <a:r>
              <a:t>So the final output is not just an RL score — it is an actual sized circuit together with its simulation and validation results.</a:t>
            </a:r>
          </a:p>
          <a:p/>
          <a:p>
            <a:r>
              <a:t>[ADDED, optional 15 s] Show the LLM frontend: run reward_from_feedback.py with a sentence such as "power matters much more than eye margin" and show the weights JSON that feeds --reward-settings.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4:45–5:00 — Closing. Show: final result summary / repository.</a:t>
            </a:r>
          </a:p>
          <a:p/>
          <a:p>
            <a:r>
              <a:t>To summarize, AutoAnalog-RL combines reinforcement learning, SPICE simulation and PVT-aware validation to automatically size a high-speed receiver equalizer.</a:t>
            </a:r>
          </a:p>
          <a:p/>
          <a:p>
            <a:r>
              <a:t>Our trained policy achieves feasible designs in only a few simulations, passes the required circuit specifications and all 45 PVT corners, and produces a corresponding sized netlist.</a:t>
            </a:r>
          </a:p>
          <a:p/>
          <a:p>
            <a:r>
              <a:t>Thank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on the peaking specification.</a:t>
            </a:r>
          </a:p>
          <a:p/>
          <a:p>
            <a:r>
              <a:t>We rolled the trained policy out against peaking floors of 3, 5 and 7 dB at the TT corner. It was trained only at 3 dB and responds correctly to the others: as the floor rises it trades DC gain away, 11.8 down to 9.3 dB, and pushes the peak higher in frequency.</a:t>
            </a:r>
          </a:p>
          <a:p/>
          <a:p>
            <a:r>
              <a:t>The 7 dB case is the clearest illustration of the measurement question. That design reaches 7.09 dB by the maximum-minus-DC definition but only 6.72 dB measured at Nyquist, so our specification calls it a failure while the other definition would pass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on the DFE.</a:t>
            </a:r>
          </a:p>
          <a:p/>
          <a:p>
            <a:r>
              <a:t>Left: the eye as it leaves the CTLE, with the sampling instants marked. Right: the same samples after the one-tap DFE correction, at the tap the policy chose, plus 0.062. The opening improves from about 324 to 346 millivolts. The validation record reports 324.5 to 355.5, measured against the transmitted bit sequence rather than by the sampling phase used for this figure.</a:t>
            </a:r>
          </a:p>
          <a:p/>
          <a:p>
            <a:r>
              <a:t>The tap is about a tenth of its available range, which is the right answer for this channel: the post-cursor is small, so a larger tap would buy nothing.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the review comment about a mismatch between the positive and negative swing.</a:t>
            </a:r>
          </a:p>
          <a:p/>
          <a:p>
            <a:r>
              <a:t>That observation was correct, and it was a symptom of a real bug. In the earlier run the eye was labelled using the DFE's own decisions, so a large tap separated the two groups by itself and the agent was rewarded for driving the tap to its bound of 0.5. It reported a 0.70 volt eye while the receiver decided 54 of 127 bits wrongly, and the four output levels were badly mismatched, with half the bits on the wrong side of zero.</a:t>
            </a:r>
          </a:p>
          <a:p/>
          <a:p>
            <a:r>
              <a:t>The eye is now measured against the transmitted bits, bit errors are counted, and any error gives a zero eye. The levels are now an exact mirror.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515600" cy="1097280"/>
          </a:xfrm>
          <a:prstGeom prst="rect">
            <a:avLst/>
          </a:prstGeom>
          <a:noFill/>
        </p:spPr>
        <p:txBody>
          <a:bodyPr wrap="square">
            <a:spAutoFit/>
          </a:bodyPr>
          <a:lstStyle/>
          <a:p>
            <a:pPr>
              <a:defRPr sz="5400" b="1">
                <a:solidFill>
                  <a:srgbClr val="FFFFFF"/>
                </a:solidFill>
              </a:defRPr>
            </a:pPr>
            <a:r>
              <a:t>AutoAnalog-RL</a:t>
            </a:r>
          </a:p>
        </p:txBody>
      </p:sp>
      <p:sp>
        <p:nvSpPr>
          <p:cNvPr id="4" name="TextBox 3"/>
          <p:cNvSpPr txBox="1"/>
          <p:nvPr/>
        </p:nvSpPr>
        <p:spPr>
          <a:xfrm>
            <a:off x="731520" y="2651760"/>
            <a:ext cx="10515600" cy="731520"/>
          </a:xfrm>
          <a:prstGeom prst="rect">
            <a:avLst/>
          </a:prstGeom>
          <a:noFill/>
        </p:spPr>
        <p:txBody>
          <a:bodyPr wrap="square">
            <a:spAutoFit/>
          </a:bodyPr>
          <a:lstStyle/>
          <a:p>
            <a:pPr>
              <a:defRPr sz="2400" b="0">
                <a:solidFill>
                  <a:srgbClr val="FFFFFF"/>
                </a:solidFill>
              </a:defRPr>
            </a:pPr>
            <a:r>
              <a:t>Automated Sizing of High-Speed Interface Circuits via Reinforcement Learning</a:t>
            </a:r>
          </a:p>
        </p:txBody>
      </p:sp>
      <p:sp>
        <p:nvSpPr>
          <p:cNvPr id="5" name="TextBox 4"/>
          <p:cNvSpPr txBox="1"/>
          <p:nvPr/>
        </p:nvSpPr>
        <p:spPr>
          <a:xfrm>
            <a:off x="731520" y="3474720"/>
            <a:ext cx="10515600" cy="822960"/>
          </a:xfrm>
          <a:prstGeom prst="rect">
            <a:avLst/>
          </a:prstGeom>
          <a:noFill/>
        </p:spPr>
        <p:txBody>
          <a:bodyPr wrap="square">
            <a:spAutoFit/>
          </a:bodyPr>
          <a:lstStyle/>
          <a:p>
            <a:pPr>
              <a:defRPr sz="1600" b="0">
                <a:solidFill>
                  <a:srgbClr val="C8D4E8"/>
                </a:solidFill>
              </a:defRPr>
            </a:pPr>
            <a:r>
              <a:t>PCIe Gen 2 (5 Gbps) receiver equalizer: one-stage CTLE + one-tap DFE  ·  SAC agent driving ngspice  ·  IHP sg13g2 130 nm open PDK</a:t>
            </a:r>
          </a:p>
        </p:txBody>
      </p:sp>
      <p:sp>
        <p:nvSpPr>
          <p:cNvPr id="6" name="TextBox 5"/>
          <p:cNvSpPr txBox="1"/>
          <p:nvPr/>
        </p:nvSpPr>
        <p:spPr>
          <a:xfrm>
            <a:off x="731520" y="4480560"/>
            <a:ext cx="10515600" cy="457200"/>
          </a:xfrm>
          <a:prstGeom prst="rect">
            <a:avLst/>
          </a:prstGeom>
          <a:noFill/>
        </p:spPr>
        <p:txBody>
          <a:bodyPr wrap="square">
            <a:spAutoFit/>
          </a:bodyPr>
          <a:lstStyle/>
          <a:p>
            <a:pPr>
              <a:defRPr sz="1600" b="0">
                <a:solidFill>
                  <a:srgbClr val="FFFFFF"/>
                </a:solidFill>
                <a:latin typeface="Consolas"/>
              </a:defRPr>
            </a:pPr>
            <a:r>
              <a:t>github.com/Foolish-Genius/al_nebula</a:t>
            </a:r>
          </a:p>
        </p:txBody>
      </p:sp>
      <p:sp>
        <p:nvSpPr>
          <p:cNvPr id="7" name="TextBox 6"/>
          <p:cNvSpPr txBox="1"/>
          <p:nvPr/>
        </p:nvSpPr>
        <p:spPr>
          <a:xfrm>
            <a:off x="731520" y="5120640"/>
            <a:ext cx="10515600" cy="914400"/>
          </a:xfrm>
          <a:prstGeom prst="rect">
            <a:avLst/>
          </a:prstGeom>
          <a:noFill/>
        </p:spPr>
        <p:txBody>
          <a:bodyPr wrap="square">
            <a:spAutoFit/>
          </a:bodyPr>
          <a:lstStyle/>
          <a:p>
            <a:pPr>
              <a:defRPr sz="1600" b="0">
                <a:solidFill>
                  <a:srgbClr val="FFFFFF"/>
                </a:solidFill>
              </a:defRPr>
            </a:pPr>
            <a:r>
              <a:t>Team: TBD</a:t>
            </a:r>
          </a:p>
          <a:p>
            <a:pPr>
              <a:defRPr sz="1600" b="0">
                <a:solidFill>
                  <a:srgbClr val="FFFFFF"/>
                </a:solidFill>
              </a:defRPr>
            </a:pPr>
            <a:r>
              <a:t>Nebula — AI/ML for Analog Circuit Design  ·  Round 0  ·  15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Repository and overall flow</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0:25 – 1:00</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2</a:t>
            </a:r>
          </a:p>
        </p:txBody>
      </p:sp>
      <p:pic>
        <p:nvPicPr>
          <p:cNvPr id="6" name="Picture 5" descr="repo_page_crop.png"/>
          <p:cNvPicPr>
            <a:picLocks noChangeAspect="1"/>
          </p:cNvPicPr>
          <p:nvPr/>
        </p:nvPicPr>
        <p:blipFill>
          <a:blip r:embed="rId3"/>
          <a:stretch>
            <a:fillRect/>
          </a:stretch>
        </p:blipFill>
        <p:spPr>
          <a:xfrm>
            <a:off x="365760" y="1143000"/>
            <a:ext cx="4804677" cy="4114800"/>
          </a:xfrm>
          <a:prstGeom prst="rect">
            <a:avLst/>
          </a:prstGeom>
        </p:spPr>
      </p:pic>
      <p:sp>
        <p:nvSpPr>
          <p:cNvPr id="7" name="TextBox 6"/>
          <p:cNvSpPr txBox="1"/>
          <p:nvPr/>
        </p:nvSpPr>
        <p:spPr>
          <a:xfrm>
            <a:off x="365760" y="5303520"/>
            <a:ext cx="5394960" cy="685800"/>
          </a:xfrm>
          <a:prstGeom prst="rect">
            <a:avLst/>
          </a:prstGeom>
          <a:noFill/>
        </p:spPr>
        <p:txBody>
          <a:bodyPr wrap="square">
            <a:spAutoFit/>
          </a:bodyPr>
          <a:lstStyle/>
          <a:p>
            <a:pPr>
              <a:defRPr sz="1000" b="0">
                <a:solidFill>
                  <a:srgbClr val="555B66"/>
                </a:solidFill>
              </a:defRPr>
            </a:pPr>
            <a:r>
              <a:t>rl/ specs, reward, environment, DFE, PVT, LLM feedback · spice/ ngspice adapter and every gate · netlists/ CTLE topology · scripts/ train, evaluate, baselines, demo · tests/ 59 tests · tools/ Windows OSDI link shim</a:t>
            </a:r>
          </a:p>
        </p:txBody>
      </p:sp>
      <p:sp>
        <p:nvSpPr>
          <p:cNvPr id="8" name="TextBox 7"/>
          <p:cNvSpPr txBox="1"/>
          <p:nvPr/>
        </p:nvSpPr>
        <p:spPr>
          <a:xfrm>
            <a:off x="365760" y="5943600"/>
            <a:ext cx="5394960" cy="457200"/>
          </a:xfrm>
          <a:prstGeom prst="rect">
            <a:avLst/>
          </a:prstGeom>
          <a:noFill/>
        </p:spPr>
        <p:txBody>
          <a:bodyPr wrap="square">
            <a:spAutoFit/>
          </a:bodyPr>
          <a:lstStyle/>
          <a:p>
            <a:pPr>
              <a:defRPr sz="1000" b="0">
                <a:solidFill>
                  <a:srgbClr val="555B66"/>
                </a:solidFill>
              </a:defRPr>
            </a:pPr>
            <a:r>
              <a:t>Simulator: IHP sg13g2 130 nm, PSP103 via OpenVAF/OSDI in ngspice 47, 8 processes, ~0.6 s per step (brief allows IHP or sky130)</a:t>
            </a:r>
          </a:p>
        </p:txBody>
      </p:sp>
      <p:sp>
        <p:nvSpPr>
          <p:cNvPr id="9" name="Rounded Rectangle 8"/>
          <p:cNvSpPr/>
          <p:nvPr/>
        </p:nvSpPr>
        <p:spPr>
          <a:xfrm>
            <a:off x="5943600" y="1280160"/>
            <a:ext cx="5852160" cy="566928"/>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SAC agent</a:t>
            </a:r>
          </a:p>
        </p:txBody>
      </p:sp>
      <p:sp>
        <p:nvSpPr>
          <p:cNvPr id="10" name="Down Arrow 9"/>
          <p:cNvSpPr/>
          <p:nvPr/>
        </p:nvSpPr>
        <p:spPr>
          <a:xfrm>
            <a:off x="8741664" y="1883664"/>
            <a:ext cx="256032" cy="237744"/>
          </a:xfrm>
          <a:prstGeom prst="down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0" y="2157984"/>
            <a:ext cx="5852160" cy="566928"/>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Environment</a:t>
            </a:r>
          </a:p>
        </p:txBody>
      </p:sp>
      <p:sp>
        <p:nvSpPr>
          <p:cNvPr id="12" name="Down Arrow 11"/>
          <p:cNvSpPr/>
          <p:nvPr/>
        </p:nvSpPr>
        <p:spPr>
          <a:xfrm>
            <a:off x="8741664" y="2761488"/>
            <a:ext cx="256032" cy="237744"/>
          </a:xfrm>
          <a:prstGeom prst="down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943600" y="3035808"/>
            <a:ext cx="5852160" cy="91440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SpiceEvaluator</a:t>
            </a:r>
          </a:p>
          <a:p>
            <a:pPr algn="ctr">
              <a:defRPr sz="1100" b="0">
                <a:solidFill>
                  <a:srgbClr val="FFFFFF"/>
                </a:solidFill>
              </a:defRPr>
            </a:pPr>
            <a:r>
              <a:t>.op → .ac → PRBS .tran</a:t>
            </a:r>
          </a:p>
          <a:p>
            <a:pPr algn="ctr">
              <a:defRPr sz="1100" b="0">
                <a:solidFill>
                  <a:srgbClr val="FFFFFF"/>
                </a:solidFill>
              </a:defRPr>
            </a:pPr>
            <a:r>
              <a:t>→ eye/DFE → HD3</a:t>
            </a:r>
          </a:p>
        </p:txBody>
      </p:sp>
      <p:sp>
        <p:nvSpPr>
          <p:cNvPr id="14" name="Down Arrow 13"/>
          <p:cNvSpPr/>
          <p:nvPr/>
        </p:nvSpPr>
        <p:spPr>
          <a:xfrm>
            <a:off x="8741664" y="3986784"/>
            <a:ext cx="256032" cy="237744"/>
          </a:xfrm>
          <a:prstGeom prst="down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0" y="4261104"/>
            <a:ext cx="5852160" cy="566928"/>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ngspice ×8</a:t>
            </a:r>
          </a:p>
        </p:txBody>
      </p:sp>
      <p:sp>
        <p:nvSpPr>
          <p:cNvPr id="16" name="Down Arrow 15"/>
          <p:cNvSpPr/>
          <p:nvPr/>
        </p:nvSpPr>
        <p:spPr>
          <a:xfrm>
            <a:off x="8741664" y="4864608"/>
            <a:ext cx="256032" cy="237744"/>
          </a:xfrm>
          <a:prstGeom prst="down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43600" y="5138928"/>
            <a:ext cx="5852160" cy="566928"/>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Outputs</a:t>
            </a:r>
          </a:p>
        </p:txBody>
      </p:sp>
      <p:sp>
        <p:nvSpPr>
          <p:cNvPr id="18" name="Rounded Rectangle 17"/>
          <p:cNvSpPr/>
          <p:nvPr/>
        </p:nvSpPr>
        <p:spPr>
          <a:xfrm>
            <a:off x="5943600" y="6062472"/>
            <a:ext cx="5852160" cy="457200"/>
          </a:xfrm>
          <a:prstGeom prst="roundRect">
            <a:avLst/>
          </a:prstGeom>
          <a:solidFill>
            <a:srgbClr val="B7791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LLM frontend: feedback → reward weights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Circuit and parameters</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1:00 – 1:35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3</a:t>
            </a:r>
          </a:p>
        </p:txBody>
      </p:sp>
      <p:pic>
        <p:nvPicPr>
          <p:cNvPr id="6" name="Picture 5" descr="ctle_schematic.png"/>
          <p:cNvPicPr>
            <a:picLocks noChangeAspect="1"/>
          </p:cNvPicPr>
          <p:nvPr/>
        </p:nvPicPr>
        <p:blipFill>
          <a:blip r:embed="rId3"/>
          <a:stretch>
            <a:fillRect/>
          </a:stretch>
        </p:blipFill>
        <p:spPr>
          <a:xfrm>
            <a:off x="457200" y="1188720"/>
            <a:ext cx="5941321" cy="3566160"/>
          </a:xfrm>
          <a:prstGeom prst="rect">
            <a:avLst/>
          </a:prstGeom>
        </p:spPr>
      </p:pic>
      <p:graphicFrame>
        <p:nvGraphicFramePr>
          <p:cNvPr id="7" name="Table 6"/>
          <p:cNvGraphicFramePr>
            <a:graphicFrameLocks noGrp="1"/>
          </p:cNvGraphicFramePr>
          <p:nvPr/>
        </p:nvGraphicFramePr>
        <p:xfrm>
          <a:off x="6583680" y="1280160"/>
          <a:ext cx="5120640" cy="2432304"/>
        </p:xfrm>
        <a:graphic>
          <a:graphicData uri="http://schemas.openxmlformats.org/drawingml/2006/table">
            <a:tbl>
              <a:tblPr firstRow="1" bandRow="1">
                <a:tableStyleId>{5C22544A-7EE6-4342-B048-85BDC9FD1C3A}</a:tableStyleId>
              </a:tblPr>
              <a:tblGrid>
                <a:gridCol w="2926080"/>
                <a:gridCol w="2194560"/>
              </a:tblGrid>
              <a:tr h="347472">
                <a:tc>
                  <a:txBody>
                    <a:bodyPr/>
                    <a:lstStyle/>
                    <a:p>
                      <a:pPr>
                        <a:defRPr sz="1300" b="1">
                          <a:solidFill>
                            <a:srgbClr val="FFFFFF"/>
                          </a:solidFill>
                        </a:defRPr>
                      </a:pPr>
                      <a:r>
                        <a:t>Parameter</a:t>
                      </a:r>
                    </a:p>
                  </a:txBody>
                  <a:tcPr marL="54864" marR="54864" marT="27432" marB="27432">
                    <a:solidFill>
                      <a:srgbClr val="2B5797"/>
                    </a:solidFill>
                  </a:tcPr>
                </a:tc>
                <a:tc>
                  <a:txBody>
                    <a:bodyPr/>
                    <a:lstStyle/>
                    <a:p>
                      <a:pPr>
                        <a:defRPr sz="1300" b="1">
                          <a:solidFill>
                            <a:srgbClr val="FFFFFF"/>
                          </a:solidFill>
                        </a:defRPr>
                      </a:pPr>
                      <a:r>
                        <a:t>Range</a:t>
                      </a:r>
                    </a:p>
                  </a:txBody>
                  <a:tcPr marL="54864" marR="54864" marT="27432" marB="27432">
                    <a:solidFill>
                      <a:srgbClr val="2B5797"/>
                    </a:solidFill>
                  </a:tcPr>
                </a:tc>
              </a:tr>
              <a:tr h="347472">
                <a:tc>
                  <a:txBody>
                    <a:bodyPr/>
                    <a:lstStyle/>
                    <a:p>
                      <a:pPr>
                        <a:defRPr sz="1300" b="0">
                          <a:solidFill>
                            <a:srgbClr val="1A1A1A"/>
                          </a:solidFill>
                        </a:defRPr>
                      </a:pPr>
                      <a:r>
                        <a:t>W_in  input width</a:t>
                      </a:r>
                    </a:p>
                  </a:txBody>
                  <a:tcPr marL="54864" marR="54864" marT="27432" marB="27432">
                    <a:solidFill>
                      <a:srgbClr val="FFFFFF"/>
                    </a:solidFill>
                  </a:tcPr>
                </a:tc>
                <a:tc>
                  <a:txBody>
                    <a:bodyPr/>
                    <a:lstStyle/>
                    <a:p>
                      <a:pPr>
                        <a:defRPr sz="1300" b="0">
                          <a:solidFill>
                            <a:srgbClr val="1A1A1A"/>
                          </a:solidFill>
                        </a:defRPr>
                      </a:pPr>
                      <a:r>
                        <a:t>0.5 – 50 µm</a:t>
                      </a:r>
                    </a:p>
                  </a:txBody>
                  <a:tcPr marL="54864" marR="54864" marT="27432" marB="27432">
                    <a:solidFill>
                      <a:srgbClr val="FFFFFF"/>
                    </a:solidFill>
                  </a:tcPr>
                </a:tc>
              </a:tr>
              <a:tr h="347472">
                <a:tc>
                  <a:txBody>
                    <a:bodyPr/>
                    <a:lstStyle/>
                    <a:p>
                      <a:pPr>
                        <a:defRPr sz="1300" b="0">
                          <a:solidFill>
                            <a:srgbClr val="1A1A1A"/>
                          </a:solidFill>
                        </a:defRPr>
                      </a:pPr>
                      <a:r>
                        <a:t>R_load</a:t>
                      </a:r>
                    </a:p>
                  </a:txBody>
                  <a:tcPr marL="54864" marR="54864" marT="27432" marB="27432">
                    <a:solidFill>
                      <a:srgbClr val="F2F4F7"/>
                    </a:solidFill>
                  </a:tcPr>
                </a:tc>
                <a:tc>
                  <a:txBody>
                    <a:bodyPr/>
                    <a:lstStyle/>
                    <a:p>
                      <a:pPr>
                        <a:defRPr sz="1300" b="0">
                          <a:solidFill>
                            <a:srgbClr val="1A1A1A"/>
                          </a:solidFill>
                        </a:defRPr>
                      </a:pPr>
                      <a:r>
                        <a:t>100 – 1000 Ω</a:t>
                      </a:r>
                    </a:p>
                  </a:txBody>
                  <a:tcPr marL="54864" marR="54864" marT="27432" marB="27432">
                    <a:solidFill>
                      <a:srgbClr val="F2F4F7"/>
                    </a:solidFill>
                  </a:tcPr>
                </a:tc>
              </a:tr>
              <a:tr h="347472">
                <a:tc>
                  <a:txBody>
                    <a:bodyPr/>
                    <a:lstStyle/>
                    <a:p>
                      <a:pPr>
                        <a:defRPr sz="1300" b="0">
                          <a:solidFill>
                            <a:srgbClr val="1A1A1A"/>
                          </a:solidFill>
                        </a:defRPr>
                      </a:pPr>
                      <a:r>
                        <a:t>I_bias</a:t>
                      </a:r>
                    </a:p>
                  </a:txBody>
                  <a:tcPr marL="54864" marR="54864" marT="27432" marB="27432">
                    <a:solidFill>
                      <a:srgbClr val="FFFFFF"/>
                    </a:solidFill>
                  </a:tcPr>
                </a:tc>
                <a:tc>
                  <a:txBody>
                    <a:bodyPr/>
                    <a:lstStyle/>
                    <a:p>
                      <a:pPr>
                        <a:defRPr sz="1300" b="0">
                          <a:solidFill>
                            <a:srgbClr val="1A1A1A"/>
                          </a:solidFill>
                        </a:defRPr>
                      </a:pPr>
                      <a:r>
                        <a:t>0.1 – 2 mA</a:t>
                      </a:r>
                    </a:p>
                  </a:txBody>
                  <a:tcPr marL="54864" marR="54864" marT="27432" marB="27432">
                    <a:solidFill>
                      <a:srgbClr val="FFFFFF"/>
                    </a:solidFill>
                  </a:tcPr>
                </a:tc>
              </a:tr>
              <a:tr h="347472">
                <a:tc>
                  <a:txBody>
                    <a:bodyPr/>
                    <a:lstStyle/>
                    <a:p>
                      <a:pPr>
                        <a:defRPr sz="1300" b="0">
                          <a:solidFill>
                            <a:srgbClr val="1A1A1A"/>
                          </a:solidFill>
                        </a:defRPr>
                      </a:pPr>
                      <a:r>
                        <a:t>R_s  degeneration</a:t>
                      </a:r>
                    </a:p>
                  </a:txBody>
                  <a:tcPr marL="54864" marR="54864" marT="27432" marB="27432">
                    <a:solidFill>
                      <a:srgbClr val="F2F4F7"/>
                    </a:solidFill>
                  </a:tcPr>
                </a:tc>
                <a:tc>
                  <a:txBody>
                    <a:bodyPr/>
                    <a:lstStyle/>
                    <a:p>
                      <a:pPr>
                        <a:defRPr sz="1300" b="0">
                          <a:solidFill>
                            <a:srgbClr val="1A1A1A"/>
                          </a:solidFill>
                        </a:defRPr>
                      </a:pPr>
                      <a:r>
                        <a:t>10 – 500 Ω</a:t>
                      </a:r>
                    </a:p>
                  </a:txBody>
                  <a:tcPr marL="54864" marR="54864" marT="27432" marB="27432">
                    <a:solidFill>
                      <a:srgbClr val="F2F4F7"/>
                    </a:solidFill>
                  </a:tcPr>
                </a:tc>
              </a:tr>
              <a:tr h="347472">
                <a:tc>
                  <a:txBody>
                    <a:bodyPr/>
                    <a:lstStyle/>
                    <a:p>
                      <a:pPr>
                        <a:defRPr sz="1300" b="0">
                          <a:solidFill>
                            <a:srgbClr val="1A1A1A"/>
                          </a:solidFill>
                        </a:defRPr>
                      </a:pPr>
                      <a:r>
                        <a:t>C_s  degeneration</a:t>
                      </a:r>
                    </a:p>
                  </a:txBody>
                  <a:tcPr marL="54864" marR="54864" marT="27432" marB="27432">
                    <a:solidFill>
                      <a:srgbClr val="FFFFFF"/>
                    </a:solidFill>
                  </a:tcPr>
                </a:tc>
                <a:tc>
                  <a:txBody>
                    <a:bodyPr/>
                    <a:lstStyle/>
                    <a:p>
                      <a:pPr>
                        <a:defRPr sz="1300" b="0">
                          <a:solidFill>
                            <a:srgbClr val="1A1A1A"/>
                          </a:solidFill>
                        </a:defRPr>
                      </a:pPr>
                      <a:r>
                        <a:t>1 fF – 1 pF</a:t>
                      </a:r>
                    </a:p>
                  </a:txBody>
                  <a:tcPr marL="54864" marR="54864" marT="27432" marB="27432">
                    <a:solidFill>
                      <a:srgbClr val="FFFFFF"/>
                    </a:solidFill>
                  </a:tcPr>
                </a:tc>
              </a:tr>
              <a:tr h="347472">
                <a:tc>
                  <a:txBody>
                    <a:bodyPr/>
                    <a:lstStyle/>
                    <a:p>
                      <a:pPr>
                        <a:defRPr sz="1300" b="0">
                          <a:solidFill>
                            <a:srgbClr val="1A1A1A"/>
                          </a:solidFill>
                        </a:defRPr>
                      </a:pPr>
                      <a:r>
                        <a:t>DFE tap (6th, equalizer)</a:t>
                      </a:r>
                    </a:p>
                  </a:txBody>
                  <a:tcPr marL="54864" marR="54864" marT="27432" marB="27432">
                    <a:solidFill>
                      <a:srgbClr val="F2F4F7"/>
                    </a:solidFill>
                  </a:tcPr>
                </a:tc>
                <a:tc>
                  <a:txBody>
                    <a:bodyPr/>
                    <a:lstStyle/>
                    <a:p>
                      <a:pPr>
                        <a:defRPr sz="1300" b="0">
                          <a:solidFill>
                            <a:srgbClr val="1A1A1A"/>
                          </a:solidFill>
                        </a:defRPr>
                      </a:pPr>
                      <a:r>
                        <a:t>−0.5 … +0.5</a:t>
                      </a:r>
                    </a:p>
                  </a:txBody>
                  <a:tcPr marL="54864" marR="54864" marT="27432" marB="27432">
                    <a:solidFill>
                      <a:srgbClr val="F2F4F7"/>
                    </a:solidFill>
                  </a:tcPr>
                </a:tc>
              </a:tr>
            </a:tbl>
          </a:graphicData>
        </a:graphic>
      </p:graphicFrame>
      <p:sp>
        <p:nvSpPr>
          <p:cNvPr id="8" name="Rounded Rectangle 7"/>
          <p:cNvSpPr/>
          <p:nvPr/>
        </p:nvSpPr>
        <p:spPr>
          <a:xfrm>
            <a:off x="457200" y="4983480"/>
            <a:ext cx="2606040" cy="118872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1  .op</a:t>
            </a:r>
          </a:p>
          <a:p>
            <a:pPr algn="ctr">
              <a:defRPr sz="1100" b="0">
                <a:solidFill>
                  <a:srgbClr val="FFFFFF"/>
                </a:solidFill>
              </a:defRPr>
            </a:pPr>
            <a:r>
              <a:t>DC operating point</a:t>
            </a:r>
          </a:p>
          <a:p>
            <a:pPr algn="ctr">
              <a:defRPr sz="1100" b="0">
                <a:solidFill>
                  <a:srgbClr val="FFFFFF"/>
                </a:solidFill>
              </a:defRPr>
            </a:pPr>
            <a:r>
              <a:t>fail fast</a:t>
            </a:r>
          </a:p>
        </p:txBody>
      </p:sp>
      <p:sp>
        <p:nvSpPr>
          <p:cNvPr id="9" name="Right Arrow 8"/>
          <p:cNvSpPr/>
          <p:nvPr/>
        </p:nvSpPr>
        <p:spPr>
          <a:xfrm>
            <a:off x="3118104" y="5440680"/>
            <a:ext cx="237744"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4983480"/>
            <a:ext cx="2606040" cy="118872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2  .ac</a:t>
            </a:r>
          </a:p>
          <a:p>
            <a:pPr algn="ctr">
              <a:defRPr sz="1100" b="0">
                <a:solidFill>
                  <a:srgbClr val="FFFFFF"/>
                </a:solidFill>
              </a:defRPr>
            </a:pPr>
            <a:r>
              <a:t>peaking @ Nyquist,</a:t>
            </a:r>
          </a:p>
          <a:p>
            <a:pPr algn="ctr">
              <a:defRPr sz="1100" b="0">
                <a:solidFill>
                  <a:srgbClr val="FFFFFF"/>
                </a:solidFill>
              </a:defRPr>
            </a:pPr>
            <a:r>
              <a:t>power</a:t>
            </a:r>
          </a:p>
        </p:txBody>
      </p:sp>
      <p:sp>
        <p:nvSpPr>
          <p:cNvPr id="11" name="Right Arrow 10"/>
          <p:cNvSpPr/>
          <p:nvPr/>
        </p:nvSpPr>
        <p:spPr>
          <a:xfrm>
            <a:off x="6089904" y="5440680"/>
            <a:ext cx="237744"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4983480"/>
            <a:ext cx="2606040" cy="118872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3  PRBS7 .tran</a:t>
            </a:r>
          </a:p>
          <a:p>
            <a:pPr algn="ctr">
              <a:defRPr sz="1100" b="0">
                <a:solidFill>
                  <a:srgbClr val="FFFFFF"/>
                </a:solidFill>
              </a:defRPr>
            </a:pPr>
            <a:r>
              <a:t>lossy channel → eye,</a:t>
            </a:r>
          </a:p>
          <a:p>
            <a:pPr algn="ctr">
              <a:defRPr sz="1100" b="0">
                <a:solidFill>
                  <a:srgbClr val="FFFFFF"/>
                </a:solidFill>
              </a:defRPr>
            </a:pPr>
            <a:r>
              <a:t>one-tap DFE</a:t>
            </a:r>
          </a:p>
        </p:txBody>
      </p:sp>
      <p:sp>
        <p:nvSpPr>
          <p:cNvPr id="13" name="Right Arrow 12"/>
          <p:cNvSpPr/>
          <p:nvPr/>
        </p:nvSpPr>
        <p:spPr>
          <a:xfrm>
            <a:off x="9061704" y="5440680"/>
            <a:ext cx="237744"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372600" y="4983480"/>
            <a:ext cx="2606040" cy="1188720"/>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4  HD3</a:t>
            </a:r>
          </a:p>
          <a:p>
            <a:pPr algn="ctr">
              <a:defRPr sz="1100" b="0">
                <a:solidFill>
                  <a:srgbClr val="FFFFFF"/>
                </a:solidFill>
              </a:defRPr>
            </a:pPr>
            <a:r>
              <a:t>100 MHz tone,</a:t>
            </a:r>
          </a:p>
          <a:p>
            <a:pPr algn="ctr">
              <a:defRPr sz="1100" b="0">
                <a:solidFill>
                  <a:srgbClr val="FFFFFF"/>
                </a:solidFill>
              </a:defRPr>
            </a:pPr>
            <a:r>
              <a:t>once others pass</a:t>
            </a:r>
          </a:p>
        </p:txBody>
      </p:sp>
      <p:sp>
        <p:nvSpPr>
          <p:cNvPr id="15" name="TextBox 14"/>
          <p:cNvSpPr txBox="1"/>
          <p:nvPr/>
        </p:nvSpPr>
        <p:spPr>
          <a:xfrm>
            <a:off x="457200" y="6199632"/>
            <a:ext cx="10972800" cy="274320"/>
          </a:xfrm>
          <a:prstGeom prst="rect">
            <a:avLst/>
          </a:prstGeom>
          <a:noFill/>
        </p:spPr>
        <p:txBody>
          <a:bodyPr wrap="square">
            <a:spAutoFit/>
          </a:bodyPr>
          <a:lstStyle/>
          <a:p>
            <a:pPr>
              <a:defRPr sz="1100" b="0">
                <a:solidFill>
                  <a:srgbClr val="555B66"/>
                </a:solidFill>
              </a:defRPr>
            </a:pPr>
            <a:r>
              <a:t>Gates run in this order; a design that fails early costs no further simulation.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RL training: the SAC loop, live</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1:35 – 2:25</a:t>
            </a:r>
          </a:p>
        </p:txBody>
      </p:sp>
      <p:sp>
        <p:nvSpPr>
          <p:cNvPr id="5" name="TextBox 4"/>
          <p:cNvSpPr txBox="1"/>
          <p:nvPr/>
        </p:nvSpPr>
        <p:spPr>
          <a:xfrm>
            <a:off x="457200" y="987552"/>
            <a:ext cx="11247120" cy="457200"/>
          </a:xfrm>
          <a:prstGeom prst="rect">
            <a:avLst/>
          </a:prstGeom>
          <a:noFill/>
        </p:spPr>
        <p:txBody>
          <a:bodyPr wrap="none">
            <a:spAutoFit/>
          </a:bodyPr>
          <a:lstStyle/>
          <a:p>
            <a:pPr>
              <a:defRPr sz="1500" i="1">
                <a:solidFill>
                  <a:srgbClr val="555B66"/>
                </a:solidFill>
              </a:defRPr>
            </a:pPr>
            <a:r>
              <a:t>python scripts/demo_rollout.py reports/sac-ihp-pvt   — a real rollout: random design, random PVT corner</a:t>
            </a:r>
          </a:p>
        </p:txBody>
      </p:sp>
      <p:sp>
        <p:nvSpPr>
          <p:cNvPr id="6" name="TextBox 5"/>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4</a:t>
            </a:r>
          </a:p>
        </p:txBody>
      </p:sp>
      <p:pic>
        <p:nvPicPr>
          <p:cNvPr id="7" name="Picture 6" descr="demo_terminal.png"/>
          <p:cNvPicPr>
            <a:picLocks noChangeAspect="1"/>
          </p:cNvPicPr>
          <p:nvPr/>
        </p:nvPicPr>
        <p:blipFill>
          <a:blip r:embed="rId3"/>
          <a:stretch>
            <a:fillRect/>
          </a:stretch>
        </p:blipFill>
        <p:spPr>
          <a:xfrm>
            <a:off x="365760" y="1417320"/>
            <a:ext cx="10241280" cy="3274828"/>
          </a:xfrm>
          <a:prstGeom prst="rect">
            <a:avLst/>
          </a:prstGeom>
        </p:spPr>
      </p:pic>
      <p:sp>
        <p:nvSpPr>
          <p:cNvPr id="8" name="Rounded Rectangle 7"/>
          <p:cNvSpPr/>
          <p:nvPr/>
        </p:nvSpPr>
        <p:spPr>
          <a:xfrm>
            <a:off x="548640" y="4892040"/>
            <a:ext cx="26517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3 sims</a:t>
            </a:r>
          </a:p>
          <a:p>
            <a:pPr algn="ctr">
              <a:defRPr sz="1200">
                <a:solidFill>
                  <a:srgbClr val="555B66"/>
                </a:solidFill>
              </a:defRPr>
            </a:pPr>
            <a:r>
              <a:t>to meet every spec</a:t>
            </a:r>
          </a:p>
        </p:txBody>
      </p:sp>
      <p:sp>
        <p:nvSpPr>
          <p:cNvPr id="9" name="Rounded Rectangle 8"/>
          <p:cNvSpPr/>
          <p:nvPr/>
        </p:nvSpPr>
        <p:spPr>
          <a:xfrm>
            <a:off x="3383280" y="4892040"/>
            <a:ext cx="26517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7 s</a:t>
            </a:r>
          </a:p>
          <a:p>
            <a:pPr algn="ctr">
              <a:defRPr sz="1200">
                <a:solidFill>
                  <a:srgbClr val="555B66"/>
                </a:solidFill>
              </a:defRPr>
            </a:pPr>
            <a:r>
              <a:t>wall time on a laptop</a:t>
            </a:r>
          </a:p>
        </p:txBody>
      </p:sp>
      <p:sp>
        <p:nvSpPr>
          <p:cNvPr id="10" name="Rounded Rectangle 9"/>
          <p:cNvSpPr/>
          <p:nvPr/>
        </p:nvSpPr>
        <p:spPr>
          <a:xfrm>
            <a:off x="6217920" y="4892040"/>
            <a:ext cx="31089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SS / 1.0 V / 62 °C</a:t>
            </a:r>
          </a:p>
          <a:p>
            <a:pPr algn="ctr">
              <a:defRPr sz="1200">
                <a:solidFill>
                  <a:srgbClr val="555B66"/>
                </a:solidFill>
              </a:defRPr>
            </a:pPr>
            <a:r>
              <a:t>random corner, random start</a:t>
            </a:r>
          </a:p>
        </p:txBody>
      </p:sp>
      <p:sp>
        <p:nvSpPr>
          <p:cNvPr id="11" name="TextBox 10"/>
          <p:cNvSpPr txBox="1"/>
          <p:nvPr/>
        </p:nvSpPr>
        <p:spPr>
          <a:xfrm>
            <a:off x="9509760" y="4892040"/>
            <a:ext cx="2468880" cy="1280160"/>
          </a:xfrm>
          <a:prstGeom prst="rect">
            <a:avLst/>
          </a:prstGeom>
          <a:noFill/>
        </p:spPr>
        <p:txBody>
          <a:bodyPr wrap="square">
            <a:spAutoFit/>
          </a:bodyPr>
          <a:lstStyle/>
          <a:p>
            <a:pPr>
              <a:defRPr sz="1100" b="0">
                <a:solidFill>
                  <a:srgbClr val="555B66"/>
                </a:solidFill>
              </a:defRPr>
            </a:pPr>
            <a:r>
              <a:t>Reward = −Σ wᵢ·violationᵢ − power charge + success bonus + margin bonus</a:t>
            </a:r>
          </a:p>
          <a:p>
            <a:pPr>
              <a:defRPr sz="1100" b="0">
                <a:solidFill>
                  <a:srgbClr val="555B66"/>
                </a:solidFill>
              </a:defRPr>
            </a:pPr>
            <a:r>
              <a:t>DC failure: −10, fail fast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Training converges in ~2k steps; 60/60 rollouts feasible over three seeds</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1:35 – 2:25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5</a:t>
            </a:r>
          </a:p>
        </p:txBody>
      </p:sp>
      <p:pic>
        <p:nvPicPr>
          <p:cNvPr id="6" name="Picture 5" descr="learning_curves.png"/>
          <p:cNvPicPr>
            <a:picLocks noChangeAspect="1"/>
          </p:cNvPicPr>
          <p:nvPr/>
        </p:nvPicPr>
        <p:blipFill>
          <a:blip r:embed="rId3"/>
          <a:stretch>
            <a:fillRect/>
          </a:stretch>
        </p:blipFill>
        <p:spPr>
          <a:xfrm>
            <a:off x="365760" y="1188720"/>
            <a:ext cx="11430000" cy="3200400"/>
          </a:xfrm>
          <a:prstGeom prst="rect">
            <a:avLst/>
          </a:prstGeom>
        </p:spPr>
      </p:pic>
      <p:sp>
        <p:nvSpPr>
          <p:cNvPr id="7" name="Rounded Rectangle 6"/>
          <p:cNvSpPr/>
          <p:nvPr/>
        </p:nvSpPr>
        <p:spPr>
          <a:xfrm>
            <a:off x="548640" y="5029200"/>
            <a:ext cx="265176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~2k steps</a:t>
            </a:r>
          </a:p>
          <a:p>
            <a:pPr algn="ctr">
              <a:defRPr sz="1200">
                <a:solidFill>
                  <a:srgbClr val="555B66"/>
                </a:solidFill>
              </a:defRPr>
            </a:pPr>
            <a:r>
              <a:t>to converge, every run</a:t>
            </a:r>
          </a:p>
        </p:txBody>
      </p:sp>
      <p:sp>
        <p:nvSpPr>
          <p:cNvPr id="8" name="Rounded Rectangle 7"/>
          <p:cNvSpPr/>
          <p:nvPr/>
        </p:nvSpPr>
        <p:spPr>
          <a:xfrm>
            <a:off x="3383280" y="5029200"/>
            <a:ext cx="265176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60 / 60</a:t>
            </a:r>
          </a:p>
          <a:p>
            <a:pPr algn="ctr">
              <a:defRPr sz="1200">
                <a:solidFill>
                  <a:srgbClr val="555B66"/>
                </a:solidFill>
              </a:defRPr>
            </a:pPr>
            <a:r>
              <a:t>rollouts feasible, 3 seeds</a:t>
            </a:r>
          </a:p>
        </p:txBody>
      </p:sp>
      <p:sp>
        <p:nvSpPr>
          <p:cNvPr id="9" name="Rounded Rectangle 8"/>
          <p:cNvSpPr/>
          <p:nvPr/>
        </p:nvSpPr>
        <p:spPr>
          <a:xfrm>
            <a:off x="6217920" y="5029200"/>
            <a:ext cx="310896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2.53 ± 0.06</a:t>
            </a:r>
          </a:p>
          <a:p>
            <a:pPr algn="ctr">
              <a:defRPr sz="1200">
                <a:solidFill>
                  <a:srgbClr val="555B66"/>
                </a:solidFill>
              </a:defRPr>
            </a:pPr>
            <a:r>
              <a:t>steps to feasibility (mean over seeds)</a:t>
            </a:r>
          </a:p>
        </p:txBody>
      </p:sp>
      <p:sp>
        <p:nvSpPr>
          <p:cNvPr id="10" name="Rounded Rectangle 9"/>
          <p:cNvSpPr/>
          <p:nvPr/>
        </p:nvSpPr>
        <p:spPr>
          <a:xfrm>
            <a:off x="9509760" y="5029200"/>
            <a:ext cx="237744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95 %</a:t>
            </a:r>
          </a:p>
          <a:p>
            <a:pPr algn="ctr">
              <a:defRPr sz="1200">
                <a:solidFill>
                  <a:srgbClr val="555B66"/>
                </a:solidFill>
              </a:defRPr>
            </a:pPr>
            <a:r>
              <a:t>of training steps meet every spec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Result: post-channel eye diagram</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2:25 – 3:15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6</a:t>
            </a:r>
          </a:p>
        </p:txBody>
      </p:sp>
      <p:pic>
        <p:nvPicPr>
          <p:cNvPr id="6" name="Picture 5" descr="eye_diagram.png"/>
          <p:cNvPicPr>
            <a:picLocks noChangeAspect="1"/>
          </p:cNvPicPr>
          <p:nvPr/>
        </p:nvPicPr>
        <p:blipFill>
          <a:blip r:embed="rId3"/>
          <a:stretch>
            <a:fillRect/>
          </a:stretch>
        </p:blipFill>
        <p:spPr>
          <a:xfrm>
            <a:off x="457200" y="1188720"/>
            <a:ext cx="7040880" cy="5029200"/>
          </a:xfrm>
          <a:prstGeom prst="rect">
            <a:avLst/>
          </a:prstGeom>
        </p:spPr>
      </p:pic>
      <p:sp>
        <p:nvSpPr>
          <p:cNvPr id="7" name="Rounded Rectangle 6"/>
          <p:cNvSpPr/>
          <p:nvPr/>
        </p:nvSpPr>
        <p:spPr>
          <a:xfrm>
            <a:off x="7863840" y="1463040"/>
            <a:ext cx="384048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0.327 V</a:t>
            </a:r>
          </a:p>
          <a:p>
            <a:pPr algn="ctr">
              <a:defRPr sz="1200">
                <a:solidFill>
                  <a:srgbClr val="555B66"/>
                </a:solidFill>
              </a:defRPr>
            </a:pPr>
            <a:r>
              <a:t>eye height (target ≥ 0.25 V)</a:t>
            </a:r>
          </a:p>
        </p:txBody>
      </p:sp>
      <p:sp>
        <p:nvSpPr>
          <p:cNvPr id="8" name="Rounded Rectangle 7"/>
          <p:cNvSpPr/>
          <p:nvPr/>
        </p:nvSpPr>
        <p:spPr>
          <a:xfrm>
            <a:off x="7863840" y="2926080"/>
            <a:ext cx="384048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0.88 UI</a:t>
            </a:r>
          </a:p>
          <a:p>
            <a:pPr algn="ctr">
              <a:defRPr sz="1200">
                <a:solidFill>
                  <a:srgbClr val="555B66"/>
                </a:solidFill>
              </a:defRPr>
            </a:pPr>
            <a:r>
              <a:t>eye width (target ≥ 0.7 UI)</a:t>
            </a:r>
          </a:p>
        </p:txBody>
      </p:sp>
      <p:sp>
        <p:nvSpPr>
          <p:cNvPr id="9" name="TextBox 8"/>
          <p:cNvSpPr txBox="1"/>
          <p:nvPr/>
        </p:nvSpPr>
        <p:spPr>
          <a:xfrm>
            <a:off x="7863840" y="4389120"/>
            <a:ext cx="3840480" cy="1645920"/>
          </a:xfrm>
          <a:prstGeom prst="rect">
            <a:avLst/>
          </a:prstGeom>
          <a:noFill/>
        </p:spPr>
        <p:txBody>
          <a:bodyPr wrap="square">
            <a:spAutoFit/>
          </a:bodyPr>
          <a:lstStyle/>
          <a:p>
            <a:pPr>
              <a:defRPr sz="1200" b="0">
                <a:solidFill>
                  <a:srgbClr val="555B66"/>
                </a:solidFill>
              </a:defRPr>
            </a:pPr>
            <a:r>
              <a:t>Two-UI eye after the −10 dB channel, PRBS7 at 5 Gbps, seed-1 policy design. Measured against the transmitted bits: opening = min(ones) − max(zeros) at the best sampling phase.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Result: AC response and peaking</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2:25 – 3:15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7</a:t>
            </a:r>
          </a:p>
        </p:txBody>
      </p:sp>
      <p:pic>
        <p:nvPicPr>
          <p:cNvPr id="6" name="Picture 5" descr="ac_response.png"/>
          <p:cNvPicPr>
            <a:picLocks noChangeAspect="1"/>
          </p:cNvPicPr>
          <p:nvPr/>
        </p:nvPicPr>
        <p:blipFill>
          <a:blip r:embed="rId3"/>
          <a:stretch>
            <a:fillRect/>
          </a:stretch>
        </p:blipFill>
        <p:spPr>
          <a:xfrm>
            <a:off x="457200" y="1188720"/>
            <a:ext cx="7315200" cy="4114800"/>
          </a:xfrm>
          <a:prstGeom prst="rect">
            <a:avLst/>
          </a:prstGeom>
        </p:spPr>
      </p:pic>
      <p:sp>
        <p:nvSpPr>
          <p:cNvPr id="7" name="Rounded Rectangle 6"/>
          <p:cNvSpPr/>
          <p:nvPr/>
        </p:nvSpPr>
        <p:spPr>
          <a:xfrm>
            <a:off x="8138160" y="1463040"/>
            <a:ext cx="365760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4.2 dB</a:t>
            </a:r>
          </a:p>
          <a:p>
            <a:pPr algn="ctr">
              <a:defRPr sz="1200">
                <a:solidFill>
                  <a:srgbClr val="555B66"/>
                </a:solidFill>
              </a:defRPr>
            </a:pPr>
            <a:r>
              <a:t>peaking at 2.5 GHz (target 3–12 dB)</a:t>
            </a:r>
          </a:p>
        </p:txBody>
      </p:sp>
      <p:sp>
        <p:nvSpPr>
          <p:cNvPr id="8" name="Rounded Rectangle 7"/>
          <p:cNvSpPr/>
          <p:nvPr/>
        </p:nvSpPr>
        <p:spPr>
          <a:xfrm>
            <a:off x="8138160" y="2926080"/>
            <a:ext cx="365760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5.23 dB</a:t>
            </a:r>
          </a:p>
          <a:p>
            <a:pPr algn="ctr">
              <a:defRPr sz="1200">
                <a:solidFill>
                  <a:srgbClr val="555B66"/>
                </a:solidFill>
              </a:defRPr>
            </a:pPr>
            <a:r>
              <a:t>at 1.25 GHz after retuning (--spec nyquist_frequency_hz=1.25e9)</a:t>
            </a:r>
          </a:p>
        </p:txBody>
      </p:sp>
      <p:sp>
        <p:nvSpPr>
          <p:cNvPr id="9" name="TextBox 8"/>
          <p:cNvSpPr txBox="1"/>
          <p:nvPr/>
        </p:nvSpPr>
        <p:spPr>
          <a:xfrm>
            <a:off x="8138160" y="4389120"/>
            <a:ext cx="3657600" cy="1737360"/>
          </a:xfrm>
          <a:prstGeom prst="rect">
            <a:avLst/>
          </a:prstGeom>
          <a:noFill/>
        </p:spPr>
        <p:txBody>
          <a:bodyPr wrap="square">
            <a:spAutoFit/>
          </a:bodyPr>
          <a:lstStyle/>
          <a:p>
            <a:pPr>
              <a:defRPr sz="1200" b="0">
                <a:solidFill>
                  <a:srgbClr val="555B66"/>
                </a:solidFill>
              </a:defRPr>
            </a:pPr>
            <a:r>
              <a:t>Peaking = gain at Nyquist − DC gain, CTLE alone (channel bypassed for the AC gate). Tunable 1.25–2.5 GHz: the 2.5 GHz design gives only 2.87 dB at 1.25 GHz; the retuned policy moves R_s 182 → 365 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Result: 45 PVT corners and the design summary</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2:25 – 3:15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8</a:t>
            </a:r>
          </a:p>
        </p:txBody>
      </p:sp>
      <p:pic>
        <p:nvPicPr>
          <p:cNvPr id="6" name="Picture 5" descr="pvt_peaking.png"/>
          <p:cNvPicPr>
            <a:picLocks noChangeAspect="1"/>
          </p:cNvPicPr>
          <p:nvPr/>
        </p:nvPicPr>
        <p:blipFill>
          <a:blip r:embed="rId3"/>
          <a:stretch>
            <a:fillRect/>
          </a:stretch>
        </p:blipFill>
        <p:spPr>
          <a:xfrm>
            <a:off x="365760" y="1143000"/>
            <a:ext cx="6949440" cy="3185160"/>
          </a:xfrm>
          <a:prstGeom prst="rect">
            <a:avLst/>
          </a:prstGeom>
        </p:spPr>
      </p:pic>
      <p:graphicFrame>
        <p:nvGraphicFramePr>
          <p:cNvPr id="7" name="Table 6"/>
          <p:cNvGraphicFramePr>
            <a:graphicFrameLocks noGrp="1"/>
          </p:cNvGraphicFramePr>
          <p:nvPr/>
        </p:nvGraphicFramePr>
        <p:xfrm>
          <a:off x="7498079" y="1280160"/>
          <a:ext cx="4389120" cy="2084832"/>
        </p:xfrm>
        <a:graphic>
          <a:graphicData uri="http://schemas.openxmlformats.org/drawingml/2006/table">
            <a:tbl>
              <a:tblPr firstRow="1" bandRow="1">
                <a:tableStyleId>{5C22544A-7EE6-4342-B048-85BDC9FD1C3A}</a:tableStyleId>
              </a:tblPr>
              <a:tblGrid>
                <a:gridCol w="1234440"/>
                <a:gridCol w="960120"/>
                <a:gridCol w="548640"/>
                <a:gridCol w="1645920"/>
              </a:tblGrid>
              <a:tr h="347472">
                <a:tc>
                  <a:txBody>
                    <a:bodyPr/>
                    <a:lstStyle/>
                    <a:p>
                      <a:pPr>
                        <a:defRPr sz="1000" b="1">
                          <a:solidFill>
                            <a:srgbClr val="FFFFFF"/>
                          </a:solidFill>
                        </a:defRPr>
                      </a:pPr>
                      <a:r>
                        <a:t>Run</a:t>
                      </a:r>
                    </a:p>
                  </a:txBody>
                  <a:tcPr marL="54864" marR="54864" marT="27432" marB="27432">
                    <a:solidFill>
                      <a:srgbClr val="2B5797"/>
                    </a:solidFill>
                  </a:tcPr>
                </a:tc>
                <a:tc>
                  <a:txBody>
                    <a:bodyPr/>
                    <a:lstStyle/>
                    <a:p>
                      <a:pPr>
                        <a:defRPr sz="1000" b="1">
                          <a:solidFill>
                            <a:srgbClr val="FFFFFF"/>
                          </a:solidFill>
                        </a:defRPr>
                      </a:pPr>
                      <a:r>
                        <a:t>Rollouts</a:t>
                      </a:r>
                    </a:p>
                  </a:txBody>
                  <a:tcPr marL="54864" marR="54864" marT="27432" marB="27432">
                    <a:solidFill>
                      <a:srgbClr val="2B5797"/>
                    </a:solidFill>
                  </a:tcPr>
                </a:tc>
                <a:tc>
                  <a:txBody>
                    <a:bodyPr/>
                    <a:lstStyle/>
                    <a:p>
                      <a:pPr>
                        <a:defRPr sz="1000" b="1">
                          <a:solidFill>
                            <a:srgbClr val="FFFFFF"/>
                          </a:solidFill>
                        </a:defRPr>
                      </a:pPr>
                      <a:r>
                        <a:t>Steps</a:t>
                      </a:r>
                    </a:p>
                  </a:txBody>
                  <a:tcPr marL="54864" marR="54864" marT="27432" marB="27432">
                    <a:solidFill>
                      <a:srgbClr val="2B5797"/>
                    </a:solidFill>
                  </a:tcPr>
                </a:tc>
                <a:tc>
                  <a:txBody>
                    <a:bodyPr/>
                    <a:lstStyle/>
                    <a:p>
                      <a:pPr>
                        <a:defRPr sz="1000" b="1">
                          <a:solidFill>
                            <a:srgbClr val="FFFFFF"/>
                          </a:solidFill>
                        </a:defRPr>
                      </a:pPr>
                      <a:r>
                        <a:t>Best design</a:t>
                      </a:r>
                    </a:p>
                  </a:txBody>
                  <a:tcPr marL="54864" marR="54864" marT="27432" marB="27432">
                    <a:solidFill>
                      <a:srgbClr val="2B5797"/>
                    </a:solidFill>
                  </a:tcPr>
                </a:tc>
              </a:tr>
              <a:tr h="347472">
                <a:tc>
                  <a:txBody>
                    <a:bodyPr/>
                    <a:lstStyle/>
                    <a:p>
                      <a:pPr>
                        <a:defRPr sz="1000" b="0">
                          <a:solidFill>
                            <a:srgbClr val="1A1A1A"/>
                          </a:solidFill>
                        </a:defRPr>
                      </a:pPr>
                      <a:r>
                        <a:t>seed 1 / 2 / 3</a:t>
                      </a:r>
                    </a:p>
                  </a:txBody>
                  <a:tcPr marL="54864" marR="54864" marT="27432" marB="27432">
                    <a:solidFill>
                      <a:srgbClr val="FFFFFF"/>
                    </a:solidFill>
                  </a:tcPr>
                </a:tc>
                <a:tc>
                  <a:txBody>
                    <a:bodyPr/>
                    <a:lstStyle/>
                    <a:p>
                      <a:pPr>
                        <a:defRPr sz="1000" b="0">
                          <a:solidFill>
                            <a:srgbClr val="1A1A1A"/>
                          </a:solidFill>
                        </a:defRPr>
                      </a:pPr>
                      <a:r>
                        <a:t>60/60</a:t>
                      </a:r>
                    </a:p>
                  </a:txBody>
                  <a:tcPr marL="54864" marR="54864" marT="27432" marB="27432">
                    <a:solidFill>
                      <a:srgbClr val="FFFFFF"/>
                    </a:solidFill>
                  </a:tcPr>
                </a:tc>
                <a:tc>
                  <a:txBody>
                    <a:bodyPr/>
                    <a:lstStyle/>
                    <a:p>
                      <a:pPr>
                        <a:defRPr sz="1000" b="0">
                          <a:solidFill>
                            <a:srgbClr val="1A1A1A"/>
                          </a:solidFill>
                        </a:defRPr>
                      </a:pPr>
                      <a:r>
                        <a:t>2 – 3</a:t>
                      </a:r>
                    </a:p>
                  </a:txBody>
                  <a:tcPr marL="54864" marR="54864" marT="27432" marB="27432">
                    <a:solidFill>
                      <a:srgbClr val="FFFFFF"/>
                    </a:solidFill>
                  </a:tcPr>
                </a:tc>
                <a:tc>
                  <a:txBody>
                    <a:bodyPr/>
                    <a:lstStyle/>
                    <a:p>
                      <a:pPr>
                        <a:defRPr sz="1000" b="0">
                          <a:solidFill>
                            <a:srgbClr val="1A1A1A"/>
                          </a:solidFill>
                        </a:defRPr>
                      </a:pPr>
                      <a:r>
                        <a:t>0.32–0.35 V · 1.2–1.3 mW · 45/45</a:t>
                      </a:r>
                    </a:p>
                  </a:txBody>
                  <a:tcPr marL="54864" marR="54864" marT="27432" marB="27432">
                    <a:solidFill>
                      <a:srgbClr val="FFFFFF"/>
                    </a:solidFill>
                  </a:tcPr>
                </a:tc>
              </a:tr>
              <a:tr h="347472">
                <a:tc>
                  <a:txBody>
                    <a:bodyPr/>
                    <a:lstStyle/>
                    <a:p>
                      <a:pPr>
                        <a:defRPr sz="1000" b="0">
                          <a:solidFill>
                            <a:srgbClr val="1A1A1A"/>
                          </a:solidFill>
                        </a:defRPr>
                      </a:pPr>
                      <a:r>
                        <a:t>HD3 enforced</a:t>
                      </a:r>
                    </a:p>
                  </a:txBody>
                  <a:tcPr marL="54864" marR="54864" marT="27432" marB="27432">
                    <a:solidFill>
                      <a:srgbClr val="F2F4F7"/>
                    </a:solidFill>
                  </a:tcPr>
                </a:tc>
                <a:tc>
                  <a:txBody>
                    <a:bodyPr/>
                    <a:lstStyle/>
                    <a:p>
                      <a:pPr>
                        <a:defRPr sz="1000" b="0">
                          <a:solidFill>
                            <a:srgbClr val="1A1A1A"/>
                          </a:solidFill>
                        </a:defRPr>
                      </a:pPr>
                      <a:r>
                        <a:t>20/20</a:t>
                      </a:r>
                    </a:p>
                  </a:txBody>
                  <a:tcPr marL="54864" marR="54864" marT="27432" marB="27432">
                    <a:solidFill>
                      <a:srgbClr val="F2F4F7"/>
                    </a:solidFill>
                  </a:tcPr>
                </a:tc>
                <a:tc>
                  <a:txBody>
                    <a:bodyPr/>
                    <a:lstStyle/>
                    <a:p>
                      <a:pPr>
                        <a:defRPr sz="1000" b="0">
                          <a:solidFill>
                            <a:srgbClr val="1A1A1A"/>
                          </a:solidFill>
                        </a:defRPr>
                      </a:pPr>
                      <a:r>
                        <a:t>2.5</a:t>
                      </a:r>
                    </a:p>
                  </a:txBody>
                  <a:tcPr marL="54864" marR="54864" marT="27432" marB="27432">
                    <a:solidFill>
                      <a:srgbClr val="F2F4F7"/>
                    </a:solidFill>
                  </a:tcPr>
                </a:tc>
                <a:tc>
                  <a:txBody>
                    <a:bodyPr/>
                    <a:lstStyle/>
                    <a:p>
                      <a:pPr>
                        <a:defRPr sz="1000" b="0">
                          <a:solidFill>
                            <a:srgbClr val="1A1A1A"/>
                          </a:solidFill>
                        </a:defRPr>
                      </a:pPr>
                      <a:r>
                        <a:t>0.335 V · 1.24 mW · −58 dB · 45/45</a:t>
                      </a:r>
                    </a:p>
                  </a:txBody>
                  <a:tcPr marL="54864" marR="54864" marT="27432" marB="27432">
                    <a:solidFill>
                      <a:srgbClr val="F2F4F7"/>
                    </a:solidFill>
                  </a:tcPr>
                </a:tc>
              </a:tr>
              <a:tr h="347472">
                <a:tc>
                  <a:txBody>
                    <a:bodyPr/>
                    <a:lstStyle/>
                    <a:p>
                      <a:pPr>
                        <a:defRPr sz="1000" b="0">
                          <a:solidFill>
                            <a:srgbClr val="1A1A1A"/>
                          </a:solidFill>
                        </a:defRPr>
                      </a:pPr>
                      <a:r>
                        <a:t>PVT curriculum</a:t>
                      </a:r>
                    </a:p>
                  </a:txBody>
                  <a:tcPr marL="54864" marR="54864" marT="27432" marB="27432">
                    <a:solidFill>
                      <a:srgbClr val="FFFFFF"/>
                    </a:solidFill>
                  </a:tcPr>
                </a:tc>
                <a:tc>
                  <a:txBody>
                    <a:bodyPr/>
                    <a:lstStyle/>
                    <a:p>
                      <a:pPr>
                        <a:defRPr sz="1000" b="0">
                          <a:solidFill>
                            <a:srgbClr val="1A1A1A"/>
                          </a:solidFill>
                        </a:defRPr>
                      </a:pPr>
                      <a:r>
                        <a:t>24/24 @ corners</a:t>
                      </a:r>
                    </a:p>
                  </a:txBody>
                  <a:tcPr marL="54864" marR="54864" marT="27432" marB="27432">
                    <a:solidFill>
                      <a:srgbClr val="FFFFFF"/>
                    </a:solidFill>
                  </a:tcPr>
                </a:tc>
                <a:tc>
                  <a:txBody>
                    <a:bodyPr/>
                    <a:lstStyle/>
                    <a:p>
                      <a:pPr>
                        <a:defRPr sz="1000" b="0">
                          <a:solidFill>
                            <a:srgbClr val="1A1A1A"/>
                          </a:solidFill>
                        </a:defRPr>
                      </a:pPr>
                      <a:r>
                        <a:t>2</a:t>
                      </a:r>
                    </a:p>
                  </a:txBody>
                  <a:tcPr marL="54864" marR="54864" marT="27432" marB="27432">
                    <a:solidFill>
                      <a:srgbClr val="FFFFFF"/>
                    </a:solidFill>
                  </a:tcPr>
                </a:tc>
                <a:tc>
                  <a:txBody>
                    <a:bodyPr/>
                    <a:lstStyle/>
                    <a:p>
                      <a:pPr>
                        <a:defRPr sz="1000" b="0">
                          <a:solidFill>
                            <a:srgbClr val="1A1A1A"/>
                          </a:solidFill>
                        </a:defRPr>
                      </a:pPr>
                      <a:r>
                        <a:t>0.370 V · 1.12 mW · −61.9 dB · 45/45</a:t>
                      </a:r>
                    </a:p>
                  </a:txBody>
                  <a:tcPr marL="54864" marR="54864" marT="27432" marB="27432">
                    <a:solidFill>
                      <a:srgbClr val="FFFFFF"/>
                    </a:solidFill>
                  </a:tcPr>
                </a:tc>
              </a:tr>
              <a:tr h="347472">
                <a:tc>
                  <a:txBody>
                    <a:bodyPr/>
                    <a:lstStyle/>
                    <a:p>
                      <a:pPr>
                        <a:defRPr sz="1000" b="0">
                          <a:solidFill>
                            <a:srgbClr val="1A1A1A"/>
                          </a:solidFill>
                        </a:defRPr>
                      </a:pPr>
                      <a:r>
                        <a:t>Equalizer (+DFE)</a:t>
                      </a:r>
                    </a:p>
                  </a:txBody>
                  <a:tcPr marL="54864" marR="54864" marT="27432" marB="27432">
                    <a:solidFill>
                      <a:srgbClr val="F2F4F7"/>
                    </a:solidFill>
                  </a:tcPr>
                </a:tc>
                <a:tc>
                  <a:txBody>
                    <a:bodyPr/>
                    <a:lstStyle/>
                    <a:p>
                      <a:pPr>
                        <a:defRPr sz="1000" b="0">
                          <a:solidFill>
                            <a:srgbClr val="1A1A1A"/>
                          </a:solidFill>
                        </a:defRPr>
                      </a:pPr>
                      <a:r>
                        <a:t>20/20</a:t>
                      </a:r>
                    </a:p>
                  </a:txBody>
                  <a:tcPr marL="54864" marR="54864" marT="27432" marB="27432">
                    <a:solidFill>
                      <a:srgbClr val="F2F4F7"/>
                    </a:solidFill>
                  </a:tcPr>
                </a:tc>
                <a:tc>
                  <a:txBody>
                    <a:bodyPr/>
                    <a:lstStyle/>
                    <a:p>
                      <a:pPr>
                        <a:defRPr sz="1000" b="0">
                          <a:solidFill>
                            <a:srgbClr val="1A1A1A"/>
                          </a:solidFill>
                        </a:defRPr>
                      </a:pPr>
                      <a:r>
                        <a:t>3</a:t>
                      </a:r>
                    </a:p>
                  </a:txBody>
                  <a:tcPr marL="54864" marR="54864" marT="27432" marB="27432">
                    <a:solidFill>
                      <a:srgbClr val="F2F4F7"/>
                    </a:solidFill>
                  </a:tcPr>
                </a:tc>
                <a:tc>
                  <a:txBody>
                    <a:bodyPr/>
                    <a:lstStyle/>
                    <a:p>
                      <a:pPr>
                        <a:defRPr sz="1000" b="0">
                          <a:solidFill>
                            <a:srgbClr val="1A1A1A"/>
                          </a:solidFill>
                        </a:defRPr>
                      </a:pPr>
                      <a:r>
                        <a:t>0.355 V post-DFE · 1.36 mW · 45/45</a:t>
                      </a:r>
                    </a:p>
                  </a:txBody>
                  <a:tcPr marL="54864" marR="54864" marT="27432" marB="27432">
                    <a:solidFill>
                      <a:srgbClr val="F2F4F7"/>
                    </a:solidFill>
                  </a:tcPr>
                </a:tc>
              </a:tr>
              <a:tr h="347472">
                <a:tc>
                  <a:txBody>
                    <a:bodyPr/>
                    <a:lstStyle/>
                    <a:p>
                      <a:pPr>
                        <a:defRPr sz="1000" b="0">
                          <a:solidFill>
                            <a:srgbClr val="1A1A1A"/>
                          </a:solidFill>
                        </a:defRPr>
                      </a:pPr>
                      <a:r>
                        <a:t>Retune 1.25 GHz</a:t>
                      </a:r>
                    </a:p>
                  </a:txBody>
                  <a:tcPr marL="54864" marR="54864" marT="27432" marB="27432">
                    <a:solidFill>
                      <a:srgbClr val="FFFFFF"/>
                    </a:solidFill>
                  </a:tcPr>
                </a:tc>
                <a:tc>
                  <a:txBody>
                    <a:bodyPr/>
                    <a:lstStyle/>
                    <a:p>
                      <a:pPr>
                        <a:defRPr sz="1000" b="0">
                          <a:solidFill>
                            <a:srgbClr val="1A1A1A"/>
                          </a:solidFill>
                        </a:defRPr>
                      </a:pPr>
                      <a:r>
                        <a:t>20/20</a:t>
                      </a:r>
                    </a:p>
                  </a:txBody>
                  <a:tcPr marL="54864" marR="54864" marT="27432" marB="27432">
                    <a:solidFill>
                      <a:srgbClr val="FFFFFF"/>
                    </a:solidFill>
                  </a:tcPr>
                </a:tc>
                <a:tc>
                  <a:txBody>
                    <a:bodyPr/>
                    <a:lstStyle/>
                    <a:p>
                      <a:pPr>
                        <a:defRPr sz="1000" b="0">
                          <a:solidFill>
                            <a:srgbClr val="1A1A1A"/>
                          </a:solidFill>
                        </a:defRPr>
                      </a:pPr>
                      <a:r>
                        <a:t>2</a:t>
                      </a:r>
                    </a:p>
                  </a:txBody>
                  <a:tcPr marL="54864" marR="54864" marT="27432" marB="27432">
                    <a:solidFill>
                      <a:srgbClr val="FFFFFF"/>
                    </a:solidFill>
                  </a:tcPr>
                </a:tc>
                <a:tc>
                  <a:txBody>
                    <a:bodyPr/>
                    <a:lstStyle/>
                    <a:p>
                      <a:pPr>
                        <a:defRPr sz="1000" b="0">
                          <a:solidFill>
                            <a:srgbClr val="1A1A1A"/>
                          </a:solidFill>
                        </a:defRPr>
                      </a:pPr>
                      <a:r>
                        <a:t>5.23 dB · 0.350 V · 1.28 mW · 45/45</a:t>
                      </a:r>
                    </a:p>
                  </a:txBody>
                  <a:tcPr marL="54864" marR="54864" marT="27432" marB="27432">
                    <a:solidFill>
                      <a:srgbClr val="FFFFFF"/>
                    </a:solidFill>
                  </a:tcPr>
                </a:tc>
              </a:tr>
            </a:tbl>
          </a:graphicData>
        </a:graphic>
      </p:graphicFrame>
      <p:sp>
        <p:nvSpPr>
          <p:cNvPr id="8" name="TextBox 7"/>
          <p:cNvSpPr txBox="1"/>
          <p:nvPr/>
        </p:nvSpPr>
        <p:spPr>
          <a:xfrm>
            <a:off x="457200" y="4572000"/>
            <a:ext cx="6858000" cy="914400"/>
          </a:xfrm>
          <a:prstGeom prst="rect">
            <a:avLst/>
          </a:prstGeom>
          <a:noFill/>
        </p:spPr>
        <p:txBody>
          <a:bodyPr wrap="square">
            <a:spAutoFit/>
          </a:bodyPr>
          <a:lstStyle/>
          <a:p>
            <a:pPr>
              <a:defRPr sz="1200" b="0">
                <a:solidFill>
                  <a:srgbClr val="555B66"/>
                </a:solidFill>
              </a:defRPr>
            </a:pPr>
            <a:r>
              <a:t>5 process × 3 supply (±5 %) × 3 temperature (0 / 62.5 / 125 °C) = 45 corners; every corner inside the 3–12 dB window. Curriculum: stage 1 nominal, stage 2 a random corner per episode.</a:t>
            </a:r>
          </a:p>
        </p:txBody>
      </p:sp>
      <p:sp>
        <p:nvSpPr>
          <p:cNvPr id="9" name="Rounded Rectangle 8"/>
          <p:cNvSpPr/>
          <p:nvPr/>
        </p:nvSpPr>
        <p:spPr>
          <a:xfrm>
            <a:off x="7680960" y="4297680"/>
            <a:ext cx="2011680" cy="10058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45 / 45</a:t>
            </a:r>
          </a:p>
          <a:p>
            <a:pPr algn="ctr">
              <a:defRPr sz="1200">
                <a:solidFill>
                  <a:srgbClr val="555B66"/>
                </a:solidFill>
              </a:defRPr>
            </a:pPr>
            <a:r>
              <a:t>corners pass</a:t>
            </a:r>
          </a:p>
        </p:txBody>
      </p:sp>
      <p:sp>
        <p:nvSpPr>
          <p:cNvPr id="10" name="Rounded Rectangle 9"/>
          <p:cNvSpPr/>
          <p:nvPr/>
        </p:nvSpPr>
        <p:spPr>
          <a:xfrm>
            <a:off x="9875520" y="4297680"/>
            <a:ext cx="2011680" cy="10058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24 / 24</a:t>
            </a:r>
          </a:p>
          <a:p>
            <a:pPr algn="ctr">
              <a:defRPr sz="1200">
                <a:solidFill>
                  <a:srgbClr val="555B66"/>
                </a:solidFill>
              </a:defRPr>
            </a:pPr>
            <a:r>
              <a:t>rollouts @ random corners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DFE: the complete equalizer</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3:15 – 3:45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9</a:t>
            </a:r>
          </a:p>
        </p:txBody>
      </p:sp>
      <p:sp>
        <p:nvSpPr>
          <p:cNvPr id="6" name="Rounded Rectangle 5"/>
          <p:cNvSpPr/>
          <p:nvPr/>
        </p:nvSpPr>
        <p:spPr>
          <a:xfrm>
            <a:off x="365760" y="1280160"/>
            <a:ext cx="1737360" cy="1051560"/>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Transmitter</a:t>
            </a:r>
          </a:p>
          <a:p>
            <a:pPr algn="ctr">
              <a:defRPr sz="1000" b="0">
                <a:solidFill>
                  <a:srgbClr val="FFFFFF"/>
                </a:solidFill>
              </a:defRPr>
            </a:pPr>
            <a:r>
              <a:t>PRBS7, NRZ</a:t>
            </a:r>
          </a:p>
          <a:p>
            <a:pPr algn="ctr">
              <a:defRPr sz="1000" b="0">
                <a:solidFill>
                  <a:srgbClr val="FFFFFF"/>
                </a:solidFill>
              </a:defRPr>
            </a:pPr>
            <a:r>
              <a:t>5 Gbps</a:t>
            </a:r>
          </a:p>
        </p:txBody>
      </p:sp>
      <p:sp>
        <p:nvSpPr>
          <p:cNvPr id="7" name="Right Arrow 6"/>
          <p:cNvSpPr/>
          <p:nvPr/>
        </p:nvSpPr>
        <p:spPr>
          <a:xfrm>
            <a:off x="2103120" y="1783080"/>
            <a:ext cx="182880"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50008" y="1280160"/>
            <a:ext cx="1737360" cy="1051560"/>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Channel</a:t>
            </a:r>
          </a:p>
          <a:p>
            <a:pPr algn="ctr">
              <a:defRPr sz="1000" b="0">
                <a:solidFill>
                  <a:srgbClr val="FFFFFF"/>
                </a:solidFill>
              </a:defRPr>
            </a:pPr>
            <a:r>
              <a:t>2-section RC</a:t>
            </a:r>
          </a:p>
          <a:p>
            <a:pPr algn="ctr">
              <a:defRPr sz="1000" b="0">
                <a:solidFill>
                  <a:srgbClr val="FFFFFF"/>
                </a:solidFill>
              </a:defRPr>
            </a:pPr>
            <a:r>
              <a:t>−10 dB @ Nyquist</a:t>
            </a:r>
          </a:p>
        </p:txBody>
      </p:sp>
      <p:sp>
        <p:nvSpPr>
          <p:cNvPr id="9" name="Right Arrow 8"/>
          <p:cNvSpPr/>
          <p:nvPr/>
        </p:nvSpPr>
        <p:spPr>
          <a:xfrm>
            <a:off x="4087368" y="1783080"/>
            <a:ext cx="182880"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34256" y="1280160"/>
            <a:ext cx="1737360" cy="10515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CTLE</a:t>
            </a:r>
          </a:p>
          <a:p>
            <a:pPr algn="ctr">
              <a:defRPr sz="1000" b="0">
                <a:solidFill>
                  <a:srgbClr val="FFFFFF"/>
                </a:solidFill>
              </a:defRPr>
            </a:pPr>
            <a:r>
              <a:t>5 sized values</a:t>
            </a:r>
          </a:p>
          <a:p>
            <a:pPr algn="ctr">
              <a:defRPr sz="1000" b="0">
                <a:solidFill>
                  <a:srgbClr val="FFFFFF"/>
                </a:solidFill>
              </a:defRPr>
            </a:pPr>
            <a:r>
              <a:t>peaking 3–12 dB</a:t>
            </a:r>
          </a:p>
        </p:txBody>
      </p:sp>
      <p:sp>
        <p:nvSpPr>
          <p:cNvPr id="11" name="Right Arrow 10"/>
          <p:cNvSpPr/>
          <p:nvPr/>
        </p:nvSpPr>
        <p:spPr>
          <a:xfrm>
            <a:off x="6071616" y="1783080"/>
            <a:ext cx="182880"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18504" y="1280160"/>
            <a:ext cx="1737360" cy="1051560"/>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Sampler</a:t>
            </a:r>
          </a:p>
          <a:p>
            <a:pPr algn="ctr">
              <a:defRPr sz="1000" b="0">
                <a:solidFill>
                  <a:srgbClr val="FFFFFF"/>
                </a:solidFill>
              </a:defRPr>
            </a:pPr>
            <a:r>
              <a:t>UI-centre samples</a:t>
            </a:r>
          </a:p>
          <a:p>
            <a:pPr algn="ctr">
              <a:defRPr sz="1000" b="0">
                <a:solidFill>
                  <a:srgbClr val="FFFFFF"/>
                </a:solidFill>
              </a:defRPr>
            </a:pPr>
            <a:r>
              <a:t>aligned to the bits</a:t>
            </a:r>
          </a:p>
        </p:txBody>
      </p:sp>
      <p:sp>
        <p:nvSpPr>
          <p:cNvPr id="13" name="Right Arrow 12"/>
          <p:cNvSpPr/>
          <p:nvPr/>
        </p:nvSpPr>
        <p:spPr>
          <a:xfrm>
            <a:off x="8055864" y="1783080"/>
            <a:ext cx="182880"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02752" y="1280160"/>
            <a:ext cx="1737360" cy="1051560"/>
          </a:xfrm>
          <a:prstGeom prst="round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1-tap DFE</a:t>
            </a:r>
          </a:p>
          <a:p>
            <a:pPr algn="ctr">
              <a:defRPr sz="1000" b="0">
                <a:solidFill>
                  <a:srgbClr val="FFFFFF"/>
                </a:solidFill>
              </a:defRPr>
            </a:pPr>
            <a:r>
              <a:t>y[n] − tap · d[n−1]</a:t>
            </a:r>
          </a:p>
          <a:p>
            <a:pPr algn="ctr">
              <a:defRPr sz="1000" b="0">
                <a:solidFill>
                  <a:srgbClr val="FFFFFF"/>
                </a:solidFill>
              </a:defRPr>
            </a:pPr>
            <a:r>
              <a:t>tap sized by the agent</a:t>
            </a:r>
          </a:p>
        </p:txBody>
      </p:sp>
      <p:sp>
        <p:nvSpPr>
          <p:cNvPr id="15" name="Right Arrow 14"/>
          <p:cNvSpPr/>
          <p:nvPr/>
        </p:nvSpPr>
        <p:spPr>
          <a:xfrm>
            <a:off x="10040112" y="1783080"/>
            <a:ext cx="182880" cy="256032"/>
          </a:xfrm>
          <a:prstGeom prst="rightArrow">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287000" y="1280160"/>
            <a:ext cx="1737360" cy="1051560"/>
          </a:xfrm>
          <a:prstGeom prst="round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defRPr>
            </a:pPr>
            <a:r>
              <a:t>Eye vs. bits</a:t>
            </a:r>
          </a:p>
          <a:p>
            <a:pPr algn="ctr">
              <a:defRPr sz="1000" b="0">
                <a:solidFill>
                  <a:srgbClr val="FFFFFF"/>
                </a:solidFill>
              </a:defRPr>
            </a:pPr>
            <a:r>
              <a:t>min(ones) − max(zeros)</a:t>
            </a:r>
          </a:p>
          <a:p>
            <a:pPr algn="ctr">
              <a:defRPr sz="1000" b="0">
                <a:solidFill>
                  <a:srgbClr val="FFFFFF"/>
                </a:solidFill>
              </a:defRPr>
            </a:pPr>
            <a:r>
              <a:t>bit errors counted</a:t>
            </a:r>
          </a:p>
        </p:txBody>
      </p:sp>
      <p:pic>
        <p:nvPicPr>
          <p:cNvPr id="17" name="Picture 16" descr="eye_diagram_equalizer.png"/>
          <p:cNvPicPr>
            <a:picLocks noChangeAspect="1"/>
          </p:cNvPicPr>
          <p:nvPr/>
        </p:nvPicPr>
        <p:blipFill>
          <a:blip r:embed="rId3"/>
          <a:stretch>
            <a:fillRect/>
          </a:stretch>
        </p:blipFill>
        <p:spPr>
          <a:xfrm>
            <a:off x="457200" y="2560320"/>
            <a:ext cx="4992624" cy="3566160"/>
          </a:xfrm>
          <a:prstGeom prst="rect">
            <a:avLst/>
          </a:prstGeom>
        </p:spPr>
      </p:pic>
      <p:sp>
        <p:nvSpPr>
          <p:cNvPr id="18" name="Rounded Rectangle 17"/>
          <p:cNvSpPr/>
          <p:nvPr/>
        </p:nvSpPr>
        <p:spPr>
          <a:xfrm>
            <a:off x="5852160" y="2651760"/>
            <a:ext cx="292608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0.327 → 0.455 V</a:t>
            </a:r>
          </a:p>
          <a:p>
            <a:pPr algn="ctr">
              <a:defRPr sz="1200">
                <a:solidFill>
                  <a:srgbClr val="555B66"/>
                </a:solidFill>
              </a:defRPr>
            </a:pPr>
            <a:r>
              <a:t>eye with a swept tap of +0.075, zero bit errors</a:t>
            </a:r>
          </a:p>
        </p:txBody>
      </p:sp>
      <p:sp>
        <p:nvSpPr>
          <p:cNvPr id="19" name="Rounded Rectangle 18"/>
          <p:cNvSpPr/>
          <p:nvPr/>
        </p:nvSpPr>
        <p:spPr>
          <a:xfrm>
            <a:off x="8961120" y="2651760"/>
            <a:ext cx="2926080" cy="109728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0.51 V</a:t>
            </a:r>
          </a:p>
          <a:p>
            <a:pPr algn="ctr">
              <a:defRPr sz="1200">
                <a:solidFill>
                  <a:srgbClr val="555B66"/>
                </a:solidFill>
              </a:defRPr>
            </a:pPr>
            <a:r>
              <a:t>post-DFE eye held during equalizer training (CTLE-only ≈ 0.35 V)</a:t>
            </a:r>
          </a:p>
        </p:txBody>
      </p:sp>
      <p:sp>
        <p:nvSpPr>
          <p:cNvPr id="20" name="TextBox 19"/>
          <p:cNvSpPr txBox="1"/>
          <p:nvPr/>
        </p:nvSpPr>
        <p:spPr>
          <a:xfrm>
            <a:off x="5852160" y="3931920"/>
            <a:ext cx="6035040" cy="2286000"/>
          </a:xfrm>
          <a:prstGeom prst="rect">
            <a:avLst/>
          </a:prstGeom>
          <a:noFill/>
        </p:spPr>
        <p:txBody>
          <a:bodyPr wrap="square">
            <a:spAutoFit/>
          </a:bodyPr>
          <a:lstStyle/>
          <a:p>
            <a:pPr>
              <a:defRPr sz="1150" b="0">
                <a:solidFill>
                  <a:srgbClr val="1A1A1A"/>
                </a:solidFill>
              </a:defRPr>
            </a:pPr>
            <a:r>
              <a:t>Two measurement flaws found by the agent and fixed:</a:t>
            </a:r>
          </a:p>
          <a:p>
            <a:pPr>
              <a:defRPr sz="1150" b="0">
                <a:solidFill>
                  <a:srgbClr val="1A1A1A"/>
                </a:solidFill>
              </a:defRPr>
            </a:pPr>
            <a:r>
              <a:t>•  HD3: 2.5-cycle rectangular FFT window → leakage floor at −25 dB on every design. Integer-cycle Hann window → −58 dB (28 dB margin).</a:t>
            </a:r>
          </a:p>
          <a:p>
            <a:pPr>
              <a:defRPr sz="1150" b="0">
                <a:solidFill>
                  <a:srgbClr val="1A1A1A"/>
                </a:solidFill>
              </a:defRPr>
            </a:pPr>
            <a:r>
              <a:t>•  DFE eye: labelled by the DFE's own decisions → a large tap 'opens' the eye by itself. Agent pushed the tap to +0.5 with 54/127 bit errors. Now measured against the transmitted bits; zero eye on any error.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Compared with conventional search</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3:45 – 4:20</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10</a:t>
            </a:r>
          </a:p>
        </p:txBody>
      </p:sp>
      <p:pic>
        <p:nvPicPr>
          <p:cNvPr id="6" name="Picture 5" descr="budget_curve.png"/>
          <p:cNvPicPr>
            <a:picLocks noChangeAspect="1"/>
          </p:cNvPicPr>
          <p:nvPr/>
        </p:nvPicPr>
        <p:blipFill>
          <a:blip r:embed="rId3"/>
          <a:stretch>
            <a:fillRect/>
          </a:stretch>
        </p:blipFill>
        <p:spPr>
          <a:xfrm>
            <a:off x="365760" y="1188720"/>
            <a:ext cx="5120640" cy="2926080"/>
          </a:xfrm>
          <a:prstGeom prst="rect">
            <a:avLst/>
          </a:prstGeom>
        </p:spPr>
      </p:pic>
      <p:graphicFrame>
        <p:nvGraphicFramePr>
          <p:cNvPr id="7" name="Table 6"/>
          <p:cNvGraphicFramePr>
            <a:graphicFrameLocks noGrp="1"/>
          </p:cNvGraphicFramePr>
          <p:nvPr/>
        </p:nvGraphicFramePr>
        <p:xfrm>
          <a:off x="6400800" y="1280160"/>
          <a:ext cx="5486400" cy="1737360"/>
        </p:xfrm>
        <a:graphic>
          <a:graphicData uri="http://schemas.openxmlformats.org/drawingml/2006/table">
            <a:tbl>
              <a:tblPr firstRow="1" bandRow="1">
                <a:tableStyleId>{5C22544A-7EE6-4342-B048-85BDC9FD1C3A}</a:tableStyleId>
              </a:tblPr>
              <a:tblGrid>
                <a:gridCol w="2286000"/>
                <a:gridCol w="1645920"/>
                <a:gridCol w="1554480"/>
              </a:tblGrid>
              <a:tr h="347472">
                <a:tc>
                  <a:txBody>
                    <a:bodyPr/>
                    <a:lstStyle/>
                    <a:p>
                      <a:pPr>
                        <a:defRPr sz="1100" b="1">
                          <a:solidFill>
                            <a:srgbClr val="FFFFFF"/>
                          </a:solidFill>
                        </a:defRPr>
                      </a:pPr>
                      <a:r>
                        <a:t>Method (random starting designs)</a:t>
                      </a:r>
                    </a:p>
                  </a:txBody>
                  <a:tcPr marL="54864" marR="54864" marT="27432" marB="27432">
                    <a:solidFill>
                      <a:srgbClr val="2B5797"/>
                    </a:solidFill>
                  </a:tcPr>
                </a:tc>
                <a:tc>
                  <a:txBody>
                    <a:bodyPr/>
                    <a:lstStyle/>
                    <a:p>
                      <a:pPr>
                        <a:defRPr sz="1100" b="1">
                          <a:solidFill>
                            <a:srgbClr val="FFFFFF"/>
                          </a:solidFill>
                        </a:defRPr>
                      </a:pPr>
                      <a:r>
                        <a:t>First feasible design</a:t>
                      </a:r>
                    </a:p>
                  </a:txBody>
                  <a:tcPr marL="54864" marR="54864" marT="27432" marB="27432">
                    <a:solidFill>
                      <a:srgbClr val="2B5797"/>
                    </a:solidFill>
                  </a:tcPr>
                </a:tc>
                <a:tc>
                  <a:txBody>
                    <a:bodyPr/>
                    <a:lstStyle/>
                    <a:p>
                      <a:pPr>
                        <a:defRPr sz="1100" b="1">
                          <a:solidFill>
                            <a:srgbClr val="FFFFFF"/>
                          </a:solidFill>
                        </a:defRPr>
                      </a:pPr>
                      <a:r>
                        <a:t>Per new instance</a:t>
                      </a:r>
                    </a:p>
                  </a:txBody>
                  <a:tcPr marL="54864" marR="54864" marT="27432" marB="27432">
                    <a:solidFill>
                      <a:srgbClr val="2B5797"/>
                    </a:solidFill>
                  </a:tcPr>
                </a:tc>
              </a:tr>
              <a:tr h="347472">
                <a:tc>
                  <a:txBody>
                    <a:bodyPr/>
                    <a:lstStyle/>
                    <a:p>
                      <a:pPr>
                        <a:defRPr sz="1100" b="0">
                          <a:solidFill>
                            <a:srgbClr val="1A1A1A"/>
                          </a:solidFill>
                        </a:defRPr>
                      </a:pPr>
                      <a:r>
                        <a:t>SAC policy (144 rollouts)</a:t>
                      </a:r>
                    </a:p>
                  </a:txBody>
                  <a:tcPr marL="54864" marR="54864" marT="27432" marB="27432">
                    <a:solidFill>
                      <a:srgbClr val="FFFFFF"/>
                    </a:solidFill>
                  </a:tcPr>
                </a:tc>
                <a:tc>
                  <a:txBody>
                    <a:bodyPr/>
                    <a:lstStyle/>
                    <a:p>
                      <a:pPr>
                        <a:defRPr sz="1100" b="0">
                          <a:solidFill>
                            <a:srgbClr val="1A1A1A"/>
                          </a:solidFill>
                        </a:defRPr>
                      </a:pPr>
                      <a:r>
                        <a:t>median 2–3, worst 5</a:t>
                      </a:r>
                    </a:p>
                  </a:txBody>
                  <a:tcPr marL="54864" marR="54864" marT="27432" marB="27432">
                    <a:solidFill>
                      <a:srgbClr val="FFFFFF"/>
                    </a:solidFill>
                  </a:tcPr>
                </a:tc>
                <a:tc>
                  <a:txBody>
                    <a:bodyPr/>
                    <a:lstStyle/>
                    <a:p>
                      <a:pPr>
                        <a:defRPr sz="1100" b="0">
                          <a:solidFill>
                            <a:srgbClr val="1A1A1A"/>
                          </a:solidFill>
                        </a:defRPr>
                      </a:pPr>
                      <a:r>
                        <a:t>2–3 simulations, no search</a:t>
                      </a:r>
                    </a:p>
                  </a:txBody>
                  <a:tcPr marL="54864" marR="54864" marT="27432" marB="27432">
                    <a:solidFill>
                      <a:srgbClr val="FFFFFF"/>
                    </a:solidFill>
                  </a:tcPr>
                </a:tc>
              </a:tr>
              <a:tr h="347472">
                <a:tc>
                  <a:txBody>
                    <a:bodyPr/>
                    <a:lstStyle/>
                    <a:p>
                      <a:pPr>
                        <a:defRPr sz="1100" b="0">
                          <a:solidFill>
                            <a:srgbClr val="1A1A1A"/>
                          </a:solidFill>
                        </a:defRPr>
                      </a:pPr>
                      <a:r>
                        <a:t>CMA-ES, random start (6 trials)</a:t>
                      </a:r>
                    </a:p>
                  </a:txBody>
                  <a:tcPr marL="54864" marR="54864" marT="27432" marB="27432">
                    <a:solidFill>
                      <a:srgbClr val="F2F4F7"/>
                    </a:solidFill>
                  </a:tcPr>
                </a:tc>
                <a:tc>
                  <a:txBody>
                    <a:bodyPr/>
                    <a:lstStyle/>
                    <a:p>
                      <a:pPr>
                        <a:defRPr sz="1100" b="0">
                          <a:solidFill>
                            <a:srgbClr val="1A1A1A"/>
                          </a:solidFill>
                        </a:defRPr>
                      </a:pPr>
                      <a:r>
                        <a:t>median 9, worst 24</a:t>
                      </a:r>
                    </a:p>
                  </a:txBody>
                  <a:tcPr marL="54864" marR="54864" marT="27432" marB="27432">
                    <a:solidFill>
                      <a:srgbClr val="F2F4F7"/>
                    </a:solidFill>
                  </a:tcPr>
                </a:tc>
                <a:tc>
                  <a:txBody>
                    <a:bodyPr/>
                    <a:lstStyle/>
                    <a:p>
                      <a:pPr>
                        <a:defRPr sz="1100" b="0">
                          <a:solidFill>
                            <a:srgbClr val="1A1A1A"/>
                          </a:solidFill>
                        </a:defRPr>
                      </a:pPr>
                      <a:r>
                        <a:t>~10 to feasible; 400 to refine</a:t>
                      </a:r>
                    </a:p>
                  </a:txBody>
                  <a:tcPr marL="54864" marR="54864" marT="27432" marB="27432">
                    <a:solidFill>
                      <a:srgbClr val="F2F4F7"/>
                    </a:solidFill>
                  </a:tcPr>
                </a:tc>
              </a:tr>
              <a:tr h="347472">
                <a:tc>
                  <a:txBody>
                    <a:bodyPr/>
                    <a:lstStyle/>
                    <a:p>
                      <a:pPr>
                        <a:defRPr sz="1100" b="0">
                          <a:solidFill>
                            <a:srgbClr val="1A1A1A"/>
                          </a:solidFill>
                        </a:defRPr>
                      </a:pPr>
                      <a:r>
                        <a:t>Random search (3000 designs)</a:t>
                      </a:r>
                    </a:p>
                  </a:txBody>
                  <a:tcPr marL="54864" marR="54864" marT="27432" marB="27432">
                    <a:solidFill>
                      <a:srgbClr val="FFFFFF"/>
                    </a:solidFill>
                  </a:tcPr>
                </a:tc>
                <a:tc>
                  <a:txBody>
                    <a:bodyPr/>
                    <a:lstStyle/>
                    <a:p>
                      <a:pPr>
                        <a:defRPr sz="1100" b="0">
                          <a:solidFill>
                            <a:srgbClr val="1A1A1A"/>
                          </a:solidFill>
                        </a:defRPr>
                      </a:pPr>
                      <a:r>
                        <a:t>#27 (7.9 % feasible)</a:t>
                      </a:r>
                    </a:p>
                  </a:txBody>
                  <a:tcPr marL="54864" marR="54864" marT="27432" marB="27432">
                    <a:solidFill>
                      <a:srgbClr val="FFFFFF"/>
                    </a:solidFill>
                  </a:tcPr>
                </a:tc>
                <a:tc>
                  <a:txBody>
                    <a:bodyPr/>
                    <a:lstStyle/>
                    <a:p>
                      <a:pPr>
                        <a:defRPr sz="1100" b="0">
                          <a:solidFill>
                            <a:srgbClr val="1A1A1A"/>
                          </a:solidFill>
                        </a:defRPr>
                      </a:pPr>
                      <a:r>
                        <a:t>~13 per feasible design</a:t>
                      </a:r>
                    </a:p>
                  </a:txBody>
                  <a:tcPr marL="54864" marR="54864" marT="27432" marB="27432">
                    <a:solidFill>
                      <a:srgbClr val="FFFFFF"/>
                    </a:solidFill>
                  </a:tcPr>
                </a:tc>
              </a:tr>
              <a:tr h="347472">
                <a:tc>
                  <a:txBody>
                    <a:bodyPr/>
                    <a:lstStyle/>
                    <a:p>
                      <a:pPr>
                        <a:defRPr sz="1100" b="0">
                          <a:solidFill>
                            <a:srgbClr val="1A1A1A"/>
                          </a:solidFill>
                        </a:defRPr>
                      </a:pPr>
                      <a:r>
                        <a:t>AC-only bounded search (pre-ML)</a:t>
                      </a:r>
                    </a:p>
                  </a:txBody>
                  <a:tcPr marL="54864" marR="54864" marT="27432" marB="27432">
                    <a:solidFill>
                      <a:srgbClr val="F2F4F7"/>
                    </a:solidFill>
                  </a:tcPr>
                </a:tc>
                <a:tc>
                  <a:txBody>
                    <a:bodyPr/>
                    <a:lstStyle/>
                    <a:p>
                      <a:pPr>
                        <a:defRPr sz="1100" b="0">
                          <a:solidFill>
                            <a:srgbClr val="1A1A1A"/>
                          </a:solidFill>
                        </a:defRPr>
                      </a:pPr>
                      <a:r>
                        <a:t>never reaches the eye</a:t>
                      </a:r>
                    </a:p>
                  </a:txBody>
                  <a:tcPr marL="54864" marR="54864" marT="27432" marB="27432">
                    <a:solidFill>
                      <a:srgbClr val="F2F4F7"/>
                    </a:solidFill>
                  </a:tcPr>
                </a:tc>
                <a:tc>
                  <a:txBody>
                    <a:bodyPr/>
                    <a:lstStyle/>
                    <a:p>
                      <a:pPr>
                        <a:defRPr sz="1100" b="0">
                          <a:solidFill>
                            <a:srgbClr val="1A1A1A"/>
                          </a:solidFill>
                        </a:defRPr>
                      </a:pPr>
                      <a:r>
                        <a:t>0.160 V post-channel eye</a:t>
                      </a:r>
                    </a:p>
                  </a:txBody>
                  <a:tcPr marL="54864" marR="54864" marT="27432" marB="27432">
                    <a:solidFill>
                      <a:srgbClr val="F2F4F7"/>
                    </a:solidFill>
                  </a:tcPr>
                </a:tc>
              </a:tr>
            </a:tbl>
          </a:graphicData>
        </a:graphic>
      </p:graphicFrame>
      <p:sp>
        <p:nvSpPr>
          <p:cNvPr id="8" name="TextBox 7"/>
          <p:cNvSpPr txBox="1"/>
          <p:nvPr/>
        </p:nvSpPr>
        <p:spPr>
          <a:xfrm>
            <a:off x="6400800" y="3566160"/>
            <a:ext cx="5486400" cy="2560320"/>
          </a:xfrm>
          <a:prstGeom prst="rect">
            <a:avLst/>
          </a:prstGeom>
          <a:noFill/>
        </p:spPr>
        <p:txBody>
          <a:bodyPr wrap="square">
            <a:spAutoFit/>
          </a:bodyPr>
          <a:lstStyle/>
          <a:p>
            <a:pPr>
              <a:spcAft>
                <a:spcPts val="600"/>
              </a:spcAft>
              <a:defRPr sz="1200">
                <a:solidFill>
                  <a:srgbClr val="1A1A1A"/>
                </a:solidFill>
              </a:defRPr>
            </a:pPr>
            <a:r>
              <a:t>•  3–4× fewer simulations than CMA-ES from the same starts; ~10× fewer than random</a:t>
            </a:r>
          </a:p>
          <a:p>
            <a:pPr>
              <a:spcAft>
                <a:spcPts val="600"/>
              </a:spcAft>
              <a:defRPr sz="1200">
                <a:solidFill>
                  <a:srgbClr val="1A1A1A"/>
                </a:solidFill>
              </a:defRPr>
            </a:pPr>
            <a:r>
              <a:t>•  CMA-ES matches the policy's training-best quality given 400 sims per design — the policy's advantage is amortisation: train once, then 2–3 sims per new instance</a:t>
            </a:r>
          </a:p>
          <a:p>
            <a:pPr>
              <a:spcAft>
                <a:spcPts val="600"/>
              </a:spcAft>
              <a:defRPr sz="1200">
                <a:solidFill>
                  <a:srgbClr val="1A1A1A"/>
                </a:solidFill>
              </a:defRPr>
            </a:pPr>
            <a:r>
              <a:t>•  AC-only optimisation cannot see the eye: 0.160 V vs 0.327 V for the policy</a:t>
            </a:r>
          </a:p>
        </p:txBody>
      </p:sp>
      <p:pic>
        <p:nvPicPr>
          <p:cNvPr id="9" name="Picture 8" descr="eye_diagram_preml.png"/>
          <p:cNvPicPr>
            <a:picLocks noChangeAspect="1"/>
          </p:cNvPicPr>
          <p:nvPr/>
        </p:nvPicPr>
        <p:blipFill>
          <a:blip r:embed="rId4"/>
          <a:stretch>
            <a:fillRect/>
          </a:stretch>
        </p:blipFill>
        <p:spPr>
          <a:xfrm>
            <a:off x="822960" y="4434840"/>
            <a:ext cx="2688336" cy="1920240"/>
          </a:xfrm>
          <a:prstGeom prst="rect">
            <a:avLst/>
          </a:prstGeom>
        </p:spPr>
      </p:pic>
      <p:sp>
        <p:nvSpPr>
          <p:cNvPr id="10" name="TextBox 9"/>
          <p:cNvSpPr txBox="1"/>
          <p:nvPr/>
        </p:nvSpPr>
        <p:spPr>
          <a:xfrm>
            <a:off x="3383280" y="5120640"/>
            <a:ext cx="2743200" cy="548640"/>
          </a:xfrm>
          <a:prstGeom prst="rect">
            <a:avLst/>
          </a:prstGeom>
          <a:noFill/>
        </p:spPr>
        <p:txBody>
          <a:bodyPr wrap="square">
            <a:spAutoFit/>
          </a:bodyPr>
          <a:lstStyle/>
          <a:p>
            <a:pPr>
              <a:defRPr sz="1200" b="1">
                <a:solidFill>
                  <a:srgbClr val="B42318"/>
                </a:solidFill>
              </a:defRPr>
            </a:pPr>
            <a:r>
              <a:t>AC-only search: 0.160 V / 0.58 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Reproducibility and the final output</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4:20 – 4:45</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11</a:t>
            </a:r>
          </a:p>
        </p:txBody>
      </p:sp>
      <p:sp>
        <p:nvSpPr>
          <p:cNvPr id="6" name="TextBox 5"/>
          <p:cNvSpPr txBox="1"/>
          <p:nvPr/>
        </p:nvSpPr>
        <p:spPr>
          <a:xfrm>
            <a:off x="365760" y="1188720"/>
            <a:ext cx="11430000" cy="1325880"/>
          </a:xfrm>
          <a:prstGeom prst="rect">
            <a:avLst/>
          </a:prstGeom>
          <a:solidFill>
            <a:srgbClr val="0C1B2E"/>
          </a:solidFill>
        </p:spPr>
        <p:txBody>
          <a:bodyPr wrap="none">
            <a:spAutoFit/>
          </a:bodyPr>
          <a:lstStyle/>
          <a:p>
            <a:pPr>
              <a:defRPr sz="1050" b="0">
                <a:solidFill>
                  <a:srgbClr val="E6EEF8"/>
                </a:solidFill>
                <a:latin typeface="Consolas"/>
              </a:defRPr>
            </a:pPr>
            <a:r>
              <a:t>python scripts/train_sac.py --model-source ihp --eye-height-min 0.25 --hd3 --timesteps 12000 --n-envs 8 ...</a:t>
            </a:r>
          </a:p>
          <a:p>
            <a:pPr>
              <a:defRPr sz="1050" b="0">
                <a:solidFill>
                  <a:srgbClr val="E6EEF8"/>
                </a:solidFill>
                <a:latin typeface="Consolas"/>
              </a:defRPr>
            </a:pPr>
            <a:r>
              <a:t>python scripts/train_sac.py ... --corners all --resume reports/sac-ihp-hd3/sac_final.zip --timesteps 8000</a:t>
            </a:r>
          </a:p>
          <a:p>
            <a:pPr>
              <a:defRPr sz="1050" b="0">
                <a:solidFill>
                  <a:srgbClr val="E6EEF8"/>
                </a:solidFill>
                <a:latin typeface="Consolas"/>
              </a:defRPr>
            </a:pPr>
            <a:r>
              <a:t>python scripts/evaluate_policy.py reports/sac-ihp-pvt --rollouts 24 --baseline reports/baseline-ihp-3000</a:t>
            </a:r>
          </a:p>
          <a:p>
            <a:pPr>
              <a:defRPr sz="1050" b="0">
                <a:solidFill>
                  <a:srgbClr val="E6EEF8"/>
                </a:solidFill>
                <a:latin typeface="Consolas"/>
              </a:defRPr>
            </a:pPr>
            <a:r>
              <a:t>python scripts/reward_from_feedback.py "power matters much more than eye margin" --output reports/reward.json</a:t>
            </a:r>
          </a:p>
        </p:txBody>
      </p:sp>
      <p:sp>
        <p:nvSpPr>
          <p:cNvPr id="7" name="TextBox 6"/>
          <p:cNvSpPr txBox="1"/>
          <p:nvPr/>
        </p:nvSpPr>
        <p:spPr>
          <a:xfrm>
            <a:off x="365760" y="2743200"/>
            <a:ext cx="5120640" cy="3291840"/>
          </a:xfrm>
          <a:prstGeom prst="rect">
            <a:avLst/>
          </a:prstGeom>
          <a:solidFill>
            <a:srgbClr val="F2F4F7"/>
          </a:solidFill>
        </p:spPr>
        <p:txBody>
          <a:bodyPr wrap="square">
            <a:spAutoFit/>
          </a:bodyPr>
          <a:lstStyle/>
          <a:p>
            <a:pPr>
              <a:defRPr sz="1050" b="0">
                <a:solidFill>
                  <a:srgbClr val="1A1A1A"/>
                </a:solidFill>
                <a:latin typeface="Consolas"/>
              </a:defRPr>
            </a:pPr>
            <a:r>
              <a:t>* AutoAnalog-RL sized CTLE</a:t>
            </a:r>
          </a:p>
          <a:p>
            <a:pPr>
              <a:defRPr sz="1050" b="0">
                <a:solidFill>
                  <a:srgbClr val="1A1A1A"/>
                </a:solidFill>
                <a:latin typeface="Consolas"/>
              </a:defRPr>
            </a:pPr>
            <a:r>
              <a:t>* model source: ihp_ngspice</a:t>
            </a:r>
          </a:p>
          <a:p>
            <a:pPr>
              <a:defRPr sz="1050" b="0">
                <a:solidFill>
                  <a:srgbClr val="1A1A1A"/>
                </a:solidFill>
                <a:latin typeface="Consolas"/>
              </a:defRPr>
            </a:pPr>
            <a:r>
              <a:t>* W_in = 2.01908e-05</a:t>
            </a:r>
          </a:p>
          <a:p>
            <a:pPr>
              <a:defRPr sz="1050" b="0">
                <a:solidFill>
                  <a:srgbClr val="1A1A1A"/>
                </a:solidFill>
                <a:latin typeface="Consolas"/>
              </a:defRPr>
            </a:pPr>
            <a:r>
              <a:t>* R_load = 1000</a:t>
            </a:r>
          </a:p>
          <a:p>
            <a:pPr>
              <a:defRPr sz="1050" b="0">
                <a:solidFill>
                  <a:srgbClr val="1A1A1A"/>
                </a:solidFill>
                <a:latin typeface="Consolas"/>
              </a:defRPr>
            </a:pPr>
            <a:r>
              <a:t>* I_bias = 0.000930072</a:t>
            </a:r>
          </a:p>
          <a:p>
            <a:pPr>
              <a:defRPr sz="1050" b="0">
                <a:solidFill>
                  <a:srgbClr val="1A1A1A"/>
                </a:solidFill>
                <a:latin typeface="Consolas"/>
              </a:defRPr>
            </a:pPr>
            <a:r>
              <a:t>* R_s = 260.642</a:t>
            </a:r>
          </a:p>
          <a:p>
            <a:pPr>
              <a:defRPr sz="1050" b="0">
                <a:solidFill>
                  <a:srgbClr val="1A1A1A"/>
                </a:solidFill>
                <a:latin typeface="Consolas"/>
              </a:defRPr>
            </a:pPr>
            <a:r>
              <a:t>* C_s = 3.2956e-13</a:t>
            </a:r>
          </a:p>
          <a:p>
            <a:pPr>
              <a:defRPr sz="1050" b="0">
                <a:solidFill>
                  <a:srgbClr val="1A1A1A"/>
                </a:solidFill>
                <a:latin typeface="Consolas"/>
              </a:defRPr>
            </a:pPr>
            <a:r>
              <a:t>.param VDD=1.2</a:t>
            </a:r>
          </a:p>
          <a:p>
            <a:pPr>
              <a:defRPr sz="1050" b="0">
                <a:solidFill>
                  <a:srgbClr val="1A1A1A"/>
                </a:solidFill>
                <a:latin typeface="Consolas"/>
              </a:defRPr>
            </a:pPr>
            <a:r>
              <a:t>X1 outP inP sourceP 0 sg13_lv_nmos W=2.01908e-05 L=0.13u</a:t>
            </a:r>
          </a:p>
          <a:p>
            <a:pPr>
              <a:defRPr sz="1050" b="0">
                <a:solidFill>
                  <a:srgbClr val="1A1A1A"/>
                </a:solidFill>
                <a:latin typeface="Consolas"/>
              </a:defRPr>
            </a:pPr>
            <a:r>
              <a:t>X2 outN inN sourceN 0 sg13_lv_nmos W=2.01908e-05 L=0.13u</a:t>
            </a:r>
          </a:p>
          <a:p>
            <a:pPr>
              <a:defRPr sz="1050" b="0">
                <a:solidFill>
                  <a:srgbClr val="1A1A1A"/>
                </a:solidFill>
                <a:latin typeface="Consolas"/>
              </a:defRPr>
            </a:pPr>
            <a:r>
              <a:t>RdegP sourceP tail 260.642</a:t>
            </a:r>
          </a:p>
          <a:p>
            <a:pPr>
              <a:defRPr sz="1050" b="0">
                <a:solidFill>
                  <a:srgbClr val="1A1A1A"/>
                </a:solidFill>
                <a:latin typeface="Consolas"/>
              </a:defRPr>
            </a:pPr>
            <a:r>
              <a:t>...</a:t>
            </a:r>
          </a:p>
        </p:txBody>
      </p:sp>
      <p:sp>
        <p:nvSpPr>
          <p:cNvPr id="8" name="TextBox 7"/>
          <p:cNvSpPr txBox="1"/>
          <p:nvPr/>
        </p:nvSpPr>
        <p:spPr>
          <a:xfrm>
            <a:off x="365760" y="6035040"/>
            <a:ext cx="5120640" cy="320040"/>
          </a:xfrm>
          <a:prstGeom prst="rect">
            <a:avLst/>
          </a:prstGeom>
          <a:noFill/>
        </p:spPr>
        <p:txBody>
          <a:bodyPr wrap="square">
            <a:spAutoFit/>
          </a:bodyPr>
          <a:lstStyle/>
          <a:p>
            <a:pPr>
              <a:defRPr sz="1100" b="0">
                <a:solidFill>
                  <a:srgbClr val="555B66"/>
                </a:solidFill>
              </a:defRPr>
            </a:pPr>
            <a:r>
              <a:t>sized_ctle.sp — the deliverable schematic</a:t>
            </a:r>
          </a:p>
        </p:txBody>
      </p:sp>
      <p:sp>
        <p:nvSpPr>
          <p:cNvPr id="9" name="TextBox 8"/>
          <p:cNvSpPr txBox="1"/>
          <p:nvPr/>
        </p:nvSpPr>
        <p:spPr>
          <a:xfrm>
            <a:off x="5852160" y="2743200"/>
            <a:ext cx="6035040" cy="3474720"/>
          </a:xfrm>
          <a:prstGeom prst="rect">
            <a:avLst/>
          </a:prstGeom>
          <a:noFill/>
        </p:spPr>
        <p:txBody>
          <a:bodyPr wrap="square">
            <a:spAutoFit/>
          </a:bodyPr>
          <a:lstStyle/>
          <a:p>
            <a:pPr>
              <a:spcAft>
                <a:spcPts val="600"/>
              </a:spcAft>
              <a:defRPr sz="1300">
                <a:solidFill>
                  <a:srgbClr val="1A1A1A"/>
                </a:solidFill>
              </a:defRPr>
            </a:pPr>
            <a:r>
              <a:t>•  validation.json — every gate result, 45-corner PVT, HD3, noise, area</a:t>
            </a:r>
          </a:p>
          <a:p>
            <a:pPr>
              <a:spcAft>
                <a:spcPts val="600"/>
              </a:spcAft>
              <a:defRPr sz="1300">
                <a:solidFill>
                  <a:srgbClr val="1A1A1A"/>
                </a:solidFill>
              </a:defRPr>
            </a:pPr>
            <a:r>
              <a:t>•  steps.csv / monitor files / checkpoints — the whole training trajectory</a:t>
            </a:r>
          </a:p>
          <a:p>
            <a:pPr>
              <a:spcAft>
                <a:spcPts val="600"/>
              </a:spcAft>
              <a:defRPr sz="1300">
                <a:solidFill>
                  <a:srgbClr val="1A1A1A"/>
                </a:solidFill>
              </a:defRPr>
            </a:pPr>
            <a:r>
              <a:t>•  budget_curve, eye, AC, PVT plots — PNG + CSV</a:t>
            </a:r>
          </a:p>
          <a:p>
            <a:pPr>
              <a:spcAft>
                <a:spcPts val="600"/>
              </a:spcAft>
              <a:defRPr sz="1300">
                <a:solidFill>
                  <a:srgbClr val="1A1A1A"/>
                </a:solidFill>
              </a:defRPr>
            </a:pPr>
            <a:r>
              <a:t>•  evaluation.json — rollouts, steps to feasibility, per-corner breakdown</a:t>
            </a:r>
          </a:p>
          <a:p>
            <a:pPr>
              <a:spcAft>
                <a:spcPts val="600"/>
              </a:spcAft>
              <a:defRPr sz="1300">
                <a:solidFill>
                  <a:srgbClr val="1A1A1A"/>
                </a:solidFill>
              </a:defRPr>
            </a:pPr>
            <a:r>
              <a:t>•  reward.json — weights from plain-language feedback (LLM frontend)</a:t>
            </a:r>
          </a:p>
          <a:p>
            <a:pPr>
              <a:spcAft>
                <a:spcPts val="600"/>
              </a:spcAft>
              <a:defRPr sz="1300">
                <a:solidFill>
                  <a:srgbClr val="1A1A1A"/>
                </a:solidFill>
              </a:defRPr>
            </a:pPr>
            <a:r>
              <a:t>•  59 tests run without ngspice: python -m pytest -q</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Summary</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4:45 – 5:00</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12</a:t>
            </a:r>
          </a:p>
        </p:txBody>
      </p:sp>
      <p:sp>
        <p:nvSpPr>
          <p:cNvPr id="6" name="Rounded Rectangle 5"/>
          <p:cNvSpPr/>
          <p:nvPr/>
        </p:nvSpPr>
        <p:spPr>
          <a:xfrm>
            <a:off x="548640" y="1371600"/>
            <a:ext cx="35661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2 – 3 sims</a:t>
            </a:r>
          </a:p>
          <a:p>
            <a:pPr algn="ctr">
              <a:defRPr sz="1200">
                <a:solidFill>
                  <a:srgbClr val="555B66"/>
                </a:solidFill>
              </a:defRPr>
            </a:pPr>
            <a:r>
              <a:t>from a random start to every spec met</a:t>
            </a:r>
          </a:p>
        </p:txBody>
      </p:sp>
      <p:sp>
        <p:nvSpPr>
          <p:cNvPr id="7" name="Rounded Rectangle 6"/>
          <p:cNvSpPr/>
          <p:nvPr/>
        </p:nvSpPr>
        <p:spPr>
          <a:xfrm>
            <a:off x="4297680" y="1371600"/>
            <a:ext cx="35661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45 / 45</a:t>
            </a:r>
          </a:p>
          <a:p>
            <a:pPr algn="ctr">
              <a:defRPr sz="1200">
                <a:solidFill>
                  <a:srgbClr val="555B66"/>
                </a:solidFill>
              </a:defRPr>
            </a:pPr>
            <a:r>
              <a:t>PVT corners, every design</a:t>
            </a:r>
          </a:p>
        </p:txBody>
      </p:sp>
      <p:sp>
        <p:nvSpPr>
          <p:cNvPr id="8" name="Rounded Rectangle 7"/>
          <p:cNvSpPr/>
          <p:nvPr/>
        </p:nvSpPr>
        <p:spPr>
          <a:xfrm>
            <a:off x="8046720" y="1371600"/>
            <a:ext cx="3566160" cy="1234440"/>
          </a:xfrm>
          <a:prstGeom prst="roundRect">
            <a:avLst/>
          </a:prstGeom>
          <a:solidFill>
            <a:srgbClr val="F2F4F7"/>
          </a:solidFill>
          <a:ln>
            <a:solidFill>
              <a:srgbClr val="2B579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63A6B"/>
                </a:solidFill>
              </a:defRPr>
            </a:pPr>
            <a:r>
              <a:t>sized_ctle.sp</a:t>
            </a:r>
          </a:p>
          <a:p>
            <a:pPr algn="ctr">
              <a:defRPr sz="1200">
                <a:solidFill>
                  <a:srgbClr val="555B66"/>
                </a:solidFill>
              </a:defRPr>
            </a:pPr>
            <a:r>
              <a:t>an actual circuit, not a score</a:t>
            </a:r>
          </a:p>
        </p:txBody>
      </p:sp>
      <p:sp>
        <p:nvSpPr>
          <p:cNvPr id="9" name="TextBox 8"/>
          <p:cNvSpPr txBox="1"/>
          <p:nvPr/>
        </p:nvSpPr>
        <p:spPr>
          <a:xfrm>
            <a:off x="548640" y="3017520"/>
            <a:ext cx="11155680" cy="2743200"/>
          </a:xfrm>
          <a:prstGeom prst="rect">
            <a:avLst/>
          </a:prstGeom>
          <a:noFill/>
        </p:spPr>
        <p:txBody>
          <a:bodyPr wrap="square">
            <a:spAutoFit/>
          </a:bodyPr>
          <a:lstStyle/>
          <a:p>
            <a:pPr>
              <a:spcAft>
                <a:spcPts val="600"/>
              </a:spcAft>
              <a:defRPr sz="1500">
                <a:solidFill>
                  <a:srgbClr val="1A1A1A"/>
                </a:solidFill>
              </a:defRPr>
            </a:pPr>
            <a:r>
              <a:t>•  SAC agent + ngspice gates in fail-fast order, on the real IHP sg13g2 PSP103 models</a:t>
            </a:r>
          </a:p>
          <a:p>
            <a:pPr>
              <a:spcAft>
                <a:spcPts val="600"/>
              </a:spcAft>
              <a:defRPr sz="1500">
                <a:solidFill>
                  <a:srgbClr val="1A1A1A"/>
                </a:solidFill>
              </a:defRPr>
            </a:pPr>
            <a:r>
              <a:t>•  Eye 0.32–0.37 V after a −10 dB channel, 3–12 dB peaking, ~1 mW, HD3 ≈ −60 dB, noise 0.24 mV rms</a:t>
            </a:r>
          </a:p>
          <a:p>
            <a:pPr>
              <a:spcAft>
                <a:spcPts val="600"/>
              </a:spcAft>
              <a:defRPr sz="1500">
                <a:solidFill>
                  <a:srgbClr val="1A1A1A"/>
                </a:solidFill>
              </a:defRPr>
            </a:pPr>
            <a:r>
              <a:t>•  Curriculum across 45 corners · tunable Nyquist 1.25–2.5 GHz · one-tap DFE in the action · LLM reward frontend</a:t>
            </a:r>
          </a:p>
          <a:p>
            <a:pPr>
              <a:spcAft>
                <a:spcPts val="600"/>
              </a:spcAft>
              <a:defRPr sz="1500">
                <a:solidFill>
                  <a:srgbClr val="1A1A1A"/>
                </a:solidFill>
              </a:defRPr>
            </a:pPr>
            <a:r>
              <a:t>•  Random search ~13 and CMA-ES ~9 simulations per feasible design; the policy 2–3, with no per-instance search</a:t>
            </a:r>
          </a:p>
          <a:p>
            <a:pPr>
              <a:spcAft>
                <a:spcPts val="600"/>
              </a:spcAft>
              <a:defRPr sz="1500">
                <a:solidFill>
                  <a:srgbClr val="1A1A1A"/>
                </a:solidFill>
              </a:defRPr>
            </a:pPr>
            <a:r>
              <a:t>•  github.com/Foolish-Genius/al_nebula — report, deck, 59 tests, every artifact</a:t>
            </a:r>
          </a:p>
        </p:txBody>
      </p:sp>
      <p:sp>
        <p:nvSpPr>
          <p:cNvPr id="10" name="TextBox 9"/>
          <p:cNvSpPr txBox="1"/>
          <p:nvPr/>
        </p:nvSpPr>
        <p:spPr>
          <a:xfrm>
            <a:off x="548640" y="5760720"/>
            <a:ext cx="11155680" cy="548640"/>
          </a:xfrm>
          <a:prstGeom prst="rect">
            <a:avLst/>
          </a:prstGeom>
          <a:noFill/>
        </p:spPr>
        <p:txBody>
          <a:bodyPr wrap="square">
            <a:spAutoFit/>
          </a:bodyPr>
          <a:lstStyle/>
          <a:p>
            <a:pPr algn="ctr">
              <a:defRPr sz="2400" b="1">
                <a:solidFill>
                  <a:srgbClr val="163A6B"/>
                </a:solidFill>
              </a:defRPr>
            </a:pPr>
            <a:r>
              <a:t>Thank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Backup: peaking across three specifications</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Q&amp;A</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13</a:t>
            </a:r>
          </a:p>
        </p:txBody>
      </p:sp>
      <p:pic>
        <p:nvPicPr>
          <p:cNvPr id="6" name="Picture 5" descr="peaking_overlay.png"/>
          <p:cNvPicPr>
            <a:picLocks noChangeAspect="1"/>
          </p:cNvPicPr>
          <p:nvPr/>
        </p:nvPicPr>
        <p:blipFill>
          <a:blip r:embed="rId3"/>
          <a:stretch>
            <a:fillRect/>
          </a:stretch>
        </p:blipFill>
        <p:spPr>
          <a:xfrm>
            <a:off x="411480" y="1234440"/>
            <a:ext cx="7498079" cy="3998975"/>
          </a:xfrm>
          <a:prstGeom prst="rect">
            <a:avLst/>
          </a:prstGeom>
        </p:spPr>
      </p:pic>
      <p:sp>
        <p:nvSpPr>
          <p:cNvPr id="7" name="TextBox 6"/>
          <p:cNvSpPr txBox="1"/>
          <p:nvPr/>
        </p:nvSpPr>
        <p:spPr>
          <a:xfrm>
            <a:off x="8183879" y="1463040"/>
            <a:ext cx="3611880" cy="4206240"/>
          </a:xfrm>
          <a:prstGeom prst="rect">
            <a:avLst/>
          </a:prstGeom>
          <a:noFill/>
        </p:spPr>
        <p:txBody>
          <a:bodyPr wrap="square">
            <a:spAutoFit/>
          </a:bodyPr>
          <a:lstStyle/>
          <a:p>
            <a:pPr>
              <a:spcAft>
                <a:spcPts val="600"/>
              </a:spcAft>
              <a:defRPr sz="1300">
                <a:solidFill>
                  <a:srgbClr val="1A1A1A"/>
                </a:solidFill>
              </a:defRPr>
            </a:pPr>
            <a:r>
              <a:t>•  Spec ≥ 3 dB: feasible at simulation 2; 5.38 dB at Nyquist, peak 2.88 GHz</a:t>
            </a:r>
          </a:p>
          <a:p>
            <a:pPr>
              <a:spcAft>
                <a:spcPts val="600"/>
              </a:spcAft>
              <a:defRPr sz="1300">
                <a:solidFill>
                  <a:srgbClr val="1A1A1A"/>
                </a:solidFill>
              </a:defRPr>
            </a:pPr>
            <a:r>
              <a:t>•  Spec ≥ 5 dB: feasible at simulation 3; 6.06 dB at Nyquist, peak 3.31 GHz</a:t>
            </a:r>
          </a:p>
          <a:p>
            <a:pPr>
              <a:spcAft>
                <a:spcPts val="600"/>
              </a:spcAft>
              <a:defRPr sz="1300">
                <a:solidFill>
                  <a:srgbClr val="1A1A1A"/>
                </a:solidFill>
              </a:defRPr>
            </a:pPr>
            <a:r>
              <a:t>•  Spec ≥ 7 dB: not reached; 6.72 dB at Nyquist, but 7.09 dB max − DC</a:t>
            </a:r>
          </a:p>
          <a:p>
            <a:pPr>
              <a:spcAft>
                <a:spcPts val="600"/>
              </a:spcAft>
              <a:defRPr sz="1300">
                <a:solidFill>
                  <a:srgbClr val="1A1A1A"/>
                </a:solidFill>
              </a:defRPr>
            </a:pPr>
            <a:r>
              <a:t>•  The policy was trained only at 3 dB</a:t>
            </a:r>
          </a:p>
          <a:p>
            <a:pPr>
              <a:spcAft>
                <a:spcPts val="600"/>
              </a:spcAft>
              <a:defRPr sz="1300">
                <a:solidFill>
                  <a:srgbClr val="1A1A1A"/>
                </a:solidFill>
              </a:defRPr>
            </a:pPr>
            <a:r>
              <a:t>•  Peaking is enforced at Nyquist; max − DC is now reported alongside it</a:t>
            </a:r>
          </a:p>
          <a:p>
            <a:pPr>
              <a:spcAft>
                <a:spcPts val="600"/>
              </a:spcAft>
              <a:defRPr sz="1300">
                <a:solidFill>
                  <a:srgbClr val="1A1A1A"/>
                </a:solidFill>
              </a:defRPr>
            </a:pPr>
            <a:r>
              <a:t>•  The 45-corner check now reads the run's own window, not a fixed 3–12 dB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Backup: the waveform with and without the DFE</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Q&amp;A</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14</a:t>
            </a:r>
          </a:p>
        </p:txBody>
      </p:sp>
      <p:pic>
        <p:nvPicPr>
          <p:cNvPr id="6" name="Picture 5" descr="dfe_before_after.png"/>
          <p:cNvPicPr>
            <a:picLocks noChangeAspect="1"/>
          </p:cNvPicPr>
          <p:nvPr/>
        </p:nvPicPr>
        <p:blipFill>
          <a:blip r:embed="rId3"/>
          <a:stretch>
            <a:fillRect/>
          </a:stretch>
        </p:blipFill>
        <p:spPr>
          <a:xfrm>
            <a:off x="365760" y="1371600"/>
            <a:ext cx="11430000" cy="4206240"/>
          </a:xfrm>
          <a:prstGeom prst="rect">
            <a:avLst/>
          </a:prstGeom>
        </p:spPr>
      </p:pic>
      <p:sp>
        <p:nvSpPr>
          <p:cNvPr id="7" name="TextBox 6"/>
          <p:cNvSpPr txBox="1"/>
          <p:nvPr/>
        </p:nvSpPr>
        <p:spPr>
          <a:xfrm>
            <a:off x="365760" y="5760720"/>
            <a:ext cx="11430000" cy="457200"/>
          </a:xfrm>
          <a:prstGeom prst="rect">
            <a:avLst/>
          </a:prstGeom>
          <a:noFill/>
        </p:spPr>
        <p:txBody>
          <a:bodyPr wrap="square">
            <a:spAutoFit/>
          </a:bodyPr>
          <a:lstStyle/>
          <a:p>
            <a:pPr algn="ctr">
              <a:defRPr sz="1400" b="0">
                <a:solidFill>
                  <a:srgbClr val="555B66"/>
                </a:solidFill>
              </a:defRPr>
            </a:pPr>
            <a:r>
              <a:t>Tap +0.062, about a tenth of its range — the correct size for this channel's post-cursor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6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75520" cy="731520"/>
          </a:xfrm>
          <a:prstGeom prst="rect">
            <a:avLst/>
          </a:prstGeom>
          <a:noFill/>
        </p:spPr>
        <p:txBody>
          <a:bodyPr wrap="none" anchor="ctr">
            <a:spAutoFit/>
          </a:bodyPr>
          <a:lstStyle/>
          <a:p>
            <a:pPr>
              <a:defRPr sz="2600" b="1">
                <a:solidFill>
                  <a:srgbClr val="FFFFFF"/>
                </a:solidFill>
              </a:defRPr>
            </a:pPr>
            <a:r>
              <a:t>Backup: DFE output levels are symmetric</a:t>
            </a:r>
          </a:p>
        </p:txBody>
      </p:sp>
      <p:sp>
        <p:nvSpPr>
          <p:cNvPr id="4" name="TextBox 3"/>
          <p:cNvSpPr txBox="1"/>
          <p:nvPr/>
        </p:nvSpPr>
        <p:spPr>
          <a:xfrm>
            <a:off x="10241280" y="256032"/>
            <a:ext cx="1737360" cy="457200"/>
          </a:xfrm>
          <a:prstGeom prst="rect">
            <a:avLst/>
          </a:prstGeom>
          <a:noFill/>
        </p:spPr>
        <p:txBody>
          <a:bodyPr wrap="none">
            <a:spAutoFit/>
          </a:bodyPr>
          <a:lstStyle/>
          <a:p>
            <a:pPr algn="r">
              <a:defRPr sz="1200">
                <a:solidFill>
                  <a:srgbClr val="C8D4E8"/>
                </a:solidFill>
              </a:defRPr>
            </a:pPr>
            <a:r>
              <a:t>Q&amp;A</a:t>
            </a:r>
          </a:p>
        </p:txBody>
      </p:sp>
      <p:sp>
        <p:nvSpPr>
          <p:cNvPr id="5" name="TextBox 4"/>
          <p:cNvSpPr txBox="1"/>
          <p:nvPr/>
        </p:nvSpPr>
        <p:spPr>
          <a:xfrm>
            <a:off x="457200" y="6446520"/>
            <a:ext cx="8229600" cy="320040"/>
          </a:xfrm>
          <a:prstGeom prst="rect">
            <a:avLst/>
          </a:prstGeom>
          <a:noFill/>
        </p:spPr>
        <p:txBody>
          <a:bodyPr wrap="none">
            <a:spAutoFit/>
          </a:bodyPr>
          <a:lstStyle/>
          <a:p>
            <a:pPr>
              <a:defRPr sz="1000">
                <a:solidFill>
                  <a:srgbClr val="555B66"/>
                </a:solidFill>
              </a:defRPr>
            </a:pPr>
            <a:r>
              <a:t>AutoAnalog-RL  ·  Nebula: AI/ML for Analog Circuit Design  ·  Round 0  ·  15</a:t>
            </a:r>
          </a:p>
        </p:txBody>
      </p:sp>
      <p:pic>
        <p:nvPicPr>
          <p:cNvPr id="6" name="Picture 5" descr="dfe_levels.png"/>
          <p:cNvPicPr>
            <a:picLocks noChangeAspect="1"/>
          </p:cNvPicPr>
          <p:nvPr/>
        </p:nvPicPr>
        <p:blipFill>
          <a:blip r:embed="rId3"/>
          <a:stretch>
            <a:fillRect/>
          </a:stretch>
        </p:blipFill>
        <p:spPr>
          <a:xfrm>
            <a:off x="502920" y="1371600"/>
            <a:ext cx="6583680" cy="4023360"/>
          </a:xfrm>
          <a:prstGeom prst="rect">
            <a:avLst/>
          </a:prstGeom>
        </p:spPr>
      </p:pic>
      <p:graphicFrame>
        <p:nvGraphicFramePr>
          <p:cNvPr id="7" name="Table 6"/>
          <p:cNvGraphicFramePr>
            <a:graphicFrameLocks noGrp="1"/>
          </p:cNvGraphicFramePr>
          <p:nvPr/>
        </p:nvGraphicFramePr>
        <p:xfrm>
          <a:off x="7269480" y="1828800"/>
          <a:ext cx="4526280" cy="1737360"/>
        </p:xfrm>
        <a:graphic>
          <a:graphicData uri="http://schemas.openxmlformats.org/drawingml/2006/table">
            <a:tbl>
              <a:tblPr firstRow="1" bandRow="1">
                <a:tableStyleId>{5C22544A-7EE6-4342-B048-85BDC9FD1C3A}</a:tableStyleId>
              </a:tblPr>
              <a:tblGrid>
                <a:gridCol w="1508760"/>
                <a:gridCol w="1508760"/>
                <a:gridCol w="1508760"/>
              </a:tblGrid>
              <a:tr h="347472">
                <a:tc>
                  <a:txBody>
                    <a:bodyPr/>
                    <a:lstStyle/>
                    <a:p>
                      <a:pPr>
                        <a:defRPr sz="1200" b="1">
                          <a:solidFill>
                            <a:srgbClr val="FFFFFF"/>
                          </a:solidFill>
                        </a:defRPr>
                      </a:pPr>
                      <a:r>
                        <a:t>Bit and history</a:t>
                      </a:r>
                    </a:p>
                  </a:txBody>
                  <a:tcPr marL="54864" marR="54864" marT="27432" marB="27432">
                    <a:solidFill>
                      <a:srgbClr val="2B5797"/>
                    </a:solidFill>
                  </a:tcPr>
                </a:tc>
                <a:tc>
                  <a:txBody>
                    <a:bodyPr/>
                    <a:lstStyle/>
                    <a:p>
                      <a:pPr>
                        <a:defRPr sz="1200" b="1">
                          <a:solidFill>
                            <a:srgbClr val="FFFFFF"/>
                          </a:solidFill>
                        </a:defRPr>
                      </a:pPr>
                      <a:r>
                        <a:t>Broken run, tap 0.5</a:t>
                      </a:r>
                    </a:p>
                  </a:txBody>
                  <a:tcPr marL="54864" marR="54864" marT="27432" marB="27432">
                    <a:solidFill>
                      <a:srgbClr val="2B5797"/>
                    </a:solidFill>
                  </a:tcPr>
                </a:tc>
                <a:tc>
                  <a:txBody>
                    <a:bodyPr/>
                    <a:lstStyle/>
                    <a:p>
                      <a:pPr>
                        <a:defRPr sz="1200" b="1">
                          <a:solidFill>
                            <a:srgbClr val="FFFFFF"/>
                          </a:solidFill>
                        </a:defRPr>
                      </a:pPr>
                      <a:r>
                        <a:t>Fixed, tap +0.062</a:t>
                      </a:r>
                    </a:p>
                  </a:txBody>
                  <a:tcPr marL="54864" marR="54864" marT="27432" marB="27432">
                    <a:solidFill>
                      <a:srgbClr val="2B5797"/>
                    </a:solidFill>
                  </a:tcPr>
                </a:tc>
              </a:tr>
              <a:tr h="347472">
                <a:tc>
                  <a:txBody>
                    <a:bodyPr/>
                    <a:lstStyle/>
                    <a:p>
                      <a:pPr>
                        <a:defRPr sz="1200" b="0">
                          <a:solidFill>
                            <a:srgbClr val="1A1A1A"/>
                          </a:solidFill>
                        </a:defRPr>
                      </a:pPr>
                      <a:r>
                        <a:t>+1 after +1</a:t>
                      </a:r>
                    </a:p>
                  </a:txBody>
                  <a:tcPr marL="54864" marR="54864" marT="27432" marB="27432">
                    <a:solidFill>
                      <a:srgbClr val="FFFFFF"/>
                    </a:solidFill>
                  </a:tcPr>
                </a:tc>
                <a:tc>
                  <a:txBody>
                    <a:bodyPr/>
                    <a:lstStyle/>
                    <a:p>
                      <a:pPr>
                        <a:defRPr sz="1200" b="0">
                          <a:solidFill>
                            <a:srgbClr val="1A1A1A"/>
                          </a:solidFill>
                        </a:defRPr>
                      </a:pPr>
                      <a:r>
                        <a:t>−376 mV  (wrong side)</a:t>
                      </a:r>
                    </a:p>
                  </a:txBody>
                  <a:tcPr marL="54864" marR="54864" marT="27432" marB="27432">
                    <a:solidFill>
                      <a:srgbClr val="FFFFFF"/>
                    </a:solidFill>
                  </a:tcPr>
                </a:tc>
                <a:tc>
                  <a:txBody>
                    <a:bodyPr/>
                    <a:lstStyle/>
                    <a:p>
                      <a:pPr>
                        <a:defRPr sz="1200" b="0">
                          <a:solidFill>
                            <a:srgbClr val="1A1A1A"/>
                          </a:solidFill>
                        </a:defRPr>
                      </a:pPr>
                      <a:r>
                        <a:t>+222 mV</a:t>
                      </a:r>
                    </a:p>
                  </a:txBody>
                  <a:tcPr marL="54864" marR="54864" marT="27432" marB="27432">
                    <a:solidFill>
                      <a:srgbClr val="FFFFFF"/>
                    </a:solidFill>
                  </a:tcPr>
                </a:tc>
              </a:tr>
              <a:tr h="347472">
                <a:tc>
                  <a:txBody>
                    <a:bodyPr/>
                    <a:lstStyle/>
                    <a:p>
                      <a:pPr>
                        <a:defRPr sz="1200" b="0">
                          <a:solidFill>
                            <a:srgbClr val="1A1A1A"/>
                          </a:solidFill>
                        </a:defRPr>
                      </a:pPr>
                      <a:r>
                        <a:t>+1 after −1</a:t>
                      </a:r>
                    </a:p>
                  </a:txBody>
                  <a:tcPr marL="54864" marR="54864" marT="27432" marB="27432">
                    <a:solidFill>
                      <a:srgbClr val="F2F4F7"/>
                    </a:solidFill>
                  </a:tcPr>
                </a:tc>
                <a:tc>
                  <a:txBody>
                    <a:bodyPr/>
                    <a:lstStyle/>
                    <a:p>
                      <a:pPr>
                        <a:defRPr sz="1200" b="0">
                          <a:solidFill>
                            <a:srgbClr val="1A1A1A"/>
                          </a:solidFill>
                        </a:defRPr>
                      </a:pPr>
                      <a:r>
                        <a:t>+626 mV</a:t>
                      </a:r>
                    </a:p>
                  </a:txBody>
                  <a:tcPr marL="54864" marR="54864" marT="27432" marB="27432">
                    <a:solidFill>
                      <a:srgbClr val="F2F4F7"/>
                    </a:solidFill>
                  </a:tcPr>
                </a:tc>
                <a:tc>
                  <a:txBody>
                    <a:bodyPr/>
                    <a:lstStyle/>
                    <a:p>
                      <a:pPr>
                        <a:defRPr sz="1200" b="0">
                          <a:solidFill>
                            <a:srgbClr val="1A1A1A"/>
                          </a:solidFill>
                        </a:defRPr>
                      </a:pPr>
                      <a:r>
                        <a:t>+271 mV</a:t>
                      </a:r>
                    </a:p>
                  </a:txBody>
                  <a:tcPr marL="54864" marR="54864" marT="27432" marB="27432">
                    <a:solidFill>
                      <a:srgbClr val="F2F4F7"/>
                    </a:solidFill>
                  </a:tcPr>
                </a:tc>
              </a:tr>
              <a:tr h="347472">
                <a:tc>
                  <a:txBody>
                    <a:bodyPr/>
                    <a:lstStyle/>
                    <a:p>
                      <a:pPr>
                        <a:defRPr sz="1200" b="0">
                          <a:solidFill>
                            <a:srgbClr val="1A1A1A"/>
                          </a:solidFill>
                        </a:defRPr>
                      </a:pPr>
                      <a:r>
                        <a:t>−1 after +1</a:t>
                      </a:r>
                    </a:p>
                  </a:txBody>
                  <a:tcPr marL="54864" marR="54864" marT="27432" marB="27432">
                    <a:solidFill>
                      <a:srgbClr val="FFFFFF"/>
                    </a:solidFill>
                  </a:tcPr>
                </a:tc>
                <a:tc>
                  <a:txBody>
                    <a:bodyPr/>
                    <a:lstStyle/>
                    <a:p>
                      <a:pPr>
                        <a:defRPr sz="1200" b="0">
                          <a:solidFill>
                            <a:srgbClr val="1A1A1A"/>
                          </a:solidFill>
                        </a:defRPr>
                      </a:pPr>
                      <a:r>
                        <a:t>−597 mV</a:t>
                      </a:r>
                    </a:p>
                  </a:txBody>
                  <a:tcPr marL="54864" marR="54864" marT="27432" marB="27432">
                    <a:solidFill>
                      <a:srgbClr val="FFFFFF"/>
                    </a:solidFill>
                  </a:tcPr>
                </a:tc>
                <a:tc>
                  <a:txBody>
                    <a:bodyPr/>
                    <a:lstStyle/>
                    <a:p>
                      <a:pPr>
                        <a:defRPr sz="1200" b="0">
                          <a:solidFill>
                            <a:srgbClr val="1A1A1A"/>
                          </a:solidFill>
                        </a:defRPr>
                      </a:pPr>
                      <a:r>
                        <a:t>−271 mV</a:t>
                      </a:r>
                    </a:p>
                  </a:txBody>
                  <a:tcPr marL="54864" marR="54864" marT="27432" marB="27432">
                    <a:solidFill>
                      <a:srgbClr val="FFFFFF"/>
                    </a:solidFill>
                  </a:tcPr>
                </a:tc>
              </a:tr>
              <a:tr h="347472">
                <a:tc>
                  <a:txBody>
                    <a:bodyPr/>
                    <a:lstStyle/>
                    <a:p>
                      <a:pPr>
                        <a:defRPr sz="1200" b="0">
                          <a:solidFill>
                            <a:srgbClr val="1A1A1A"/>
                          </a:solidFill>
                        </a:defRPr>
                      </a:pPr>
                      <a:r>
                        <a:t>−1 after −1</a:t>
                      </a:r>
                    </a:p>
                  </a:txBody>
                  <a:tcPr marL="54864" marR="54864" marT="27432" marB="27432">
                    <a:solidFill>
                      <a:srgbClr val="F2F4F7"/>
                    </a:solidFill>
                  </a:tcPr>
                </a:tc>
                <a:tc>
                  <a:txBody>
                    <a:bodyPr/>
                    <a:lstStyle/>
                    <a:p>
                      <a:pPr>
                        <a:defRPr sz="1200" b="0">
                          <a:solidFill>
                            <a:srgbClr val="1A1A1A"/>
                          </a:solidFill>
                        </a:defRPr>
                      </a:pPr>
                      <a:r>
                        <a:t>+381 mV  (wrong side)</a:t>
                      </a:r>
                    </a:p>
                  </a:txBody>
                  <a:tcPr marL="54864" marR="54864" marT="27432" marB="27432">
                    <a:solidFill>
                      <a:srgbClr val="F2F4F7"/>
                    </a:solidFill>
                  </a:tcPr>
                </a:tc>
                <a:tc>
                  <a:txBody>
                    <a:bodyPr/>
                    <a:lstStyle/>
                    <a:p>
                      <a:pPr>
                        <a:defRPr sz="1200" b="0">
                          <a:solidFill>
                            <a:srgbClr val="1A1A1A"/>
                          </a:solidFill>
                        </a:defRPr>
                      </a:pPr>
                      <a:r>
                        <a:t>−222 mV</a:t>
                      </a:r>
                    </a:p>
                  </a:txBody>
                  <a:tcPr marL="54864" marR="54864" marT="27432" marB="27432">
                    <a:solidFill>
                      <a:srgbClr val="F2F4F7"/>
                    </a:solidFill>
                  </a:tcPr>
                </a:tc>
              </a:tr>
            </a:tbl>
          </a:graphicData>
        </a:graphic>
      </p:graphicFrame>
      <p:sp>
        <p:nvSpPr>
          <p:cNvPr id="8" name="TextBox 7"/>
          <p:cNvSpPr txBox="1"/>
          <p:nvPr/>
        </p:nvSpPr>
        <p:spPr>
          <a:xfrm>
            <a:off x="7269480" y="4572000"/>
            <a:ext cx="4526280" cy="731520"/>
          </a:xfrm>
          <a:prstGeom prst="rect">
            <a:avLst/>
          </a:prstGeom>
          <a:noFill/>
        </p:spPr>
        <p:txBody>
          <a:bodyPr wrap="square">
            <a:spAutoFit/>
          </a:bodyPr>
          <a:lstStyle/>
          <a:p>
            <a:pPr>
              <a:defRPr sz="1300" b="0">
                <a:solidFill>
                  <a:srgbClr val="555B66"/>
                </a:solidFill>
              </a:defRPr>
            </a:pPr>
            <a:r>
              <a:t>The reviewer spotted this before we had diagnosed it. Cause and fix are both in the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