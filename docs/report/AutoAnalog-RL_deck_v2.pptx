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0:00–0:25 — Introduction. Show: project title / README / repository homepage.</a:t>
            </a:r>
          </a:p>
          <a:p/>
          <a:p>
            <a:r>
              <a:t>Hello everyone. This is our project, AutoAnalog-RL — Automated Sizing of High-Speed Interface Circuits via Reinforcement Learning.</a:t>
            </a:r>
          </a:p>
          <a:p/>
          <a:p>
            <a:r>
              <a:t>Our objective is to automatically size a PCIe Gen 2 receiver equalizer consisting of a one-stage CTLE and a one-tap DFE, using reinforcement learning and circuit simulation.</a:t>
            </a:r>
          </a:p>
          <a:p/>
          <a:p>
            <a:r>
              <a:t>Instead of manually sweeping circuit parameters, our SAC agent interacts directly with ngspice and searches for a design that satisfies the required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0:25–1:00 — Repository and overall flow. Show: GitHub repository → folders rl/, spice/, netlists/, scripts/, tests/.</a:t>
            </a:r>
          </a:p>
          <a:p/>
          <a:p>
            <a:r>
              <a:t>This is our project repository.</a:t>
            </a:r>
          </a:p>
          <a:p/>
          <a:p>
            <a:r>
              <a:t>The rl folder contains the specifications, reward function, environment, DFE and PVT implementation. The spice folder handles the simulator interface and measurements, while netlists contains the circuit topology.</a:t>
            </a:r>
          </a:p>
          <a:p/>
          <a:p>
            <a:r>
              <a:t>The main training and evaluation scripts are inside scripts, and we also have a regression test suite.</a:t>
            </a:r>
          </a:p>
          <a:p/>
          <a:p>
            <a:r>
              <a:t>The overall flow is: the SAC agent generates a normalized design action, the evaluator converts it into circuit parameters, generates the SPICE netlist, and runs the simulations. The resulting circuit metrics are then converted into a reward and sent back to the agent.</a:t>
            </a:r>
          </a:p>
          <a:p/>
          <a:p>
            <a:r>
              <a:t>Show: architecture diagram.</a:t>
            </a:r>
          </a:p>
          <a:p/>
          <a:p>
            <a:r>
              <a:t>The simulator uses the IHP sg13g2 130-nanometer open PDK with PSP103 models, running through ngspice.</a:t>
            </a:r>
          </a:p>
          <a:p/>
          <a:p>
            <a:r>
              <a:t>[ADDED] The brief allows either IHP or sky130; our synopsis named sky130 — we built on IHP because its PSP103 Verilog-A models run through ngspice's OSDI interface at about 0.6 seconds per RL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1:00–1:35 — Circuit and parameters. Show: CTLE circuit diagram.</a:t>
            </a:r>
          </a:p>
          <a:p/>
          <a:p>
            <a:r>
              <a:t>The circuit being sized is a differential NMOS CTLE with resistive loads and RC source degeneration.</a:t>
            </a:r>
          </a:p>
          <a:p/>
          <a:p>
            <a:r>
              <a:t>The agent controls five CTLE parameters: input transistor width, load resistance, bias current, source degeneration resistance, and source degeneration capacitance.</a:t>
            </a:r>
          </a:p>
          <a:p/>
          <a:p>
            <a:r>
              <a:t>For the complete equalizer, a sixth parameter is added for the one-tap DFE.</a:t>
            </a:r>
          </a:p>
          <a:p/>
          <a:p>
            <a:r>
              <a:t>At every step, the evaluator checks the design progressively: first the DC operating point, then AC response and peaking, followed by the PRBS transient through the lossy channel, eye measurement and DFE, and finally the HD3 linearity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1:35–2:25 — RL training demo. Show: the captured rollout on this slide (optionally alt-tab to a terminal and run demo_rollout.py live), then the learning curves on the next slide.</a:t>
            </a:r>
          </a:p>
          <a:p/>
          <a:p>
            <a:r>
              <a:t>Now we move to the main part of the project — the reinforcement learning loop.</a:t>
            </a:r>
          </a:p>
          <a:p/>
          <a:p>
            <a:r>
              <a:t>We use a Soft Actor-Critic, or SAC, agent. The agent starts from a random circuit design and learns which parameter changes improve the circuit performance.</a:t>
            </a:r>
          </a:p>
          <a:p/>
          <a:p>
            <a:r>
              <a:t>The reward considers the specification violations as well as power and the margin from the required specifications.</a:t>
            </a:r>
          </a:p>
          <a:p/>
          <a:p>
            <a:r>
              <a:t>We also use fail-fast simulation, so a design that already fails an early gate does not unnecessarily spend simulation time on the later analyses.</a:t>
            </a:r>
          </a:p>
          <a:p/>
          <a:p>
            <a:r>
              <a:t>[ADDED] What you see here is the trained policy running from a random design at a random corner. Each line is one ngspice evaluation of a new design; the checklist on the right shows which specs pass. From a random start at a random corner, every spec is met within a few simulations and the sized netlist is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learning curve / reward curve / feasible fraction (and a live-training capture from reports/screenshots if you want to show it ran).</a:t>
            </a:r>
          </a:p>
          <a:p/>
          <a:p>
            <a:r>
              <a:t>The training converges in approximately two thousand environment steps. Across the three base seeds, all 60 out of 60 deterministic rollouts reached a feasible design, with an average of about 2.5 steps to reach feasibility.</a:t>
            </a:r>
          </a:p>
          <a:p/>
          <a:p>
            <a:r>
              <a:t>These plots show the reward and feasibility improving during training, demonstrating that the agent is learning rather than simply performing a blind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2:25–3:15 — Show actual circuit results. Show: eye diagram first.</a:t>
            </a:r>
          </a:p>
          <a:p/>
          <a:p>
            <a:r>
              <a:t>Here is one of the key outputs — the post-channel eye diagram.</a:t>
            </a:r>
          </a:p>
          <a:p/>
          <a:p>
            <a:r>
              <a:t>For the seed-1 design, the measured eye height is about 0.327 volts with an eye width of 0.88 UI, which satisfies our internal target of 0.25 volts and 0.7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AC response plot.</a:t>
            </a:r>
          </a:p>
          <a:p/>
          <a:p>
            <a:r>
              <a:t>Next is the AC response. The design shows approximately 4.2 dB of high-frequency peaking at the 2.5 GHz Nyquist frequency, which is within our required 3 to 12 dB range.</a:t>
            </a:r>
          </a:p>
          <a:p/>
          <a:p>
            <a:r>
              <a:t>[ADDED] The Nyquist frequency is a specification input: retargeting the same policy to 1.25 gigahertz, PCIe Gen 1, gives 5.23 dB of peaking where the 2.5 gigahertz design gave only 2.87, with 20 out of 20 rollouts feasible.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Show: 45-corner plot / validation table, then the results table.</a:t>
            </a:r>
          </a:p>
          <a:p/>
          <a:p>
            <a:r>
              <a:t>The design is then validated across the complete 45 PVT corners. The peaking remains within the required range across all of these corners.</a:t>
            </a:r>
          </a:p>
          <a:p/>
          <a:p>
            <a:r>
              <a:t>[ADDED] The policy was also fine-tuned across all 45 corners: in evaluation, 24 of 24 rollouts that started at random corners reached a feasible design in a median of 2 steps.</a:t>
            </a:r>
          </a:p>
          <a:p/>
          <a:p>
            <a:r>
              <a:t>For the curriculum-trained design, the best result has an eye height of 0.370 volts, power of 1.12 milliwatts, and HD3 of minus 61.9 dB, while passing all 45 PVT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3:15–3:45 — DFE demo. Show: CTLE → channel → DFE diagram and DFE eye plot.</a:t>
            </a:r>
          </a:p>
          <a:p/>
          <a:p>
            <a:r>
              <a:t>We also extended the system to size the complete equalizer by adding a one-tap DFE.</a:t>
            </a:r>
          </a:p>
          <a:p/>
          <a:p>
            <a:r>
              <a:t>Importantly, we corrected the eye measurement so that the DFE eye is evaluated against the transmitted PRBS bits rather than the DFE's own decisions.</a:t>
            </a:r>
          </a:p>
          <a:p/>
          <a:p>
            <a:r>
              <a:t>With the corrected measurement, the DFE still provides a real improvement. One example improves the eye height from 0.327 volts to 0.455 volts with a tap of approximately plus 0.075, with no bit errors.</a:t>
            </a:r>
          </a:p>
          <a:p/>
          <a:p>
            <a:r>
              <a:t>[ADDED] We found and fixed two measurement flaws this way, by letting the agent exploit them: an FFT leakage floor that had faked an HD3 failure at minus 25 dB — the real value is minus 58 — and the self-labelled DFE eye, where the agent pushed the tap to its bound while the receiver got 54 of 127 bits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3:45–4:20 — Compare with conventional search. Show: SAC vs random / CMA-ES graph and table.</a:t>
            </a:r>
          </a:p>
          <a:p/>
          <a:p>
            <a:r>
              <a:t>Finally, we compare the RL policy against conventional search methods.</a:t>
            </a:r>
          </a:p>
          <a:p/>
          <a:p>
            <a:r>
              <a:t>Random search requires about 13 simulations per feasible design, while CMA-ES requires around 9 simulations from random starting points.</a:t>
            </a:r>
          </a:p>
          <a:p/>
          <a:p>
            <a:r>
              <a:t>In comparison, the trained SAC policy reaches a feasible design in a median of 2 to 3 simulations, without performing a new optimization search for every starting point.</a:t>
            </a:r>
          </a:p>
          <a:p/>
          <a:p>
            <a:r>
              <a:t>We also tested the pre-ML AC-only bounded search. Although it could optimize the AC response, its resulting post-channel eye was only 0.160 volts, showing why optimizing only frequency-domain characteristics is not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4:20–4:45 — Reproducibility / final output. Show: terminal command → generated sized_ctle.sp → JSON/CSV/PNG output.</a:t>
            </a:r>
          </a:p>
          <a:p/>
          <a:p>
            <a:r>
              <a:t>The entire flow is reproducible through the scripts in our repository.</a:t>
            </a:r>
          </a:p>
          <a:p/>
          <a:p>
            <a:r>
              <a:t>The training and evaluation scripts generate JSON, CSV and PNG evidence, and every validated design also produces a sized SPICE netlist containing the circuit parameters, model information and DFE tap.</a:t>
            </a:r>
          </a:p>
          <a:p/>
          <a:p>
            <a:r>
              <a:t>So the final output is not just an RL score — it is an actual sized circuit together with its simulation and validation results.</a:t>
            </a:r>
          </a:p>
          <a:p/>
          <a:p>
            <a:r>
              <a:t>[ADDED, optional 15 s] Show the LLM frontend: run reward_from_feedback.py with a sentence such as "power matters much more than eye margin" and show the weights JSON that feeds --reward-settings.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4:45–5:00 — Closing. Show: final result summary / repository.</a:t>
            </a:r>
          </a:p>
          <a:p/>
          <a:p>
            <a:r>
              <a:t>To summarize, AutoAnalog-RL combines reinforcement learning, SPICE simulation and PVT-aware validation to automatically size a high-speed receiver equalizer.</a:t>
            </a:r>
          </a:p>
          <a:p/>
          <a:p>
            <a:r>
              <a:t>Our trained policy achieves feasible designs in only a few simulations, passes the required circuit specifications and all 45 PVT corners, and produces a corresponding sized netlist.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AutoAnalog-RL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Automated Sizing of High-Speed Interface Circuits via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8D4E8"/>
                </a:solidFill>
              </a:defRPr>
            </a:pPr>
            <a:r>
              <a:t>PCIe Gen 2 (5 Gbps) receiver equalizer: one-stage CTLE + one-tap DFE  ·  SAC agent driving ngspice  ·  IHP sg13g2 130 nm open PDK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onsolas"/>
              </a:defRPr>
            </a:pPr>
            <a:r>
              <a:t>github.com/Foolish-Genius/al_nebula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Team: TBD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Nebula — AI/ML for Analog Circuit Design  ·  Round 0  ·  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Repository and overall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0:25 –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2</a:t>
            </a:r>
          </a:p>
        </p:txBody>
      </p:sp>
      <p:pic>
        <p:nvPicPr>
          <p:cNvPr id="6" name="Picture 5" descr="repo_pag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48046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035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B66"/>
                </a:solidFill>
              </a:defRPr>
            </a:pPr>
            <a:r>
              <a:t>rl/ specs, reward, environment, DFE, PVT, LLM feedback · spice/ ngspice adapter and every gate · netlists/ CTLE topology · scripts/ train, evaluate, baselines, demo · tests/ 59 tests · tools/ Windows OSDI link shim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5B66"/>
                </a:solidFill>
              </a:defRPr>
            </a:pPr>
            <a:r>
              <a:t>Simulator: IHP sg13g2 130 nm, PSP103 via OpenVAF/OSDI in ngspice 47, 8 processes, ~0.6 s per step (brief allows IHP or sky130)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5852160" cy="566928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SAC agent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41664" y="1883664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2157984"/>
            <a:ext cx="5852160" cy="566928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41664" y="2761488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3035808"/>
            <a:ext cx="5852160" cy="91440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SpiceEvaluator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.op → .ac → PRBS .tran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→ eye/DFE → HD3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41664" y="3986784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4261104"/>
            <a:ext cx="5852160" cy="566928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ngspice ×8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41664" y="4864608"/>
            <a:ext cx="256032" cy="237744"/>
          </a:xfrm>
          <a:prstGeom prst="down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5138928"/>
            <a:ext cx="5852160" cy="566928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6062472"/>
            <a:ext cx="5852160" cy="45720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 frontend: feedback → reward weights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Circuit and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1:00 – 1:35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3</a:t>
            </a:r>
          </a:p>
        </p:txBody>
      </p:sp>
      <p:pic>
        <p:nvPicPr>
          <p:cNvPr id="6" name="Picture 5" descr="ctl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941321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280160"/>
          <a:ext cx="51206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W_in  input width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0.5 – 50 µm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R_load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100 – 1000 Ω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I_bias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0.1 – 2 mA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R_s  degeneration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10 – 500 Ω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C_s  degeneration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1 fF – 1 pF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DFE tap (6th, equalizer)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−0.5 … +0.5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983480"/>
            <a:ext cx="2606040" cy="118872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 .op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DC operating point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fail fast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18104" y="5440680"/>
            <a:ext cx="237744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4983480"/>
            <a:ext cx="2606040" cy="118872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 .ac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peaking @ Nyquist,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power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89904" y="5440680"/>
            <a:ext cx="237744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4983480"/>
            <a:ext cx="2606040" cy="118872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  PRBS7 .tran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lossy channel → eye,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one-tap DFE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61704" y="5440680"/>
            <a:ext cx="237744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72600" y="4983480"/>
            <a:ext cx="2606040" cy="118872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  HD3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100 MHz tone,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once others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99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B66"/>
                </a:solidFill>
              </a:defRPr>
            </a:pPr>
            <a:r>
              <a:t>Gates run in this order; a design that fails early costs no further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RL training: the SAC loop,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1:35 – 2:25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6"/>
                </a:solidFill>
              </a:defRPr>
            </a:pPr>
            <a:r>
              <a:t>python scripts/demo_rollout.py reports/sac-ihp-pvt   — a real rollout: random design, random PVT corner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4</a:t>
            </a:r>
          </a:p>
        </p:txBody>
      </p:sp>
      <p:pic>
        <p:nvPicPr>
          <p:cNvPr id="7" name="Picture 6" descr="demo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10241280" cy="3274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892040"/>
            <a:ext cx="26517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3 sims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to meet every spec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892040"/>
            <a:ext cx="26517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7 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wall time on a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92040"/>
            <a:ext cx="31089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SS / 1.0 V / 62 °C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random corner, random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48920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B66"/>
                </a:solidFill>
              </a:defRPr>
            </a:pPr>
            <a:r>
              <a:t>Reward = −Σ wᵢ·violationᵢ − power charge + success bonus + margin bonus</a:t>
            </a:r>
          </a:p>
          <a:p>
            <a:pPr>
              <a:defRPr sz="1100" b="0">
                <a:solidFill>
                  <a:srgbClr val="555B66"/>
                </a:solidFill>
              </a:defRPr>
            </a:pPr>
            <a:r>
              <a:t>DC failure: −10, fail fast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Training converges in ~2k steps; 60/60 rollouts feasible over three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1:35 – 2:25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5</a:t>
            </a:r>
          </a:p>
        </p:txBody>
      </p:sp>
      <p:pic>
        <p:nvPicPr>
          <p:cNvPr id="6" name="Picture 5" descr="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114300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292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~2k steps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to converge, every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0292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60 / 60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rollouts feasible, 3 seeds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029200"/>
            <a:ext cx="31089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2.53 ± 0.06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steps to feasibility (mean over seeds)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5029200"/>
            <a:ext cx="237744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95 %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of training steps meet every spec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Result: post-channel eye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2:25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6</a:t>
            </a:r>
          </a:p>
        </p:txBody>
      </p:sp>
      <p:pic>
        <p:nvPicPr>
          <p:cNvPr id="6" name="Picture 5" descr="ey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04088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463040"/>
            <a:ext cx="384048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0.327 V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eye height (target ≥ 0.25 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926080"/>
            <a:ext cx="384048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0.88 UI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eye width (target ≥ 0.7 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38912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Two-UI eye after the −10 dB channel, PRBS7 at 5 Gbps, seed-1 policy design. Measured against the transmitted bits: opening = min(ones) − max(zeros) at the best sampling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Result: AC response and 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2:25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7</a:t>
            </a:r>
          </a:p>
        </p:txBody>
      </p:sp>
      <p:pic>
        <p:nvPicPr>
          <p:cNvPr id="6" name="Picture 5" descr="ac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63040"/>
            <a:ext cx="365760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4.2 dB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peaking at 2.5 GHz (target 3–12 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65760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5.23 dB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at 1.25 GHz after retuning (--spec nyquist_frequency_hz=1.25e9)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38912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Peaking = gain at Nyquist − DC gain, CTLE alone (channel bypassed for the AC gate). Tunable 1.25–2.5 GHz: the 2.5 GHz design gives only 2.87 dB at 1.25 GHz; the retuned policy moves R_s 182 → 365 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Result: 45 PVT corners and the design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2:25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8</a:t>
            </a:r>
          </a:p>
        </p:txBody>
      </p:sp>
      <p:pic>
        <p:nvPicPr>
          <p:cNvPr id="6" name="Picture 5" descr="pvt_pea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6949440" cy="3185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280160"/>
          <a:ext cx="4389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54864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Rollouts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 design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seed 1 / 2 /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60/60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 –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0.32–0.35 V · 1.2–1.3 mW · 45/45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HD3 enforced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0.335 V · 1.24 mW · −58 dB · 45/45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PVT curriculum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24/24 @ corners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0.370 V · 1.12 mW · −61.9 dB · 45/45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Equalizer (+DFE)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0.355 V post-DFE · 1.36 mW · 45/45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Retune 1.25 GHz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5.23 dB · 0.350 V · 1.28 mW · 45/45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B66"/>
                </a:solidFill>
              </a:defRPr>
            </a:pPr>
            <a:r>
              <a:t>5 process × 3 supply (±5 %) × 3 temperature (0 / 62.5 / 125 °C) = 45 corners; every corner inside the 3–12 dB window. Curriculum: stage 1 nominal, stage 2 a random corner per episode.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297680"/>
            <a:ext cx="201168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45 / 45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corners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4297680"/>
            <a:ext cx="201168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24 / 24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rollouts @ random corners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DFE: the complete equalizer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3:15 – 3:45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Transmitter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PRBS7, NRZ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Gbps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50008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Channel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2-section RC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−10 dB @ Nyquist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7368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6" y="1280160"/>
            <a:ext cx="1737360" cy="105156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CTLE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sized values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peaking 3–12 dB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71616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Sampler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UI-centre samples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aligned to the bits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55864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2752" y="1280160"/>
            <a:ext cx="1737360" cy="1051560"/>
          </a:xfrm>
          <a:prstGeom prst="round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1-tap DFE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y[n] − tap · d[n−1]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tap sized by the agent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40112" y="1783080"/>
            <a:ext cx="182880" cy="256032"/>
          </a:xfrm>
          <a:prstGeom prst="rightArrow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87000" y="1280160"/>
            <a:ext cx="1737360" cy="1051560"/>
          </a:xfrm>
          <a:prstGeom prst="round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Eye vs. bits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min(ones) − max(zeros)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bit errors counted</a:t>
            </a:r>
          </a:p>
        </p:txBody>
      </p:sp>
      <p:pic>
        <p:nvPicPr>
          <p:cNvPr id="17" name="Picture 16" descr="eye_diagram_equal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4992624" cy="35661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852160" y="2651760"/>
            <a:ext cx="29260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0.327 → 0.455 V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eye with a swept tap of +0.075, zero bit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651760"/>
            <a:ext cx="29260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0.51 V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post-DFE eye held during equalizer training (CTLE-only ≈ 0.35 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9319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A1A1A"/>
                </a:solidFill>
              </a:defRPr>
            </a:pPr>
            <a:r>
              <a:t>Two measurement flaws found by the agent and fixed:</a:t>
            </a:r>
          </a:p>
          <a:p>
            <a:pPr>
              <a:defRPr sz="1150" b="0">
                <a:solidFill>
                  <a:srgbClr val="1A1A1A"/>
                </a:solidFill>
              </a:defRPr>
            </a:pPr>
            <a:r>
              <a:t>•  HD3: 2.5-cycle rectangular FFT window → leakage floor at −25 dB on every design. Integer-cycle Hann window → −58 dB (28 dB margin).</a:t>
            </a:r>
          </a:p>
          <a:p>
            <a:pPr>
              <a:defRPr sz="1150" b="0">
                <a:solidFill>
                  <a:srgbClr val="1A1A1A"/>
                </a:solidFill>
              </a:defRPr>
            </a:pPr>
            <a:r>
              <a:t>•  DFE eye: labelled by the DFE's own decisions → a large tap 'opens' the eye by itself. Agent pushed the tap to +0.5 with 54/127 bit errors. Now measured against the transmitted bits; zero eye on any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Compared with conventional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3:45 – 4:20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10</a:t>
            </a:r>
          </a:p>
        </p:txBody>
      </p:sp>
      <p:pic>
        <p:nvPicPr>
          <p:cNvPr id="6" name="Picture 5" descr="budge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120640" cy="2926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8016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5544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 (random starting designs)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feasible design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 new instance</a:t>
                      </a:r>
                    </a:p>
                  </a:txBody>
                  <a:tcPr marL="54864" marR="54864" marT="27432" marB="27432">
                    <a:solidFill>
                      <a:srgbClr val="2B579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SAC policy (144 rollouts)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median 2–3, worst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2–3 simulations, no 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CMA-ES, random start (6 trials)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median 9, worst 24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~10 to feasible; 400 to refine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Random search (3000 designs)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#27 (7.9 % feasible)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~13 per feasible design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AC-only bounded search (pre-ML)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never reaches the eye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0.160 V post-channel eye</a:t>
                      </a:r>
                    </a:p>
                  </a:txBody>
                  <a:tcPr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35661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 3–4× fewer simulations than CMA-ES from the same starts; ~10× fewer than random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 CMA-ES matches the policy's training-best quality given 400 sims per design — the policy's advantage is amortisation: train once, then 2–3 sims per new instance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 AC-only optimisation cannot see the eye: 0.160 V vs 0.327 V for the policy</a:t>
            </a:r>
          </a:p>
        </p:txBody>
      </p:sp>
      <p:pic>
        <p:nvPicPr>
          <p:cNvPr id="9" name="Picture 8" descr="eye_diagram_pre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2688336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8328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2318"/>
                </a:solidFill>
              </a:defRPr>
            </a:pPr>
            <a:r>
              <a:t>AC-only search: 0.160 V / 0.58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Reproducibility and the final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4:20 – 4:45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1325880"/>
          </a:xfrm>
          <a:prstGeom prst="rect">
            <a:avLst/>
          </a:prstGeom>
          <a:solidFill>
            <a:srgbClr val="0C1B2E"/>
          </a:solidFill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scripts/train_sac.py --model-source ihp --eye-height-min 0.25 --hd3 --timesteps 12000 --n-envs 8 ...</a:t>
            </a:r>
          </a:p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scripts/train_sac.py ... --corners all --resume reports/sac-ihp-hd3/sac_final.zip --timesteps 8000</a:t>
            </a:r>
          </a:p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scripts/evaluate_policy.py reports/sac-ihp-pvt --rollouts 24 --baseline reports/baseline-ihp-3000</a:t>
            </a:r>
          </a:p>
          <a:p>
            <a:pPr>
              <a:defRPr sz="1050" b="0">
                <a:solidFill>
                  <a:srgbClr val="E6EEF8"/>
                </a:solidFill>
                <a:latin typeface="Consolas"/>
              </a:defRPr>
            </a:pPr>
            <a:r>
              <a:t>python scripts/reward_from_feedback.py "power matters much more than eye margin" --output reports/reward.json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5120640" cy="3291840"/>
          </a:xfrm>
          <a:prstGeom prst="rect">
            <a:avLst/>
          </a:prstGeom>
          <a:solidFill>
            <a:srgbClr val="F2F4F7"/>
          </a:solidFill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AutoAnalog-RL sized CTLE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model source: ihp_ngspice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W_in = 2.01908e-05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R_load = 1000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I_bias = 0.000930072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R_s = 260.642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* C_s = 3.2956e-13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.param VDD=1.2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X1 outP inP sourceP 0 sg13_lv_nmos W=2.01908e-05 L=0.13u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X2 outN inN sourceN 0 sg13_lv_nmos W=2.01908e-05 L=0.13u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RdegP sourceP tail 260.642</a:t>
            </a:r>
          </a:p>
          <a:p>
            <a:pPr>
              <a:defRPr sz="1050" b="0">
                <a:solidFill>
                  <a:srgbClr val="1A1A1A"/>
                </a:solidFill>
                <a:latin typeface="Consolas"/>
              </a:defRPr>
            </a:pPr>
            <a: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B66"/>
                </a:solidFill>
              </a:defRPr>
            </a:pPr>
            <a:r>
              <a:t>sized_ctle.sp — the deliverable schematic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validation.json — every gate result, 45-corner PVT, HD3, noise, area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steps.csv / monitor files / checkpoints — the whole training trajectory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budget_curve, eye, AC, PVT plots — PNG + CSV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evaluation.json — rollouts, steps to feasibility, per-corner breakdown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reward.json — weights from plain-language feedback (LLM frontend)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 59 tests run without ngspice: python -m pytest -q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4E8"/>
                </a:solidFill>
              </a:defRPr>
            </a:pPr>
            <a:r>
              <a:t>4:45 – 5:00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B66"/>
                </a:solidFill>
              </a:defRPr>
            </a:pPr>
            <a:r>
              <a:t>AutoAnalog-RL  ·  Nebula: AI/ML for Analog Circuit Design  ·  Round 0  ·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2 – 3 sims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from a random start to every spec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45 / 45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PVT corners, every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566160" cy="1234440"/>
          </a:xfrm>
          <a:prstGeom prst="roundRect">
            <a:avLst/>
          </a:prstGeom>
          <a:solidFill>
            <a:srgbClr val="F2F4F7"/>
          </a:solidFill>
          <a:ln>
            <a:solidFill>
              <a:srgbClr val="2B5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63A6B"/>
                </a:solidFill>
              </a:defRPr>
            </a:pPr>
            <a:r>
              <a:t>sized_ctle.sp</a:t>
            </a:r>
          </a:p>
          <a:p>
            <a:pPr algn="ctr">
              <a:defRPr sz="1200">
                <a:solidFill>
                  <a:srgbClr val="555B66"/>
                </a:solidFill>
              </a:defRPr>
            </a:pPr>
            <a:r>
              <a:t>an actual circuit, not a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SAC agent + ngspice gates in fail-fast order, on the real IHP sg13g2 PSP103 models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Eye 0.32–0.37 V after a −10 dB channel, 3–12 dB peaking, ~1 mW, HD3 ≈ −60 dB, noise 0.24 mV rms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Curriculum across 45 corners · tunable Nyquist 1.25–2.5 GHz · one-tap DFE in the action · LLM reward frontend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Random search ~13 and CMA-ES ~9 simulations per feasible design; the policy 2–3, with no per-instance search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•  github.com/Foolish-Genius/al_nebula — report, deck, 59 tests, every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3A6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